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7" r:id="rId18"/>
    <p:sldId id="268" r:id="rId19"/>
    <p:sldId id="269" r:id="rId20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9" r:id="rId420"/>
    <p:sldId id="670" r:id="rId4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slide" Target="slides/slide180.xml"/><Relationship Id="rId194" Type="http://schemas.openxmlformats.org/officeDocument/2006/relationships/slide" Target="slides/slide181.xml"/><Relationship Id="rId195" Type="http://schemas.openxmlformats.org/officeDocument/2006/relationships/slide" Target="slides/slide182.xml"/><Relationship Id="rId196" Type="http://schemas.openxmlformats.org/officeDocument/2006/relationships/slide" Target="slides/slide183.xml"/><Relationship Id="rId197" Type="http://schemas.openxmlformats.org/officeDocument/2006/relationships/slide" Target="slides/slide184.xml"/><Relationship Id="rId198" Type="http://schemas.openxmlformats.org/officeDocument/2006/relationships/slide" Target="slides/slide185.xml"/><Relationship Id="rId199" Type="http://schemas.openxmlformats.org/officeDocument/2006/relationships/slide" Target="slides/slide186.xml"/><Relationship Id="rId200" Type="http://schemas.openxmlformats.org/officeDocument/2006/relationships/slide" Target="slides/slide187.xml"/><Relationship Id="rId201" Type="http://schemas.openxmlformats.org/officeDocument/2006/relationships/slide" Target="slides/slide188.xml"/><Relationship Id="rId202" Type="http://schemas.openxmlformats.org/officeDocument/2006/relationships/slide" Target="slides/slide189.xml"/><Relationship Id="rId203" Type="http://schemas.openxmlformats.org/officeDocument/2006/relationships/slide" Target="slides/slide190.xml"/><Relationship Id="rId204" Type="http://schemas.openxmlformats.org/officeDocument/2006/relationships/slide" Target="slides/slide191.xml"/><Relationship Id="rId205" Type="http://schemas.openxmlformats.org/officeDocument/2006/relationships/slide" Target="slides/slide192.xml"/><Relationship Id="rId206" Type="http://schemas.openxmlformats.org/officeDocument/2006/relationships/slide" Target="slides/slide193.xml"/><Relationship Id="rId207" Type="http://schemas.openxmlformats.org/officeDocument/2006/relationships/slide" Target="slides/slide194.xml"/><Relationship Id="rId208" Type="http://schemas.openxmlformats.org/officeDocument/2006/relationships/slide" Target="slides/slide195.xml"/><Relationship Id="rId209" Type="http://schemas.openxmlformats.org/officeDocument/2006/relationships/slide" Target="slides/slide196.xml"/><Relationship Id="rId210" Type="http://schemas.openxmlformats.org/officeDocument/2006/relationships/slide" Target="slides/slide197.xml"/><Relationship Id="rId211" Type="http://schemas.openxmlformats.org/officeDocument/2006/relationships/slide" Target="slides/slide198.xml"/><Relationship Id="rId212" Type="http://schemas.openxmlformats.org/officeDocument/2006/relationships/slide" Target="slides/slide199.xml"/><Relationship Id="rId213" Type="http://schemas.openxmlformats.org/officeDocument/2006/relationships/slide" Target="slides/slide200.xml"/><Relationship Id="rId214" Type="http://schemas.openxmlformats.org/officeDocument/2006/relationships/slide" Target="slides/slide201.xml"/><Relationship Id="rId215" Type="http://schemas.openxmlformats.org/officeDocument/2006/relationships/slide" Target="slides/slide202.xml"/><Relationship Id="rId216" Type="http://schemas.openxmlformats.org/officeDocument/2006/relationships/slide" Target="slides/slide203.xml"/><Relationship Id="rId217" Type="http://schemas.openxmlformats.org/officeDocument/2006/relationships/slide" Target="slides/slide204.xml"/><Relationship Id="rId218" Type="http://schemas.openxmlformats.org/officeDocument/2006/relationships/slide" Target="slides/slide205.xml"/><Relationship Id="rId219" Type="http://schemas.openxmlformats.org/officeDocument/2006/relationships/slide" Target="slides/slide206.xml"/><Relationship Id="rId220" Type="http://schemas.openxmlformats.org/officeDocument/2006/relationships/slide" Target="slides/slide207.xml"/><Relationship Id="rId221" Type="http://schemas.openxmlformats.org/officeDocument/2006/relationships/slide" Target="slides/slide208.xml"/><Relationship Id="rId222" Type="http://schemas.openxmlformats.org/officeDocument/2006/relationships/slide" Target="slides/slide209.xml"/><Relationship Id="rId223" Type="http://schemas.openxmlformats.org/officeDocument/2006/relationships/slide" Target="slides/slide210.xml"/><Relationship Id="rId224" Type="http://schemas.openxmlformats.org/officeDocument/2006/relationships/slide" Target="slides/slide211.xml"/><Relationship Id="rId225" Type="http://schemas.openxmlformats.org/officeDocument/2006/relationships/slide" Target="slides/slide212.xml"/><Relationship Id="rId226" Type="http://schemas.openxmlformats.org/officeDocument/2006/relationships/slide" Target="slides/slide213.xml"/><Relationship Id="rId227" Type="http://schemas.openxmlformats.org/officeDocument/2006/relationships/slide" Target="slides/slide214.xml"/><Relationship Id="rId228" Type="http://schemas.openxmlformats.org/officeDocument/2006/relationships/slide" Target="slides/slide215.xml"/><Relationship Id="rId229" Type="http://schemas.openxmlformats.org/officeDocument/2006/relationships/slide" Target="slides/slide216.xml"/><Relationship Id="rId230" Type="http://schemas.openxmlformats.org/officeDocument/2006/relationships/slide" Target="slides/slide217.xml"/><Relationship Id="rId231" Type="http://schemas.openxmlformats.org/officeDocument/2006/relationships/slide" Target="slides/slide218.xml"/><Relationship Id="rId232" Type="http://schemas.openxmlformats.org/officeDocument/2006/relationships/slide" Target="slides/slide219.xml"/><Relationship Id="rId233" Type="http://schemas.openxmlformats.org/officeDocument/2006/relationships/slide" Target="slides/slide220.xml"/><Relationship Id="rId234" Type="http://schemas.openxmlformats.org/officeDocument/2006/relationships/slide" Target="slides/slide221.xml"/><Relationship Id="rId235" Type="http://schemas.openxmlformats.org/officeDocument/2006/relationships/slide" Target="slides/slide222.xml"/><Relationship Id="rId236" Type="http://schemas.openxmlformats.org/officeDocument/2006/relationships/slide" Target="slides/slide223.xml"/><Relationship Id="rId237" Type="http://schemas.openxmlformats.org/officeDocument/2006/relationships/slide" Target="slides/slide224.xml"/><Relationship Id="rId238" Type="http://schemas.openxmlformats.org/officeDocument/2006/relationships/slide" Target="slides/slide225.xml"/><Relationship Id="rId239" Type="http://schemas.openxmlformats.org/officeDocument/2006/relationships/slide" Target="slides/slide226.xml"/><Relationship Id="rId240" Type="http://schemas.openxmlformats.org/officeDocument/2006/relationships/slide" Target="slides/slide227.xml"/><Relationship Id="rId241" Type="http://schemas.openxmlformats.org/officeDocument/2006/relationships/slide" Target="slides/slide228.xml"/><Relationship Id="rId242" Type="http://schemas.openxmlformats.org/officeDocument/2006/relationships/slide" Target="slides/slide229.xml"/><Relationship Id="rId243" Type="http://schemas.openxmlformats.org/officeDocument/2006/relationships/slide" Target="slides/slide230.xml"/><Relationship Id="rId244" Type="http://schemas.openxmlformats.org/officeDocument/2006/relationships/slide" Target="slides/slide231.xml"/><Relationship Id="rId245" Type="http://schemas.openxmlformats.org/officeDocument/2006/relationships/slide" Target="slides/slide232.xml"/><Relationship Id="rId246" Type="http://schemas.openxmlformats.org/officeDocument/2006/relationships/slide" Target="slides/slide233.xml"/><Relationship Id="rId247" Type="http://schemas.openxmlformats.org/officeDocument/2006/relationships/slide" Target="slides/slide234.xml"/><Relationship Id="rId248" Type="http://schemas.openxmlformats.org/officeDocument/2006/relationships/slide" Target="slides/slide235.xml"/><Relationship Id="rId249" Type="http://schemas.openxmlformats.org/officeDocument/2006/relationships/slide" Target="slides/slide236.xml"/><Relationship Id="rId250" Type="http://schemas.openxmlformats.org/officeDocument/2006/relationships/slide" Target="slides/slide237.xml"/><Relationship Id="rId251" Type="http://schemas.openxmlformats.org/officeDocument/2006/relationships/slide" Target="slides/slide238.xml"/><Relationship Id="rId252" Type="http://schemas.openxmlformats.org/officeDocument/2006/relationships/slide" Target="slides/slide239.xml"/><Relationship Id="rId253" Type="http://schemas.openxmlformats.org/officeDocument/2006/relationships/slide" Target="slides/slide240.xml"/><Relationship Id="rId254" Type="http://schemas.openxmlformats.org/officeDocument/2006/relationships/slide" Target="slides/slide241.xml"/><Relationship Id="rId255" Type="http://schemas.openxmlformats.org/officeDocument/2006/relationships/slide" Target="slides/slide242.xml"/><Relationship Id="rId256" Type="http://schemas.openxmlformats.org/officeDocument/2006/relationships/slide" Target="slides/slide243.xml"/><Relationship Id="rId257" Type="http://schemas.openxmlformats.org/officeDocument/2006/relationships/slide" Target="slides/slide244.xml"/><Relationship Id="rId258" Type="http://schemas.openxmlformats.org/officeDocument/2006/relationships/slide" Target="slides/slide245.xml"/><Relationship Id="rId259" Type="http://schemas.openxmlformats.org/officeDocument/2006/relationships/slide" Target="slides/slide246.xml"/><Relationship Id="rId260" Type="http://schemas.openxmlformats.org/officeDocument/2006/relationships/slide" Target="slides/slide247.xml"/><Relationship Id="rId261" Type="http://schemas.openxmlformats.org/officeDocument/2006/relationships/slide" Target="slides/slide248.xml"/><Relationship Id="rId262" Type="http://schemas.openxmlformats.org/officeDocument/2006/relationships/slide" Target="slides/slide249.xml"/><Relationship Id="rId263" Type="http://schemas.openxmlformats.org/officeDocument/2006/relationships/slide" Target="slides/slide250.xml"/><Relationship Id="rId264" Type="http://schemas.openxmlformats.org/officeDocument/2006/relationships/slide" Target="slides/slide251.xml"/><Relationship Id="rId265" Type="http://schemas.openxmlformats.org/officeDocument/2006/relationships/slide" Target="slides/slide252.xml"/><Relationship Id="rId266" Type="http://schemas.openxmlformats.org/officeDocument/2006/relationships/slide" Target="slides/slide253.xml"/><Relationship Id="rId267" Type="http://schemas.openxmlformats.org/officeDocument/2006/relationships/slide" Target="slides/slide254.xml"/><Relationship Id="rId268" Type="http://schemas.openxmlformats.org/officeDocument/2006/relationships/slide" Target="slides/slide255.xml"/><Relationship Id="rId269" Type="http://schemas.openxmlformats.org/officeDocument/2006/relationships/slide" Target="slides/slide256.xml"/><Relationship Id="rId270" Type="http://schemas.openxmlformats.org/officeDocument/2006/relationships/slide" Target="slides/slide257.xml"/><Relationship Id="rId271" Type="http://schemas.openxmlformats.org/officeDocument/2006/relationships/slide" Target="slides/slide258.xml"/><Relationship Id="rId272" Type="http://schemas.openxmlformats.org/officeDocument/2006/relationships/slide" Target="slides/slide259.xml"/><Relationship Id="rId273" Type="http://schemas.openxmlformats.org/officeDocument/2006/relationships/slide" Target="slides/slide260.xml"/><Relationship Id="rId274" Type="http://schemas.openxmlformats.org/officeDocument/2006/relationships/slide" Target="slides/slide261.xml"/><Relationship Id="rId275" Type="http://schemas.openxmlformats.org/officeDocument/2006/relationships/slide" Target="slides/slide262.xml"/><Relationship Id="rId276" Type="http://schemas.openxmlformats.org/officeDocument/2006/relationships/slide" Target="slides/slide263.xml"/><Relationship Id="rId277" Type="http://schemas.openxmlformats.org/officeDocument/2006/relationships/slide" Target="slides/slide264.xml"/><Relationship Id="rId278" Type="http://schemas.openxmlformats.org/officeDocument/2006/relationships/slide" Target="slides/slide265.xml"/><Relationship Id="rId279" Type="http://schemas.openxmlformats.org/officeDocument/2006/relationships/slide" Target="slides/slide266.xml"/><Relationship Id="rId280" Type="http://schemas.openxmlformats.org/officeDocument/2006/relationships/slide" Target="slides/slide267.xml"/><Relationship Id="rId281" Type="http://schemas.openxmlformats.org/officeDocument/2006/relationships/slide" Target="slides/slide268.xml"/><Relationship Id="rId282" Type="http://schemas.openxmlformats.org/officeDocument/2006/relationships/slide" Target="slides/slide269.xml"/><Relationship Id="rId283" Type="http://schemas.openxmlformats.org/officeDocument/2006/relationships/slide" Target="slides/slide270.xml"/><Relationship Id="rId284" Type="http://schemas.openxmlformats.org/officeDocument/2006/relationships/slide" Target="slides/slide271.xml"/><Relationship Id="rId285" Type="http://schemas.openxmlformats.org/officeDocument/2006/relationships/slide" Target="slides/slide272.xml"/><Relationship Id="rId286" Type="http://schemas.openxmlformats.org/officeDocument/2006/relationships/slide" Target="slides/slide273.xml"/><Relationship Id="rId287" Type="http://schemas.openxmlformats.org/officeDocument/2006/relationships/slide" Target="slides/slide274.xml"/><Relationship Id="rId288" Type="http://schemas.openxmlformats.org/officeDocument/2006/relationships/slide" Target="slides/slide275.xml"/><Relationship Id="rId289" Type="http://schemas.openxmlformats.org/officeDocument/2006/relationships/slide" Target="slides/slide276.xml"/><Relationship Id="rId290" Type="http://schemas.openxmlformats.org/officeDocument/2006/relationships/slide" Target="slides/slide277.xml"/><Relationship Id="rId291" Type="http://schemas.openxmlformats.org/officeDocument/2006/relationships/slide" Target="slides/slide278.xml"/><Relationship Id="rId292" Type="http://schemas.openxmlformats.org/officeDocument/2006/relationships/slide" Target="slides/slide279.xml"/><Relationship Id="rId293" Type="http://schemas.openxmlformats.org/officeDocument/2006/relationships/slide" Target="slides/slide280.xml"/><Relationship Id="rId294" Type="http://schemas.openxmlformats.org/officeDocument/2006/relationships/slide" Target="slides/slide281.xml"/><Relationship Id="rId295" Type="http://schemas.openxmlformats.org/officeDocument/2006/relationships/slide" Target="slides/slide282.xml"/><Relationship Id="rId296" Type="http://schemas.openxmlformats.org/officeDocument/2006/relationships/slide" Target="slides/slide283.xml"/><Relationship Id="rId297" Type="http://schemas.openxmlformats.org/officeDocument/2006/relationships/slide" Target="slides/slide284.xml"/><Relationship Id="rId298" Type="http://schemas.openxmlformats.org/officeDocument/2006/relationships/slide" Target="slides/slide285.xml"/><Relationship Id="rId299" Type="http://schemas.openxmlformats.org/officeDocument/2006/relationships/slide" Target="slides/slide286.xml"/><Relationship Id="rId300" Type="http://schemas.openxmlformats.org/officeDocument/2006/relationships/slide" Target="slides/slide287.xml"/><Relationship Id="rId301" Type="http://schemas.openxmlformats.org/officeDocument/2006/relationships/slide" Target="slides/slide288.xml"/><Relationship Id="rId302" Type="http://schemas.openxmlformats.org/officeDocument/2006/relationships/slide" Target="slides/slide289.xml"/><Relationship Id="rId303" Type="http://schemas.openxmlformats.org/officeDocument/2006/relationships/slide" Target="slides/slide290.xml"/><Relationship Id="rId304" Type="http://schemas.openxmlformats.org/officeDocument/2006/relationships/slide" Target="slides/slide291.xml"/><Relationship Id="rId305" Type="http://schemas.openxmlformats.org/officeDocument/2006/relationships/slide" Target="slides/slide292.xml"/><Relationship Id="rId306" Type="http://schemas.openxmlformats.org/officeDocument/2006/relationships/slide" Target="slides/slide293.xml"/><Relationship Id="rId307" Type="http://schemas.openxmlformats.org/officeDocument/2006/relationships/slide" Target="slides/slide294.xml"/><Relationship Id="rId308" Type="http://schemas.openxmlformats.org/officeDocument/2006/relationships/slide" Target="slides/slide295.xml"/><Relationship Id="rId309" Type="http://schemas.openxmlformats.org/officeDocument/2006/relationships/slide" Target="slides/slide296.xml"/><Relationship Id="rId310" Type="http://schemas.openxmlformats.org/officeDocument/2006/relationships/slide" Target="slides/slide297.xml"/><Relationship Id="rId311" Type="http://schemas.openxmlformats.org/officeDocument/2006/relationships/slide" Target="slides/slide298.xml"/><Relationship Id="rId312" Type="http://schemas.openxmlformats.org/officeDocument/2006/relationships/slide" Target="slides/slide299.xml"/><Relationship Id="rId313" Type="http://schemas.openxmlformats.org/officeDocument/2006/relationships/slide" Target="slides/slide300.xml"/><Relationship Id="rId314" Type="http://schemas.openxmlformats.org/officeDocument/2006/relationships/slide" Target="slides/slide301.xml"/><Relationship Id="rId315" Type="http://schemas.openxmlformats.org/officeDocument/2006/relationships/slide" Target="slides/slide302.xml"/><Relationship Id="rId316" Type="http://schemas.openxmlformats.org/officeDocument/2006/relationships/slide" Target="slides/slide303.xml"/><Relationship Id="rId317" Type="http://schemas.openxmlformats.org/officeDocument/2006/relationships/slide" Target="slides/slide304.xml"/><Relationship Id="rId318" Type="http://schemas.openxmlformats.org/officeDocument/2006/relationships/slide" Target="slides/slide305.xml"/><Relationship Id="rId319" Type="http://schemas.openxmlformats.org/officeDocument/2006/relationships/slide" Target="slides/slide306.xml"/><Relationship Id="rId320" Type="http://schemas.openxmlformats.org/officeDocument/2006/relationships/slide" Target="slides/slide307.xml"/><Relationship Id="rId321" Type="http://schemas.openxmlformats.org/officeDocument/2006/relationships/slide" Target="slides/slide308.xml"/><Relationship Id="rId322" Type="http://schemas.openxmlformats.org/officeDocument/2006/relationships/slide" Target="slides/slide309.xml"/><Relationship Id="rId323" Type="http://schemas.openxmlformats.org/officeDocument/2006/relationships/slide" Target="slides/slide310.xml"/><Relationship Id="rId324" Type="http://schemas.openxmlformats.org/officeDocument/2006/relationships/slide" Target="slides/slide311.xml"/><Relationship Id="rId325" Type="http://schemas.openxmlformats.org/officeDocument/2006/relationships/slide" Target="slides/slide312.xml"/><Relationship Id="rId326" Type="http://schemas.openxmlformats.org/officeDocument/2006/relationships/slide" Target="slides/slide313.xml"/><Relationship Id="rId327" Type="http://schemas.openxmlformats.org/officeDocument/2006/relationships/slide" Target="slides/slide314.xml"/><Relationship Id="rId328" Type="http://schemas.openxmlformats.org/officeDocument/2006/relationships/slide" Target="slides/slide315.xml"/><Relationship Id="rId329" Type="http://schemas.openxmlformats.org/officeDocument/2006/relationships/slide" Target="slides/slide316.xml"/><Relationship Id="rId330" Type="http://schemas.openxmlformats.org/officeDocument/2006/relationships/slide" Target="slides/slide317.xml"/><Relationship Id="rId331" Type="http://schemas.openxmlformats.org/officeDocument/2006/relationships/slide" Target="slides/slide318.xml"/><Relationship Id="rId332" Type="http://schemas.openxmlformats.org/officeDocument/2006/relationships/slide" Target="slides/slide319.xml"/><Relationship Id="rId333" Type="http://schemas.openxmlformats.org/officeDocument/2006/relationships/slide" Target="slides/slide320.xml"/><Relationship Id="rId334" Type="http://schemas.openxmlformats.org/officeDocument/2006/relationships/slide" Target="slides/slide321.xml"/><Relationship Id="rId335" Type="http://schemas.openxmlformats.org/officeDocument/2006/relationships/slide" Target="slides/slide322.xml"/><Relationship Id="rId336" Type="http://schemas.openxmlformats.org/officeDocument/2006/relationships/slide" Target="slides/slide323.xml"/><Relationship Id="rId337" Type="http://schemas.openxmlformats.org/officeDocument/2006/relationships/slide" Target="slides/slide324.xml"/><Relationship Id="rId338" Type="http://schemas.openxmlformats.org/officeDocument/2006/relationships/slide" Target="slides/slide325.xml"/><Relationship Id="rId339" Type="http://schemas.openxmlformats.org/officeDocument/2006/relationships/slide" Target="slides/slide326.xml"/><Relationship Id="rId340" Type="http://schemas.openxmlformats.org/officeDocument/2006/relationships/slide" Target="slides/slide327.xml"/><Relationship Id="rId341" Type="http://schemas.openxmlformats.org/officeDocument/2006/relationships/slide" Target="slides/slide328.xml"/><Relationship Id="rId342" Type="http://schemas.openxmlformats.org/officeDocument/2006/relationships/slide" Target="slides/slide329.xml"/><Relationship Id="rId343" Type="http://schemas.openxmlformats.org/officeDocument/2006/relationships/slide" Target="slides/slide330.xml"/><Relationship Id="rId344" Type="http://schemas.openxmlformats.org/officeDocument/2006/relationships/slide" Target="slides/slide331.xml"/><Relationship Id="rId345" Type="http://schemas.openxmlformats.org/officeDocument/2006/relationships/slide" Target="slides/slide332.xml"/><Relationship Id="rId346" Type="http://schemas.openxmlformats.org/officeDocument/2006/relationships/slide" Target="slides/slide333.xml"/><Relationship Id="rId347" Type="http://schemas.openxmlformats.org/officeDocument/2006/relationships/slide" Target="slides/slide334.xml"/><Relationship Id="rId348" Type="http://schemas.openxmlformats.org/officeDocument/2006/relationships/slide" Target="slides/slide335.xml"/><Relationship Id="rId349" Type="http://schemas.openxmlformats.org/officeDocument/2006/relationships/slide" Target="slides/slide336.xml"/><Relationship Id="rId350" Type="http://schemas.openxmlformats.org/officeDocument/2006/relationships/slide" Target="slides/slide337.xml"/><Relationship Id="rId351" Type="http://schemas.openxmlformats.org/officeDocument/2006/relationships/slide" Target="slides/slide338.xml"/><Relationship Id="rId352" Type="http://schemas.openxmlformats.org/officeDocument/2006/relationships/slide" Target="slides/slide339.xml"/><Relationship Id="rId353" Type="http://schemas.openxmlformats.org/officeDocument/2006/relationships/slide" Target="slides/slide340.xml"/><Relationship Id="rId354" Type="http://schemas.openxmlformats.org/officeDocument/2006/relationships/slide" Target="slides/slide341.xml"/><Relationship Id="rId355" Type="http://schemas.openxmlformats.org/officeDocument/2006/relationships/slide" Target="slides/slide342.xml"/><Relationship Id="rId356" Type="http://schemas.openxmlformats.org/officeDocument/2006/relationships/slide" Target="slides/slide343.xml"/><Relationship Id="rId357" Type="http://schemas.openxmlformats.org/officeDocument/2006/relationships/slide" Target="slides/slide344.xml"/><Relationship Id="rId358" Type="http://schemas.openxmlformats.org/officeDocument/2006/relationships/slide" Target="slides/slide345.xml"/><Relationship Id="rId359" Type="http://schemas.openxmlformats.org/officeDocument/2006/relationships/slide" Target="slides/slide346.xml"/><Relationship Id="rId360" Type="http://schemas.openxmlformats.org/officeDocument/2006/relationships/slide" Target="slides/slide347.xml"/><Relationship Id="rId361" Type="http://schemas.openxmlformats.org/officeDocument/2006/relationships/slide" Target="slides/slide348.xml"/><Relationship Id="rId362" Type="http://schemas.openxmlformats.org/officeDocument/2006/relationships/slide" Target="slides/slide349.xml"/><Relationship Id="rId363" Type="http://schemas.openxmlformats.org/officeDocument/2006/relationships/slide" Target="slides/slide350.xml"/><Relationship Id="rId364" Type="http://schemas.openxmlformats.org/officeDocument/2006/relationships/slide" Target="slides/slide351.xml"/><Relationship Id="rId365" Type="http://schemas.openxmlformats.org/officeDocument/2006/relationships/slide" Target="slides/slide352.xml"/><Relationship Id="rId366" Type="http://schemas.openxmlformats.org/officeDocument/2006/relationships/slide" Target="slides/slide353.xml"/><Relationship Id="rId367" Type="http://schemas.openxmlformats.org/officeDocument/2006/relationships/slide" Target="slides/slide354.xml"/><Relationship Id="rId368" Type="http://schemas.openxmlformats.org/officeDocument/2006/relationships/slide" Target="slides/slide355.xml"/><Relationship Id="rId369" Type="http://schemas.openxmlformats.org/officeDocument/2006/relationships/slide" Target="slides/slide356.xml"/><Relationship Id="rId370" Type="http://schemas.openxmlformats.org/officeDocument/2006/relationships/slide" Target="slides/slide357.xml"/><Relationship Id="rId371" Type="http://schemas.openxmlformats.org/officeDocument/2006/relationships/slide" Target="slides/slide358.xml"/><Relationship Id="rId372" Type="http://schemas.openxmlformats.org/officeDocument/2006/relationships/slide" Target="slides/slide359.xml"/><Relationship Id="rId373" Type="http://schemas.openxmlformats.org/officeDocument/2006/relationships/slide" Target="slides/slide360.xml"/><Relationship Id="rId374" Type="http://schemas.openxmlformats.org/officeDocument/2006/relationships/slide" Target="slides/slide361.xml"/><Relationship Id="rId375" Type="http://schemas.openxmlformats.org/officeDocument/2006/relationships/slide" Target="slides/slide362.xml"/><Relationship Id="rId376" Type="http://schemas.openxmlformats.org/officeDocument/2006/relationships/slide" Target="slides/slide363.xml"/><Relationship Id="rId377" Type="http://schemas.openxmlformats.org/officeDocument/2006/relationships/slide" Target="slides/slide364.xml"/><Relationship Id="rId378" Type="http://schemas.openxmlformats.org/officeDocument/2006/relationships/slide" Target="slides/slide365.xml"/><Relationship Id="rId379" Type="http://schemas.openxmlformats.org/officeDocument/2006/relationships/slide" Target="slides/slide366.xml"/><Relationship Id="rId380" Type="http://schemas.openxmlformats.org/officeDocument/2006/relationships/slide" Target="slides/slide367.xml"/><Relationship Id="rId381" Type="http://schemas.openxmlformats.org/officeDocument/2006/relationships/slide" Target="slides/slide368.xml"/><Relationship Id="rId382" Type="http://schemas.openxmlformats.org/officeDocument/2006/relationships/slide" Target="slides/slide369.xml"/><Relationship Id="rId383" Type="http://schemas.openxmlformats.org/officeDocument/2006/relationships/slide" Target="slides/slide370.xml"/><Relationship Id="rId384" Type="http://schemas.openxmlformats.org/officeDocument/2006/relationships/slide" Target="slides/slide371.xml"/><Relationship Id="rId385" Type="http://schemas.openxmlformats.org/officeDocument/2006/relationships/slide" Target="slides/slide372.xml"/><Relationship Id="rId386" Type="http://schemas.openxmlformats.org/officeDocument/2006/relationships/slide" Target="slides/slide373.xml"/><Relationship Id="rId387" Type="http://schemas.openxmlformats.org/officeDocument/2006/relationships/slide" Target="slides/slide374.xml"/><Relationship Id="rId388" Type="http://schemas.openxmlformats.org/officeDocument/2006/relationships/slide" Target="slides/slide375.xml"/><Relationship Id="rId389" Type="http://schemas.openxmlformats.org/officeDocument/2006/relationships/slide" Target="slides/slide376.xml"/><Relationship Id="rId390" Type="http://schemas.openxmlformats.org/officeDocument/2006/relationships/slide" Target="slides/slide377.xml"/><Relationship Id="rId391" Type="http://schemas.openxmlformats.org/officeDocument/2006/relationships/slide" Target="slides/slide378.xml"/><Relationship Id="rId392" Type="http://schemas.openxmlformats.org/officeDocument/2006/relationships/slide" Target="slides/slide379.xml"/><Relationship Id="rId393" Type="http://schemas.openxmlformats.org/officeDocument/2006/relationships/slide" Target="slides/slide380.xml"/><Relationship Id="rId394" Type="http://schemas.openxmlformats.org/officeDocument/2006/relationships/slide" Target="slides/slide381.xml"/><Relationship Id="rId395" Type="http://schemas.openxmlformats.org/officeDocument/2006/relationships/slide" Target="slides/slide382.xml"/><Relationship Id="rId396" Type="http://schemas.openxmlformats.org/officeDocument/2006/relationships/slide" Target="slides/slide383.xml"/><Relationship Id="rId397" Type="http://schemas.openxmlformats.org/officeDocument/2006/relationships/slide" Target="slides/slide384.xml"/><Relationship Id="rId398" Type="http://schemas.openxmlformats.org/officeDocument/2006/relationships/slide" Target="slides/slide385.xml"/><Relationship Id="rId399" Type="http://schemas.openxmlformats.org/officeDocument/2006/relationships/slide" Target="slides/slide386.xml"/><Relationship Id="rId400" Type="http://schemas.openxmlformats.org/officeDocument/2006/relationships/slide" Target="slides/slide387.xml"/><Relationship Id="rId401" Type="http://schemas.openxmlformats.org/officeDocument/2006/relationships/slide" Target="slides/slide388.xml"/><Relationship Id="rId402" Type="http://schemas.openxmlformats.org/officeDocument/2006/relationships/slide" Target="slides/slide389.xml"/><Relationship Id="rId403" Type="http://schemas.openxmlformats.org/officeDocument/2006/relationships/slide" Target="slides/slide390.xml"/><Relationship Id="rId404" Type="http://schemas.openxmlformats.org/officeDocument/2006/relationships/slide" Target="slides/slide391.xml"/><Relationship Id="rId405" Type="http://schemas.openxmlformats.org/officeDocument/2006/relationships/slide" Target="slides/slide392.xml"/><Relationship Id="rId406" Type="http://schemas.openxmlformats.org/officeDocument/2006/relationships/slide" Target="slides/slide393.xml"/><Relationship Id="rId407" Type="http://schemas.openxmlformats.org/officeDocument/2006/relationships/slide" Target="slides/slide394.xml"/><Relationship Id="rId408" Type="http://schemas.openxmlformats.org/officeDocument/2006/relationships/slide" Target="slides/slide395.xml"/><Relationship Id="rId409" Type="http://schemas.openxmlformats.org/officeDocument/2006/relationships/slide" Target="slides/slide396.xml"/><Relationship Id="rId410" Type="http://schemas.openxmlformats.org/officeDocument/2006/relationships/slide" Target="slides/slide397.xml"/><Relationship Id="rId411" Type="http://schemas.openxmlformats.org/officeDocument/2006/relationships/slide" Target="slides/slide398.xml"/><Relationship Id="rId412" Type="http://schemas.openxmlformats.org/officeDocument/2006/relationships/slide" Target="slides/slide399.xml"/><Relationship Id="rId413" Type="http://schemas.openxmlformats.org/officeDocument/2006/relationships/slide" Target="slides/slide400.xml"/><Relationship Id="rId414" Type="http://schemas.openxmlformats.org/officeDocument/2006/relationships/slide" Target="slides/slide401.xml"/><Relationship Id="rId415" Type="http://schemas.openxmlformats.org/officeDocument/2006/relationships/slide" Target="slides/slide402.xml"/><Relationship Id="rId416" Type="http://schemas.openxmlformats.org/officeDocument/2006/relationships/slide" Target="slides/slide403.xml"/><Relationship Id="rId417" Type="http://schemas.openxmlformats.org/officeDocument/2006/relationships/slide" Target="slides/slide404.xml"/><Relationship Id="rId420" Type="http://schemas.openxmlformats.org/officeDocument/2006/relationships/slide" Target="slides/slide405.xml"/><Relationship Id="rId421" Type="http://schemas.openxmlformats.org/officeDocument/2006/relationships/slide" Target="slides/slide4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Approx. exam weight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16</c:v>
                </c:pt>
                <c:pt idx="2">
                  <c:v>21</c:v>
                </c:pt>
                <c:pt idx="3">
                  <c:v>20</c:v>
                </c:pt>
                <c:pt idx="4">
                  <c:v>18</c:v>
                </c:pt>
                <c:pt idx="5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Precision–recall trade-off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0.71</c:v>
                </c:pt>
                <c:pt idx="2">
                  <c:v>0.79</c:v>
                </c:pt>
                <c:pt idx="3">
                  <c:v>0.83</c:v>
                </c:pt>
                <c:pt idx="4">
                  <c:v>0.85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budget curve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0.78</c:v>
                </c:pt>
                <c:pt idx="2">
                  <c:v>0.82</c:v>
                </c:pt>
                <c:pt idx="3">
                  <c:v>0.835</c:v>
                </c:pt>
                <c:pt idx="4">
                  <c:v>0.838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confidence threshold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0.28</c:v>
                </c:pt>
                <c:pt idx="2">
                  <c:v>0.17</c:v>
                </c:pt>
                <c:pt idx="3">
                  <c:v>0.11</c:v>
                </c:pt>
                <c:pt idx="4">
                  <c:v>0.07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score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</c:v>
                </c:pt>
                <c:pt idx="1">
                  <c:v>0.72</c:v>
                </c:pt>
                <c:pt idx="2">
                  <c:v>0.76</c:v>
                </c:pt>
                <c:pt idx="3">
                  <c:v>0.74</c:v>
                </c:pt>
                <c:pt idx="4">
                  <c:v>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Tuning generalization gap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</c:v>
                </c:pt>
                <c:pt idx="1">
                  <c:v>0.04</c:v>
                </c:pt>
                <c:pt idx="2">
                  <c:v>0.07</c:v>
                </c:pt>
                <c:pt idx="3">
                  <c:v>0.13</c:v>
                </c:pt>
                <c:pt idx="4">
                  <c:v>0.22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Groundedness by retrieval depth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</c:v>
                </c:pt>
                <c:pt idx="1">
                  <c:v>0.75</c:v>
                </c:pt>
                <c:pt idx="2">
                  <c:v>0.84</c:v>
                </c:pt>
                <c:pt idx="3">
                  <c:v>0.85</c:v>
                </c:pt>
                <c:pt idx="4">
                  <c:v>0.82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Equal opportunity gap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headroom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0.08</c:v>
                </c:pt>
                <c:pt idx="1">
                  <c:v>0.16</c:v>
                </c:pt>
                <c:pt idx="2">
                  <c:v>0.24</c:v>
                </c:pt>
                <c:pt idx="3">
                  <c:v>0.31</c:v>
                </c:pt>
                <c:pt idx="4">
                  <c:v>0.38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Freshness lag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vs workers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2200</c:v>
                </c:pt>
                <c:pt idx="2">
                  <c:v>3800</c:v>
                </c:pt>
                <c:pt idx="3">
                  <c:v>5100</c:v>
                </c:pt>
                <c:pt idx="4">
                  <c:v>5600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 by feature set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</c:v>
                </c:pt>
                <c:pt idx="1">
                  <c:v>0.75</c:v>
                </c:pt>
                <c:pt idx="2">
                  <c:v>0.79</c:v>
                </c:pt>
                <c:pt idx="3">
                  <c:v>0.78</c:v>
                </c:pt>
                <c:pt idx="4">
                  <c:v>0.77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feature freshness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39</c:v>
                </c:pt>
                <c:pt idx="4">
                  <c:v>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PII exposure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0.08</c:v>
                </c:pt>
                <c:pt idx="2">
                  <c:v>0.04</c:v>
                </c:pt>
                <c:pt idx="3">
                  <c:v>0.01</c:v>
                </c:pt>
                <c:pt idx="4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Idle compute waste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0.31</c:v>
                </c:pt>
                <c:pt idx="2">
                  <c:v>0.2</c:v>
                </c:pt>
                <c:pt idx="3">
                  <c:v>0.11</c:v>
                </c:pt>
                <c:pt idx="4">
                  <c:v>0.05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 by run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0.81</c:v>
                </c:pt>
                <c:pt idx="2">
                  <c:v>0.84</c:v>
                </c:pt>
                <c:pt idx="3">
                  <c:v>0.83</c:v>
                </c:pt>
                <c:pt idx="4">
                  <c:v>0.82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Evaluation agreement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</c:v>
                </c:pt>
                <c:pt idx="1">
                  <c:v>0.74</c:v>
                </c:pt>
                <c:pt idx="2">
                  <c:v>0.81</c:v>
                </c:pt>
                <c:pt idx="3">
                  <c:v>0.86</c:v>
                </c:pt>
                <c:pt idx="4">
                  <c:v>0.88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utility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0.54</c:v>
                </c:pt>
                <c:pt idx="1">
                  <c:v>0.66</c:v>
                </c:pt>
                <c:pt idx="2">
                  <c:v>0.73</c:v>
                </c:pt>
                <c:pt idx="3">
                  <c:v>0.71</c:v>
                </c:pt>
                <c:pt idx="4">
                  <c:v>0.65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pipeline utilization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</c:v>
                </c:pt>
                <c:pt idx="1">
                  <c:v>0.68</c:v>
                </c:pt>
                <c:pt idx="2">
                  <c:v>0.79</c:v>
                </c:pt>
                <c:pt idx="3">
                  <c:v>0.88</c:v>
                </c:pt>
                <c:pt idx="4">
                  <c:v>0.91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</c:v>
                </c:pt>
                <c:pt idx="1">
                  <c:v>0.55</c:v>
                </c:pt>
                <c:pt idx="2">
                  <c:v>0.44</c:v>
                </c:pt>
                <c:pt idx="3">
                  <c:v>0.4</c:v>
                </c:pt>
                <c:pt idx="4">
                  <c:v>0.41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cost per successful run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37</c:v>
                </c:pt>
                <c:pt idx="2">
                  <c:v>33</c:v>
                </c:pt>
                <c:pt idx="3">
                  <c:v>31</c:v>
                </c:pt>
                <c:pt idx="4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objective by trial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0.81</c:v>
                </c:pt>
                <c:pt idx="2">
                  <c:v>0.835</c:v>
                </c:pt>
                <c:pt idx="3">
                  <c:v>0.844</c:v>
                </c:pt>
                <c:pt idx="4">
                  <c:v>0.846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vs training examples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0.08</c:v>
                </c:pt>
                <c:pt idx="2">
                  <c:v>0.13</c:v>
                </c:pt>
                <c:pt idx="3">
                  <c:v>0.15</c:v>
                </c:pt>
                <c:pt idx="4">
                  <c:v>0.15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Examples per dollar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</c:v>
                </c:pt>
                <c:pt idx="1">
                  <c:v>510</c:v>
                </c:pt>
                <c:pt idx="2">
                  <c:v>690</c:v>
                </c:pt>
                <c:pt idx="3">
                  <c:v>740</c:v>
                </c:pt>
                <c:pt idx="4">
                  <c:v>715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Scaling efficiency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</c:v>
                </c:pt>
                <c:pt idx="1">
                  <c:v>0.91</c:v>
                </c:pt>
                <c:pt idx="2">
                  <c:v>0.84</c:v>
                </c:pt>
                <c:pt idx="3">
                  <c:v>0.74</c:v>
                </c:pt>
                <c:pt idx="4">
                  <c:v>0.61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1,000 predictions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</c:v>
                </c:pt>
                <c:pt idx="1">
                  <c:v>0.31</c:v>
                </c:pt>
                <c:pt idx="2">
                  <c:v>0.22</c:v>
                </c:pt>
                <c:pt idx="3">
                  <c:v>0.18</c:v>
                </c:pt>
                <c:pt idx="4">
                  <c:v>0.16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Container startup time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11</c:v>
                </c:pt>
                <c:pt idx="2">
                  <c:v>7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Rollback time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31</c:v>
                </c:pt>
                <c:pt idx="2">
                  <c:v>19</c:v>
                </c:pt>
                <c:pt idx="3">
                  <c:v>11</c:v>
                </c:pt>
                <c:pt idx="4">
                  <c:v>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Canary error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0.003</c:v>
                </c:pt>
                <c:pt idx="1">
                  <c:v>0.004</c:v>
                </c:pt>
                <c:pt idx="2">
                  <c:v>0.006</c:v>
                </c:pt>
                <c:pt idx="3">
                  <c:v>0.012</c:v>
                </c:pt>
                <c:pt idx="4">
                  <c:v>0.021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Training-serving skew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0.08</c:v>
                </c:pt>
                <c:pt idx="4">
                  <c:v>0.15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Unauthorized request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0.08</c:v>
                </c:pt>
                <c:pt idx="2">
                  <c:v>0.03</c:v>
                </c:pt>
                <c:pt idx="3">
                  <c:v>0.01</c:v>
                </c:pt>
                <c:pt idx="4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by QPS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135</c:v>
                </c:pt>
                <c:pt idx="2">
                  <c:v>180</c:v>
                </c:pt>
                <c:pt idx="3">
                  <c:v>290</c:v>
                </c:pt>
                <c:pt idx="4">
                  <c:v>610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 latency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104</c:v>
                </c:pt>
                <c:pt idx="2">
                  <c:v>121</c:v>
                </c:pt>
                <c:pt idx="3">
                  <c:v>188</c:v>
                </c:pt>
                <c:pt idx="4">
                  <c:v>304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pass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</c:v>
                </c:pt>
                <c:pt idx="1">
                  <c:v>0.8</c:v>
                </c:pt>
                <c:pt idx="2">
                  <c:v>0.88</c:v>
                </c:pt>
                <c:pt idx="3">
                  <c:v>0.93</c:v>
                </c:pt>
                <c:pt idx="4">
                  <c:v>0.96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Cached step savings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19</c:v>
                </c:pt>
                <c:pt idx="3">
                  <c:v>31</c:v>
                </c:pt>
                <c:pt idx="4">
                  <c:v>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DAG SLA misses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0.12</c:v>
                </c:pt>
                <c:pt idx="2">
                  <c:v>0.08</c:v>
                </c:pt>
                <c:pt idx="3">
                  <c:v>0.03</c:v>
                </c:pt>
                <c:pt idx="4">
                  <c:v>0.01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Distributed task throughput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42</c:v>
                </c:pt>
                <c:pt idx="2">
                  <c:v>71</c:v>
                </c:pt>
                <c:pt idx="3">
                  <c:v>103</c:v>
                </c:pt>
                <c:pt idx="4">
                  <c:v>118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Golden feature max error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1e-06</c:v>
                </c:pt>
                <c:pt idx="1">
                  <c:v>1e-06</c:v>
                </c:pt>
                <c:pt idx="2">
                  <c:v>2e-06</c:v>
                </c:pt>
                <c:pt idx="3">
                  <c:v>0.014</c:v>
                </c:pt>
                <c:pt idx="4">
                  <c:v>0.09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over time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</c:v>
                </c:pt>
                <c:pt idx="1">
                  <c:v>0.85</c:v>
                </c:pt>
                <c:pt idx="2">
                  <c:v>0.84</c:v>
                </c:pt>
                <c:pt idx="3">
                  <c:v>0.81</c:v>
                </c:pt>
                <c:pt idx="4">
                  <c:v>0.78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failure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</c:v>
                </c:pt>
                <c:pt idx="1">
                  <c:v>0.14</c:v>
                </c:pt>
                <c:pt idx="2">
                  <c:v>0.09</c:v>
                </c:pt>
                <c:pt idx="3">
                  <c:v>0.05</c:v>
                </c:pt>
                <c:pt idx="4">
                  <c:v>0.03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Reproducible run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0.73</c:v>
                </c:pt>
                <c:pt idx="2">
                  <c:v>0.84</c:v>
                </c:pt>
                <c:pt idx="3">
                  <c:v>0.92</c:v>
                </c:pt>
                <c:pt idx="4">
                  <c:v>0.97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 success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0.19</c:v>
                </c:pt>
                <c:pt idx="2">
                  <c:v>0.11</c:v>
                </c:pt>
                <c:pt idx="3">
                  <c:v>0.05</c:v>
                </c:pt>
                <c:pt idx="4">
                  <c:v>0.02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True-positive-rate gap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0.07</c:v>
                </c:pt>
                <c:pt idx="4">
                  <c:v>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Attribution drift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</c:v>
                </c:pt>
                <c:pt idx="1">
                  <c:v>0.03</c:v>
                </c:pt>
                <c:pt idx="2">
                  <c:v>0.05</c:v>
                </c:pt>
                <c:pt idx="3">
                  <c:v>0.12</c:v>
                </c:pt>
                <c:pt idx="4">
                  <c:v>0.19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stability index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0.07</c:v>
                </c:pt>
                <c:pt idx="2">
                  <c:v>0.12</c:v>
                </c:pt>
                <c:pt idx="3">
                  <c:v>0.21</c:v>
                </c:pt>
                <c:pt idx="4">
                  <c:v>0.34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Grounded answer rate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0.9</c:v>
                </c:pt>
                <c:pt idx="2">
                  <c:v>0.87</c:v>
                </c:pt>
                <c:pt idx="3">
                  <c:v>0.82</c:v>
                </c:pt>
                <c:pt idx="4">
                  <c:v>0.76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Error-budget burn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0.7</c:v>
                </c:pt>
                <c:pt idx="2">
                  <c:v>1.0</c:v>
                </c:pt>
                <c:pt idx="3">
                  <c:v>2.3</c:v>
                </c:pt>
                <c:pt idx="4">
                  <c:v>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time to recovery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35</c:v>
                </c:pt>
                <c:pt idx="2">
                  <c:v>24</c:v>
                </c:pt>
                <c:pt idx="3">
                  <c:v>16</c:v>
                </c:pt>
                <c:pt idx="4">
                  <c:v>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1,000 predictions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ize val="8"/>
          </c:marke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Current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</c:v>
                </c:pt>
                <c:pt idx="1">
                  <c:v>0.43</c:v>
                </c:pt>
                <c:pt idx="2">
                  <c:v>0.34</c:v>
                </c:pt>
                <c:pt idx="3">
                  <c:v>0.27</c:v>
                </c:pt>
                <c:pt idx="4">
                  <c:v>0.24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4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3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6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8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9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l-pipeline-cover-v8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713232" cy="713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481328"/>
            <a:ext cx="23317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23317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NON-WSQ COURSE · 4 DAYS · 30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5715000" cy="1874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2F"/>
                </a:solidFill>
                <a:latin typeface="Aptos Display"/>
              </a:rPr>
              <a:t>Google Professional Machine Learning Engineer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68496"/>
            <a:ext cx="5394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897B"/>
                </a:solidFill>
                <a:latin typeface="Aptos"/>
              </a:rPr>
              <a:t>Build · evaluate · productionize · optimize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17720"/>
            <a:ext cx="53949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C740</a:t>
            </a:r>
          </a:p>
          <a:p>
            <a:r>
              <a:rPr sz="1300" b="0">
                <a:latin typeface="Aptos"/>
              </a:rP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97296"/>
            <a:ext cx="3200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05E6F"/>
                </a:solidFill>
                <a:latin typeface="Aptos"/>
              </a:rPr>
              <a:t>v2.0 · 12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6281928"/>
            <a:ext cx="3474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AI-generated course hero · editable typography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About the Trainer —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To be completed by the assigned trainer.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Qualifications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Relevant cloud, ML and adult-learning credentials.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Industry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Production ML, data engineering, MLOps and governance experience.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Approved course support channel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About the Trainer — 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Principal Trainer, Tertiary Infotech Academy Pte Ltd.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Applied AI, machine learning, data engineering and production software systems.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Hands-on technical courses aligned to certification outcomes.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Provider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Founder and lead instructor at Tertiary Infotech / Tertiary Courses.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Learner Context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Data scientist, ML engineer, data engineer, software engineer or cloud architect.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Current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Python/SQL, data platforms, model frameworks and deployment environment.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Target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Design, train, serve and monitor an evidence-backed Google Cloud ML solution.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Constraint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Share one real latency, cost, security or governance challenge—without confidential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Participation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Question mechanisms, assumptions and metrics; contribute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Use only the training project and mock data. No production credentials or personal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Check estimates, quotas and budgets before paid resources.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Respect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One conversation at a time; return punctually and preserve peer confidentiality.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VISUAL PORTAL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Sign in at lms-tms.tertiaryinfotech.com with your course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Course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Open C740 and locate learner slides, Learner Guide and Activities.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Confirm the version shown is v2.0 and filenames match this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Keep detailed procedures in the LG/activity PDFs; slides are mechanism and evidence maps.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Course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4 days · 30 instructional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Instructor-led with 16 self-contained technical activities.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Skills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Non-WSQ commercial short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Certification focus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Google Cloud Professional Machine Learning Engineer exam guide, current at release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CURRENT OFFICIAL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PMLE exam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1664208"/>
          <a:ext cx="658368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26679" y="1874519"/>
            <a:ext cx="3337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"/>
              </a:rPr>
              <a:t>Six-domain design</a:t>
            </a:r>
          </a:p>
        </p:txBody>
      </p:sp>
      <p:sp>
        <p:nvSpPr>
          <p:cNvPr id="12" name="Oval 11"/>
          <p:cNvSpPr/>
          <p:nvPr/>
        </p:nvSpPr>
        <p:spPr>
          <a:xfrm>
            <a:off x="7726679" y="26243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5863" y="2514600"/>
            <a:ext cx="3008376" cy="5074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Architecting low-code AI solutions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315010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5863" y="3040380"/>
            <a:ext cx="3008376" cy="5074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Collaborating to manage data and models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367588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3" y="3566160"/>
            <a:ext cx="3008376" cy="5074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Scaling prototypes into ML models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420166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5863" y="4091940"/>
            <a:ext cx="3008376" cy="5074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Serving and scaling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7726679" y="4727448"/>
            <a:ext cx="182880" cy="18288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3" y="4617720"/>
            <a:ext cx="3008376" cy="5074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Automating and orchestrating ML pipelines</a:t>
            </a:r>
          </a:p>
        </p:txBody>
      </p:sp>
      <p:sp>
        <p:nvSpPr>
          <p:cNvPr id="22" name="Oval 21"/>
          <p:cNvSpPr/>
          <p:nvPr/>
        </p:nvSpPr>
        <p:spPr>
          <a:xfrm>
            <a:off x="7726679" y="5253228"/>
            <a:ext cx="182880" cy="18288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3" y="5143500"/>
            <a:ext cx="3008376" cy="5074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Monitoring AI solutions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Four-Day Technical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Low-code AI architecture, Google Cloud setup and data foundations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Day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Feature engineering, TensorFlow and scalable custom 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Day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Model serving, deployment strategies and production scaling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Day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MLOps automation, monitoring, responsible AI and wrap-up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ACTIVITY 01 · CONCEPT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Workspace Control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Dedicated account or approved existing identity; MFA and recovery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Isolated training project with explicit region and owner.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Linked billing account, small budget alerts and resource expiry.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Least privilege, APIs enabled deliberately, no downloaded service-account keys.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CERTIFICATION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Practice Exam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https://exams.tertiaryinfotech.com/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Use Practice Mode for feedback and Exam Mode for timed rehearsal.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Original blueprint-aligned practice questions; never exam dumps.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Study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Review domain results, revisit activities, and retake under timed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828800"/>
            <a:ext cx="960120" cy="9601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28431" y="2852928"/>
            <a:ext cx="960120" cy="96012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50224" y="1828800"/>
            <a:ext cx="960120" cy="9601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72016" y="2852928"/>
            <a:ext cx="960120" cy="96012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93808" y="1828800"/>
            <a:ext cx="960120" cy="96012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051560"/>
            <a:ext cx="201168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2011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DOMAIN 1 · ~13%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61264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2F"/>
                </a:solidFill>
                <a:latin typeface="Aptos Display"/>
              </a:rPr>
              <a:t>Architecting low-code AI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291840"/>
            <a:ext cx="5943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05E6F"/>
                </a:solidFill>
                <a:latin typeface="Aptos"/>
              </a:rPr>
              <a:t>Topics 1–3: GCP fundamentals, Google ML services, ML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84632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897B"/>
                </a:solidFill>
                <a:latin typeface="Aptos"/>
              </a:rPr>
              <a:t>8 technical mechanisms · 64 anchored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BigQuery ML model selection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4518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451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Business question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9308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3900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051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051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628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BigQuery table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04841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9433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CREATE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0374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4966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111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11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4694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ML.EVALUATE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907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80499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6649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6649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0227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ML.PREDICT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business question to ml.predict through versioned artifacts.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BigQuery ML model selection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binary outcome with calibrated probability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Boosted trees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non-linear tabular relationships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ARIMA_PLUS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forecasting with seasonality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BigQuery ML model selection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CREATE OR REPLACE MODEL `ml.churn`
OPTIONS(model_type='LOGISTIC_REG', input_label_cols=['churned']) AS
SELECT * EXCEPT(customer_id) FROM `ml.customer_features`;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BigQuery ML model selection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Precision–recall 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precision = TP/(TP+FP); recall = TP/(TP+FN)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BigQuery ML model selection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High accuracy, poor 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class imbalance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use PR AUC and class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Query cost spike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unbounded scans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partition, cluster and select columns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Leakage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post-outcome feature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point-in-time feature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BigQuery ML model selection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2542032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2212848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SQL text and job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8688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3438144" y="2176272"/>
            <a:ext cx="2542032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108960"/>
            <a:ext cx="2212848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ML.EVALUATE 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0176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6199632" y="2176272"/>
            <a:ext cx="2542032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108960"/>
            <a:ext cx="2212848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confusion matrix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1664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8961120" y="2176272"/>
            <a:ext cx="2542032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108960"/>
            <a:ext cx="2212848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 metadata and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BigQuery ML model selection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retailer needs churn scores from 40 TB already in BigQuery with no custom serving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BigQuery ML; keep training and scoring beside governed data and batch predictions.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03 evidence — Train and Evaluate a BigQuery ML Churn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Run SQL-defined logistic regression, evaluation and batch prediction on mock customer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customers.csv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bigquery_ml.sql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evaluate_metrics.py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AutoML tabular workflow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Schema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Target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 split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Budget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Register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schema to register through versioned artifacts.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AutoML tabular workflow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AutoML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strong baseline and limited ML engineering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Custom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custom loss or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BigQuery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SQL team and warehouse-resident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AutoML tabular workflow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gcloud ai models upload --region=$REGION --display-name=churn-automl \
+  --container-image-uri=$PREDICTION_IMAGE --artifact-uri=$MODEL_DIR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AutoML tabular workflow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Training budget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marginal gain = metric(t)-metric(t-1)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AutoML tabular workflow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Invalid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nulls or unsupported label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profile and clean label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Weak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random split on temporal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use time-aware split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Over-budget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stopping criterion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cap node hours and monitor marginal 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AutoML tabular workflow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dataset schema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split manifest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training budget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evaluation slices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registered model 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AutoML tabular workflow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lending team needs a governed risk baseline quickly, but predictions must be explainable by segment.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Start with AutoML tabular, require slice metrics and feature attributions before 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04 evidence — Design an AutoML Tabular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a dataset specification, split plan, budget and evaluation slice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automl_dataset.csv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automl_config.yaml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validate_splits.py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AI APIs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4518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451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Content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9308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3900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051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051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628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04841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9433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API request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0374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4966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111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11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4694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Structured response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907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80499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6649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6649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0227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Human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content to human review through versioned artifacts.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AI APIs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Document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forms, invoices and OCR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Vision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labels, OCR and image properties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Translate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managed multilingual translation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AI APIs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curl -s -X POST -H "Authorization: Bearer $(gcloud auth print-access-token)" \
+  -H 'Content-Type: application/json' \
+  "https://vision.googleapis.com/v1/images:annotate" -d @request.json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AI APIs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API confidence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review_rate = count(score &lt; threshold)/N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AI APIs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403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API disabled or IAM missing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enable API; grant narrow 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429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quota exhausted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backoff, batch, request quota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Low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domain mismatch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human review or custom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AI APIs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request 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HTTP status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operation 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confidence distribution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review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Google Cloud AI APIs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An insurer must extract line items from varied claim forms and retain reviewer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Document AI processor plus confidence-based human review; do not build OCR from scratch.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05 evidence — Compare Pretrained Google Cloud AI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Prepare Vision, Document AI and Natural Language requests and interpret mock responses.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vision_request.json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mock_vision_response.json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api_selector.py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Garden and foundation model selection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4518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451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9308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3900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051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051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628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Constraints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04841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9433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Candidate models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0374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4966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111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11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4694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Evaluation set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907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80499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6649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6649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0227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Endpoint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task to endpoint through versioned artifacts.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Model Garden and foundation model selection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Gemini managed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multimodal and managed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Open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weight control or special license needs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Specialized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narrow commodity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Model Garden and foundation model selection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MODEL_ID='gemini-2.5-flash'
P95_MS=850
MAX_COST_PER_1K=0.020
SAFETY='BLOCK_MEDIUM_AND_ABOVE'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Garden and foundation model selection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Utility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0.45*quality - 0.25*cost - 0.20*latency + 0.10*availability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Garden and foundation model selection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Benchmark mismatch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public task differs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use production-like eval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License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terms not reviewed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legal and model-card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Region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model unavailable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confirm region before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Garden and foundation model selection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42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candidate matrix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 card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evaluation dataset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quality/cost/latency report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approval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Garden and foundation model selection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support assistant must ground answers in policy PDFs with sub-second median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Evaluate managed Gemini candidates on groundedness, latency and cost; select by measured SLOs.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02 evidence — Draft an ML Architecture Decision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Convert business volume, latency, security and explainability needs into a service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architecture_decision.py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expected_decision.json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Gemini tuning with BigQuery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4518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451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Curate examples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9308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3900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051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051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628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Split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04841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9433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Tune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0374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4966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111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11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4694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907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80499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6649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6649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0227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curate examples to publish through versioned artifacts.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Gemini tuning with BigQuery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Prompt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behavior adjustable with instructions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Supervised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stable style/task examples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facts change and citations matter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Gemini tuning with BigQuery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SELECT input_text, output_text
FROM `genai.tuning_examples`
WHERE approved = TRUE AND split IN ('TRAIN','VALIDATION');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Gemini tuning with BigQuery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Tuning generalization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gap = train_score - validation_score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Gemini tuning with BigQuery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Memorization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duplicates or tiny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deduplicate and widen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Unsafe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bad examples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curation and safety eval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No gain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task is knowledge-bound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use RAG instead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Gemini tuning with BigQuery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50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approved tuning table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 lineage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base/tuned comparison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safety results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versioned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Gemini tuning with BigQuery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legal drafting model must follow a house style, while statute facts remain retrieval-grounded.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Tune for stable style and use RAG for changing legal facts; evaluate each separately.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04 evidence — Design an AutoML Tabular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a dataset specification, split plan, budget and evaluation slice gate.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automl_dataset.csv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automl_config.yaml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validate_splits.py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Prompt and context engineering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4518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451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System instruction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9308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3900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051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051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628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Retrieved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04841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9433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User task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0374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4966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111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11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4694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Tool call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907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80499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6649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6649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0227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Grounded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system instruction to grounded answer through versioned artifacts.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Prompt and context engineering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Few-shot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stable pattern with representative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current private knowledge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Tool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actions or authoritative calculations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Prompt and context engineering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SYSTEM='Use only supplied context; cite source_id.'
CONTEXT_TOP_K=5
TEMPERATURE=0.1
MAX_OUTPUT_TOKENS=800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Prompt and context engineering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Groundedness by retrieval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grounded = supported_claims / total_claims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Prompt and context engineering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Hallucination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context missing or ignored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abstain and require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Prompt 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untrusted retrieved 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isolate instructions from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Context bloat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too many chunks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rerank and cap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Prompt and context engineering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58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prompt template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retrieval trace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tool-call log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citation coverage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red-team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Prompt and context engineering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An internal HR assistant must answer only from approved policies and refuse missing-policy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RAG with instruction/data separation, citation checks, and a tested abstention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02 evidence — Draft an ML Architecture Decision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Convert business volume, latency, security and explainability needs into a service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architecture_decision.py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expected_decision.json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low-code design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Stakeholders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Harms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Controls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Monitoring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Appeal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stakeholders to appeal through versioned artifacts.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low-code design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Human-in-loop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high-impact or uncertain 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Human-on-loop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automated low-risk with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Automated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reversible, validated low-harm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low-code design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slices = ['region','age_band','channel']
max_tpr_gap = 0.05
min_group_n = 100
require_appeal =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low-code design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Equal opportunity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max(TPR_group)-min(TPR_group)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low-code design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Hidden disparity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aggregate-only metric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slice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Automation bias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override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human authority and appeal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Purpose creep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reused prediction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use limitation and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low-code design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66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impact assessment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slice metrics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 card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human-review SOP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appeal and incident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low-code design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model prioritizes public-service cases where false negatives have unequal community impact.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Require human review, group metrics, documented thresholds and a usable appeal process.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DOMAIN 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Cost, latency and availability architecture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Demand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Capacity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Region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Caching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demand to fallback through versioned artifacts.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Cost, latency and availability architecture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large volume without immediate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Online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predictable low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Serverless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bursty stateless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1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Cost, latency and availability architecture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target_p95_ms: 300
min_replicas: 2
max_replicas: 20
cache_ttl_s: 900
regional_failover: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1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Cost, latency and availability architecture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Capacity headroom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headroom = 1 - peak_qps/max_qps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1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Cost, latency and availability architecture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Tail 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cold starts or saturation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min replicas and load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High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oversized accelerator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profile and right-size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Regional outage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single region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tested fallback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1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Cost, latency and availability architecture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74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load-test curve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cost estimate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quota check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failover test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1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Cost, latency and availability architecture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recommendation API sees 10x campaign bursts and must sustain 99.9% monthly availability.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autoscaled online serving with minimum warm capacity, cached features and tested regional fallback.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1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02 evidence — Draft an ML Architecture Decision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Convert business volume, latency, security and explainability needs into a service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architecture_decision.py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expected_decision.json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828800"/>
            <a:ext cx="960120" cy="96012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28431" y="2852928"/>
            <a:ext cx="960120" cy="9601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50224" y="1828800"/>
            <a:ext cx="960120" cy="96012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72016" y="2852928"/>
            <a:ext cx="960120" cy="96012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93808" y="1828800"/>
            <a:ext cx="960120" cy="9601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051560"/>
            <a:ext cx="201168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2011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DOMAIN 2 · ~16%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61264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2F"/>
                </a:solidFill>
                <a:latin typeface="Aptos Display"/>
              </a:rPr>
              <a:t>Collaborating to manage data and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291840"/>
            <a:ext cx="5943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05E6F"/>
                </a:solidFill>
                <a:latin typeface="Aptos"/>
              </a:rPr>
              <a:t>Topics 1, 3 and 5: big data, data quality, 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84632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897B"/>
                </a:solidFill>
                <a:latin typeface="Aptos"/>
              </a:rPr>
              <a:t>8 technical mechanisms · 64 anchored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organization by modality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4518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451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9308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3900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051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051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628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Landing zone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04841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9433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Curated tables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0374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4966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111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11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4694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Feature views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907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80499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6649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6649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0227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Training snapshots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sources to training snapshots through versioned artifacts.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organization by modality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BigQuery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structured analytics and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Cloud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large unstructured objects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BigLake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governed access across lakes and warehouses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organization by modality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gsutil -m cp data/images/*.jpg gs://$BUCKET/raw/images/
bq load --autodetect --source_format=CSV ml.customers gs://$BUCKET/raw/customers.csv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organization by modality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Freshness 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lag = ingestion_time - event_time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organization by modality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Schema drift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producer changed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contract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Duplicate entities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weak keys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deduplicate by event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Training skew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mutable source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snapshot and version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organization by modality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83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bucket layout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table schema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partition stats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snapshot timestamp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lineage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organization by modality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multimodal claims model uses PDFs, images and tabular policy history from three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Land objects in Cloud Storage, curated entities in BigQuery, and bind a point-in-time training manifest.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06 evidence — Build a Data Quality and Feature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Validate schema, repair missing values, encode features and preserve a training manifest.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transactions.csv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build_features.py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feature_schema.json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Preprocessing tool selection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Volume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Transform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Latency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State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Runner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volume to output through versioned artifacts.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Preprocessing tool selection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pandas/sklearn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fits memory and iteration speed matters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Dataflow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managed Beam batch/stream pipelines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Spark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existing distributed Spark 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Preprocessing tool selection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with beam.Pipeline(options=opts) as p:
  rows = p | beam.io.ReadFromText(uri)
  clean = rows | beam.Map(validate_and_transform)
  clean | beam.io.WriteToBigQuery(table)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Preprocessing tool selection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89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Throughput vs workers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records_per_s = processed / elapsed_s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Preprocessing tool selection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in-memory transform too large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distributed runner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Late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watermark misconfigured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event-time windows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Hot key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skewed grouping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fan-out or rekey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Preprocessing tool selection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91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 profile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runner graph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worker metrics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dead-letter table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reconciliation 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Preprocessing tool selection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2 TB daily feed joins clickstream windows and must finish before a 06:00 training job.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Dataflow batch with autoscaling, dead-letter handling and a measured completion SLO.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06 evidence — Build a Data Quality and Feature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Validate schema, repair missing values, encode features and preserve a training manifest.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transactions.csv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build_features.py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feature_schema.json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engineering and selection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04518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451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Raw columns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9308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63900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0051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051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628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Transforms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04841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9433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5584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9161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Candidate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0374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4966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111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11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4694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Selection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907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80499" y="1993392"/>
            <a:ext cx="2040940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6649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6649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0227" y="3063240"/>
            <a:ext cx="182148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Validated 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raw columns to validated matrix through versioned artifacts.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engineering and selection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linear and distance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Vocabulary/embedding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high-cardinality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Cross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known interaction with bounded cardinality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engineering and selection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preprocess = ColumnTransformer([
 ('num', StandardScaler(), numeric),
 ('cat', OneHotEncoder(handle_unknown='ignore'), categorical)])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engineering and selection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Validation AUC by feature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lift = AUC_candidate - AUC_baseline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engineering and selection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Leakage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future value encoded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time-aware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Cardinality blow-up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unbounded categories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hash or vocabulary cap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Train/serve mismatch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duplicate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shared transform artifact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engineering and selection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99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feature definitions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fit statistics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selection report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schema signature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unit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engineering and selection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fraud model sees merchant IDs never observed during training and drifts by region.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unknown-safe categorical encoding, region slices and versioned preprocessing artifacts.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06 evidence — Build a Data Quality and Feature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Validate schema, repair missing values, encode features and preserve a training manifest.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transactions.csv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build_features.py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feature_schema.json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Store architecture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Batch 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Feature pipeline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Offline store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Online store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Entity lookup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batch sources to model through versioned artifacts.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Store architecture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Offline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training and batch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Online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low-latency current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Embedding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nearest-neighbor 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Store architecture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entity_id: customer_id
feature_view: customer_realtime
features: [txn_count_1h, spend_7d, risk_score]
online_ttl: 3600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Store architecture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Online feature freshness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freshness = now - feature_timestamp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Store architecture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Stale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pipeline 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freshness 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Wrong 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key mismatch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contract and lookup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Point-in-time leak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latest-value join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as-of join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Store architecture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107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feature registry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entity schema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materialization job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freshness dashboard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point-in-time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Feature Store architecture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real-time fraud endpoint needs 50 ms feature lookups and reproducible historical training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online and offline feature paths with one definition and explicit point-in-time correctness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11 evidence — Verify Feature Store Point-in-Time Parity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Model offline/online feature definitions and detect stale or leaked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offline_features.csv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online_features.csv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check_parity.py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feature_view.yaml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Privacy and sensitive-data controls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Discover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Classify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Minimize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Protect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Authorize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discover to audit through versioned artifacts.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Privacy and sensitive-data controls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DLP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discover PII at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Tokenization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retain joins without clear identifiers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Aggregation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reduce re-identification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Privacy and sensitive-data controls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gcloud dlp jobs create inspect pii-scan --location=global \
+  --storage-config-file=storage.json --inspect-config-file=inspect.json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Privacy and sensitive-data controls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PII exposure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exposure = unprotected_sensitive_fields / sensitive_fields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Privacy and sensitive-data controls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Open bucket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inherited broad 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least privilege and policy scan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PII in notebook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local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managed storage and VPC controls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Log leakage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payload logging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redact before logging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Privacy and sensitive-data controls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115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DLP findings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classification tags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IAM policy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encryption key record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audit log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Privacy and sensitive-data controls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healthcare team shares a training dataset across projects while patient identifiers must not leave a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De-identify, tokenize approved join keys, restrict perimeters and verify access in audit logs.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01 evidence — Create a Safe Google Cloud Training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a Google account, Cloud project, billing budget, IAM boundary and Cloud Shell workspace.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budget-policy.json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check_environment.sh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iam-role-matrix.csv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Secure Workbench and Colab Enterprise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Network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Runtime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Repository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Artifact store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Shutdown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identity to shutdown through versioned artifacts.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Secure Workbench and Colab Enterprise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Workbench managed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integrated Vertex AI and controlled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Colab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managed collaborative notebooks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Local notebook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only for non-sensitive lightweight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Secure Workbench and Colab Enterprise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disable_public_ip: true
service_account: ml-dev@$PROJECT.iam.gserviceaccount.com
idle_shutdown_minutes: 60
repository: approved-ml-repo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Secure Workbench and Colab Enterprise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Idle compute waste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waste = idle_instance_hours / total_instance_hours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Secure Workbench and Colab Enterprise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Credential sprawl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user keys in cells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service account and ADC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Data exfiltration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public egress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private IP and perimeter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Cost leak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notebook left 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idle shutdown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Secure Workbench and Colab Enterprise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123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runtime configuration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IAM binding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network route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repository commit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shutdown 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Secure Workbench and Colab Enterprise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regulated analytics team needs collaborative GPUs without public IPs or downloaded service-account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managed notebooks with private networking, attached least-privilege identity and idle shutdown.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01 evidence — Create a Safe Google Cloud Training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a Google account, Cloud project, billing budget, IAM boundary and Cloud Shell workspace.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budget-policy.json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check_environment.sh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iam-role-matrix.csv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Experiment tracking and lineage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 config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Dataset version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Training job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Metrics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Artifact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Registry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run config to registry through versioned artifacts.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Experiment tracking and lineage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Vertex AI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managed run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ML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pipeline lineage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Git + manifest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code and configuration 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Experiment tracking and lineage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run.log_params({'lr':0.001,'batch_size':128,'data_uri':DATA_URI})
run.log_metrics({'val_auc':0.842,'val_loss':0.391})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Experiment tracking and lineage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129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Validation AUC by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best = argmax(metric subject to fairness and latency gates)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Experiment tracking and lineage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Unrepeatable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missing dataset 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immutable URI and manifest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Metric cherry-pick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primary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pre-register gates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Artifact orphan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manual upload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pipeline metadata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Experiment tracking and lineage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131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commit SHA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dataset URI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parameter set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metrics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 artifact checksum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Experiment tracking and lineage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Two teams report different best models because they trained on mutable tables and recorded only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Bind runs to immutable data and code, predefine metrics, and compare through one experiment tracker.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09 evidence — Analyze Vertex AI Hyperparameter Trials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Define a Vizier-style search space and select a trial using quality and cost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trials.csv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tuning_config.yaml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select_trial.py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Predictive and gen AI evaluation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 rubric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Gold set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Automated metrics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Slice review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Human review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Release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task rubric to release gate through versioned artifacts.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Predictive and gen AI evaluation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Classification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labeled predictive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LLM-as-judge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scaled rubric scoring with calibration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Human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high-stakes nuance and preference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2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Predictive and gen AI evaluation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rubric = {'groundedness':0.35,'correctness':0.35,'safety':0.20,'style':0.10}
release_if = 'score&gt;=0.82 and safety_violations==0'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2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Predictive and gen AI evaluation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Evaluation 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agreement = matching_ratings / reviewed_items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2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Predictive and gen AI evaluation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Judge bias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uncalibrated model judge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human calibration sample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Contamination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eval in tuning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holdout governance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Aggregate masking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slices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report by task and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2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Predictive and gen AI evaluation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139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rubric version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gold-set manifest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metric results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reviewer adjudication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release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2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Predictive and gen AI evaluation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gen-AI summarizer improves ROUGE but starts omitting critical contraindications in one document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risk-weighted rubric, document-type slices and human adjudication; block release on critical omissions.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2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stributed-training-accelerators-v8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051560"/>
            <a:ext cx="201168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2011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DOMAIN 3 · ~21%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8006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2F"/>
                </a:solidFill>
                <a:latin typeface="Aptos Display"/>
              </a:rPr>
              <a:t>Scaling prototypes into ML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291840"/>
            <a:ext cx="47091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05E6F"/>
                </a:solidFill>
                <a:latin typeface="Aptos"/>
              </a:rPr>
              <a:t>Topics 4–6: TensorFlow, feature engineering, enterprise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84632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897B"/>
                </a:solidFill>
                <a:latin typeface="Aptos"/>
              </a:rPr>
              <a:t>8 technical mechanisms · 64 anchored slides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type and product decision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Constraints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Candidate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task to decision through versioned artifacts.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type and product decision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ARIMA_PLUS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interpretable time-series 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large nonlinear supervised task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language generation or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type and product decision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decision = {'task':'forecast','horizon_days':30,'need_intervals':True,
            'product':'BigQuery ML ARIMA_PLUS'}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type and product decision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Decision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utility = quality - cost_penalty - latency_penalty - risk_penalty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type and product decision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Over-complex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baseline omitted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establish simple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Wrong 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business loss ignored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map metric to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Unclear ownership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product mismatch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operating-model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type and product decision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148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requirements matrix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baseline 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candidate benchmark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risk review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architecture decision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type and product decision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planner needs 30-day demand intervals from structured history and must explain seasonality.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Choose ARIMA_PLUS in BigQuery ML before a DNN; validate interval coverage and holiday effects.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02 evidence — Draft an ML Architecture Decision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Convert business volume, latency, security and explainability needs into a service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architecture_decision.py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expected_decision.json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 data ingestion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Source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Validation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Shard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Cache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Worker pool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source to checkpoint through versioned artifacts.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 data ingestion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Cloud Storage shards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images, text and TFRecord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BigQuery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warehouse-managed tabular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Streaming ingest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continuous examples with later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 data ingestion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gcloud storage cp gs://$BUCKET/manifests/train-*.jsonl ./manifests/
python validate_manifest.py --schema schema.json --input manifests/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 data ingestion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Input pipeline utilization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utilization = data_wait_free_step_time / total_step_time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 data ingestion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Workers starve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tiny unshuffled 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shard and parallel-read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Corrupt examples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fail-fast schema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Nonrepeatable split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random at runtime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persist split manifest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 data ingestion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156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manifest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schema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shard counts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input throughput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checkpoint URI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 data ingestion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vision job uses 12 million images and GPUs idle while workers open millions of tiny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Create balanced shards, parallel reads and prefetch; measure accelerator utilization and input wait.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10 evidence — Plan Distributed PyTorch GPU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Configure torchrun-style workers, checkpoints and scaling-efficiency diagnostics.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train_distributed.py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worker_pool.yaml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scaling_results.csv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TensorFlow and Keras training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tf.data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Preprocess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Keras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SavedModel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tf.data to savedmodel through versioned artifacts.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TensorFlow and Keras training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Sequential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single-input linear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Functional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multi-input or branching 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Subclassing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custom behavior requiring code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TensorFlow and Keras training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ds = tf.data.Dataset.from_tensor_slices((X,y)).shuffle(10000).batch(128).prefetch(tf.data.AUTOTUNE)
model.fit(ds, epochs=20, callbacks=[early_stop])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TensorFlow and Keras training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Validation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stop when val_loss fails to improve for patience 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TensorFlow and Keras training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Overfit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training continues after val plateau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early stopping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Slow input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prefetch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AUTOTUNE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Serving failure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custom op missing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export and load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TensorFlow and Keras training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164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 summary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training history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validation metrics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SavedModel signature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reload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TensorFlow and Keras training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tabular neural network improves training loss but validation loss rises after epoch 12.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early stopping and regularization, then verify the exported signature with held-out examples.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07 evidence — Train a TensorFlow/Keras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Use tf.data, a Keras network, early stopping and SavedModel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train_tensorflow.py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expected_history.csv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custom training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Package/container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Artifact Registry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CustomJob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Worker pool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GCS output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 Registry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package/container to model registry through versioned artifacts.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custom training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Prebuilt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supported framework and conventional entry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Custom 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system packages or custom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Custom training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Python package on managed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custom training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gcloud ai custom-jobs create --region=$REGION --display-name=churn-train \
+ --config=config/custom_job.yaml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custom training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Training cost per successful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cost_success = total_job_cost / successful_jobs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custom training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Module not found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package omitted 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lock and build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Permission denied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training SA lacks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least-privilege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No artifact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wrong AIP_MODEL_DIR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write to managed output URI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custom training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172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image digest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custom job spec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service account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Cloud Logging trace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artifact checksum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custom training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sklearn pipeline requires a native library unavailable in Vertex prebuilt images.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a custom container pinned by digest and test it locally before CustomJob submission.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08 evidence — Package a Vertex AI Custom Training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Build a reproducible training package and container with managed output paths.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train.py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custom_job.yaml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Hyperparameter tuning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Search space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Trials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Objective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Early stop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Best trial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Retrain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search space to retrain through versioned artifacts.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Hyperparameter tuning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small discrete exhaustive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broad mixed 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Bayesian/Vizier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expensive trials with guided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Hyperparameter tuning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metric_spec: {val_auc: maximize}
parameters:
- {parameterId: learning_rate, doubleValueSpec: {minValue: 0.0001, maxValue: 0.1, scaleType: UNIT_LOG_SCALE}}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Hyperparameter tuning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Best objective by 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best_n = max(metric_1...metric_n)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Hyperparameter tuning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Wrong objective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 name mismatch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emit exact metric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Budget waste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poor trials run fully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early stopping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Overfit to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too many searches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final untouched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Hyperparameter tuning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180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search-space spec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trial logs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objective series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best parameters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test-set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Hyperparameter tuning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DNN training run costs $80; the team needs learning rate, depth and dropout optimization.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Vizier/Bayesian search with log-scaled learning rate, early stopping and an untouched final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09 evidence — Analyze Vertex AI Hyperparameter Trials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Define a Vizier-style search space and select a trial using quality and cost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trials.csv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tuning_config.yaml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select_trial.py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Foundation model fine-tuning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 fit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 curation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Adapter/tune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Safety eval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Quality eval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task fit to deploy through versioned artifacts.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Foundation model fine-tuning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Prompt/RAG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knowledge or instruction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Adapter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task style with modest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Full fine-tune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rarely justified; high control and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Foundation model fine-tuning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train.jsonl: {'input_text':'...','output_text':'...'}
validation.jsonl: {'input_text':'...','output_text':'...'}
max_duplicate_rate: 0.01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Foundation model fine-tuning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Quality vs training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gain = tuned_score - base_score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Foundation model fine-tuning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Catastrophic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poor examples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curate and safety-gate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No factual freshness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tuning used for knowledge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use retrieval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Sensitive memorization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PII in examples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DLP and dedup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Foundation model fine-tuning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188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 approval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base/tuned eval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safety red-team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training lineage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deployment rollback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Foundation model fine-tuning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service needs consistent structured incident summaries but incident facts change every minute.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Tune structure/style only; retrieve live facts and block memorization-prone sensitive examples.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CPU, GPU and TPU selection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Profile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Memory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Throughput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profile to cost through versioned artifacts.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CPU, GPU and TPU selection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small classical models and irregular control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broad deep-learning ecosystem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TPU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large TensorFlow/JAX workloads optimized for matrix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CPU, GPU and TPU selection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acceleratorType: NVIDIA_TESLA_T4
acceleratorCount: 2
machineSpec: {machineType: n1-standard-16}
replicaCount: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CPU, GPU and TPU selection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Examples per dollar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efficiency = examples_per_second / hourly_cost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CPU, GPU and TPU selection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batch/model exceeds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gradient accumulation or larger device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Low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 bottleneck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profile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Quota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accelerator unavailable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reserve quota or alternate region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CPU, GPU and TPU selection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196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profiler trace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memory peak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throughput test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quota record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cost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CPU, GPU and TPU selection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transformer fits on one GPU but throughput misses the nightly window by 3x.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Profile first; compare larger GPU and data-parallel options by examples per dollar and deadline.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10 evidence — Plan Distributed PyTorch GPU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Configure torchrun-style workers, checkpoints and scaling-efficiency diagnostics.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train_distributed.py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worker_pool.yaml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scaling_results.csv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Distributed training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199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Sharded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Workers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All-reduce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Optimizer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Checkpoint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sharded data to restart through versioned artifacts.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Distributed training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Data 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replicate model; split batches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Model parallel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split model too large for one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Parameter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asynchronous large-scale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3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Distributed training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python -m torch.distributed.run --nproc_per_node=4 train.py \
+  --backend nccl --checkpoint_uri gs://$BUCKET/checkpoints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3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Distributed training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Scaling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efficiency = speedup / worker_count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Distributed training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Hang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rank/network mismatch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validate rendezvous and 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Divergence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effective batch changed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scale learning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Lost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frequent checkpoint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checkpoint to durable GCS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3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Distributed training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204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worker-pool spec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rank logs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throughput curve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checkpoint list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restart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3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Distributed training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An ImageNet job must scale from 1 to 8 GPUs and survive preemptible worker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torchrun data parallelism, durable checkpoints and measure scaling efficiency before adding workers.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3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10 evidence — Plan Distributed PyTorch GPU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Configure torchrun-style workers, checkpoints and scaling-efficiency diagnostics.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train_distributed.py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worker_pool.yaml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scaling_results.csv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828800"/>
            <a:ext cx="960120" cy="96012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28431" y="2852928"/>
            <a:ext cx="960120" cy="96012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50224" y="1828800"/>
            <a:ext cx="960120" cy="9601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72016" y="2852928"/>
            <a:ext cx="960120" cy="9601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93808" y="1828800"/>
            <a:ext cx="960120" cy="96012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051560"/>
            <a:ext cx="2011680" cy="347472"/>
          </a:xfrm>
          <a:prstGeom prst="round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2011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DOMAIN 4 · ~20%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61264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2F"/>
                </a:solidFill>
                <a:latin typeface="Aptos Display"/>
              </a:rPr>
              <a:t>Serving and scaling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291840"/>
            <a:ext cx="5943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05E6F"/>
                </a:solidFill>
                <a:latin typeface="Aptos"/>
              </a:rPr>
              <a:t>Topics 6–7: batch/online prediction, production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84632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897B"/>
                </a:solidFill>
                <a:latin typeface="Aptos"/>
              </a:rPr>
              <a:t>8 technical mechanisms · 64 anchored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Batch versus online inference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Input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Preprocess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Postprocess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Sink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input contract to sla through versioned artifacts.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Batch versus online inference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Batch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asynchronous high-volume jobs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Online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interactive low-latency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Streaming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continuous events with bounded delay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Batch versus online inference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gcloud ai batch-prediction-jobs create --region=$REGION --model=$MODEL_ID \
+ --jsonl-request=gcsSource.uris=gs://$BUCKET/requests.jsonl \
+ --jsonl-output=gcsDestination.outputUriPrefix=gs://$BUCKET/predictions/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Batch versus online inference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Cost per 1,000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cost_1k = total_serving_cost / predictions * 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Batch versus online inference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Timeout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online used for huge payload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batch job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Stale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batch schedule late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freshness SLO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Duplicate 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retries not idempotent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request IDs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Batch versus online inference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213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request schema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job 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input/output counts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latency distribution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cost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Batch versus online inference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Marketing needs 50 million nightly scores; the UI needs only the latest stored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batch prediction to a governed table; serve the stored score rather than 50 million online calls.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12 evidence — Register and Canary a Model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registry metadata, traffic split, guardrails and rollback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model_manifest.json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deployment.yaml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canary_metrics.csv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evaluate_canary.py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Prebuilt and custom serving containers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Artifact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Container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Health route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Predict route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Endpoint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Probe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artifact to probe through versioned artifacts.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Prebuilt and custom serving containers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Prebuilt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supported framework and signature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Custom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custom dependencies or server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Cloud Run container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portable stateless HTTP serving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Prebuilt and custom serving containers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FROM python:3.11-slim
COPY requirements.txt .
RUN pip install --no-cache-dir -r requirements.txt
COPY app.py model.joblib ./
CMD ["gunicorn","-b",":8080","app:app"]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Prebuilt and custom serving containers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219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Container startup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startup = ready_timestamp - instance_start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Prebuilt and custom serving containers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CrashLoop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bad command or missing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local container smoke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Unhealthy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wrong probe path/port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implement health route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ABI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runtime mismatch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pin base image and wheels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Prebuilt and custom serving containers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221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Dockerfile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image digest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SBOM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health response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prediction contract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Prebuilt and custom serving containers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An XGBoost model requires custom preprocessing and a native package not in prebuilt serving images.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Build a minimal custom image, pin the digest, generate an SBOM and probe health/predict routes.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13 evidence — Serve a Model on Cloud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Package a Flask prediction API, test its contract and analyze load-test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app.py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requirements.txt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test_api.py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Registry and versioning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Register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Alias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Deploy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Retire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train to retire through versioned artifacts.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Registry and versioning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immutable model artifact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Alias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movable label such as champion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Lineage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data/code/run relation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Registry and versioning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model_labels = {'git_sha':GIT_SHA,'data_version':DATA_VER,'owner':'risk-ml'}
model_alias = 'candidate'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Registry and versioning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Rollback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MTTR = restore_time - incident_start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Registry and versioning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Unknown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manual file copied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registry-only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Wrong alias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unreviewed promotion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approval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No rollback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old version deleted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retain validated prior version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Registry and versioning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229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registry version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labels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evaluation report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promotion approval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rollback drill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Model Registry and versioning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model release must be traceable to code and data, and rollback must finish within 15 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Register immutable versions with lineage labels; promote aliases only after gates and drill rollback.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12 evidence — Register and Canary a Model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registry metadata, traffic split, guardrails and rollback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model_manifest.json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deployment.yaml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canary_metrics.csv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evaluate_canary.py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Canary and A/B rollout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Candidate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Traffic split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Guardrails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Decision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Promote/Rollback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baseline to promote/rollback through versioned artifacts.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Canary and A/B rollout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risk-limited technical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A/B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compare user/business 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Shadow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observe candidate without affecting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Canary and A/B rollout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trafficSplit:
  deployedModels:
    champion: 90
    candidate: 10
rollback_if: 'p95_ms &gt; 300 or error_rate &gt; 0.01'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Canary and A/B rollout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Canary error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error_rate = failed_requests / total_requests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Canary and A/B rollout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Biased sample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non-random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stable random assignment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Slow rollback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manual process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automated guardrail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Metric dilution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aggregate traffic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per-version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Canary and A/B rollout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237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traffic config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version-tagged logs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guardrail dashboard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decision record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rollback 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Canary and A/B rollout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new ranking model improves offline NDCG but has unknown tail latency at peak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Start with shadow then 10% canary; gate on version-specific latency, errors and business metric.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12 evidence — Register and Canary a Model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registry metadata, traffic split, guardrails and rollback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model_manifest.json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deployment.yaml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canary_metrics.csv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evaluate_canary.py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Inference preprocessing and postprocessing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Validate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Transform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Predict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Calibrate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Business rule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validate request to response through versioned artifacts.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Inference preprocessing and postprocessing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In-container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tight coupling and low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Pipeline 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shared batch/online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Feature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central online feature 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Inference preprocessing and postprocessing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assert request['schema_version']=='3'
x = transformer.transform([request['features']])
p = calibrator.predict_proba(x)[0,1]
return {'risk':float(p),'model_version':VERSION}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Inference preprocessing and postprocessing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Training-serving skew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skew = distance(train_feature, serving_feature)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Inference preprocessing and postprocessing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Shape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schema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versioned contract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Probability drift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calibrator omitted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bundle postprocessor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Silent default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missing feature filled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reject or explicit missingness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Inference preprocessing and postprocessing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245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JSON schema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transform checksum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golden request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prediction diff test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response 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Inference preprocessing and postprocessing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The same raw input scores 0.22 offline and 0.71 online after a preprocessing refactor.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Compare transformation artifacts and golden requests; deploy preprocessing with the model 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13 evidence — Serve a Model on Cloud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Package a Flask prediction API, test its contract and analyze load-test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app.py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requirements.txt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test_api.py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Public and private endpoints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Client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Identity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Network path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Endpoint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client to audit through versioned artifacts.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Public and private endpoints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Public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internet path with IAM/auth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Private Service 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private VPC consumption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Cloud Run ingress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service-to-service serverless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Public and private endpoints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ingress: internal
authentication: iam
psc_network: projects/$PROJECT/global/networks/ml-vpc
log_requests: metadata_only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Public and private endpoints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Unauthorized request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denied / total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Public and private endpoints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403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caller identity lacks invoke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grant narrow invoker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No route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PSC/DNS misconfigured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validate endpoint and DNS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Data leak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payload logs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metadata-only logging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Public and private endpoints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253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network diagram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IAM policy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DNS resolution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connectivity test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audit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Public and private endpoints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bank model endpoint must be reachable from two VPCs and never expose public ingress.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private connectivity, service identities and end-to-end connectivity plus audit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12 evidence — Register and Canary a Model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registry metadata, traffic split, guardrails and rollback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model_manifest.json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deployment.yaml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canary_metrics.csv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evaluate_canary.py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Autoscaling and serving hardware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Load test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Concurrency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Replica floor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Scale signal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Accelerator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load test to slo through versioned artifacts.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Autoscaling and serving hardware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CPU autoscale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lightweight model and variable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GPU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high-throughput deep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connectivity or privacy requires local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Autoscaling and serving hardware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minReplicaCount: 2
maxReplicaCount: 12
targetCpuUtilization: 60
acceleratorType: NVIDIA_TESLA_T4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Autoscaling and serving hardware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259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p95 latency by QPS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p95 = percentile(latency_ms,95)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Autoscaling and serving hardware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Cold-start spike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scale from zero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warm floor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Queue growth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concurrency too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capacity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GPU idle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small batches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dynamic batching or CPU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Autoscaling and serving hardware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261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load script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QPS/latency curve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replica timeline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utilization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capacity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Autoscaling and serving hardware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vision API must handle 5–80 QPS with p95 below 300 ms and control GPU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Benchmark CPU/GPU, set a warm floor and autoscale from measured saturation—not guesses.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13 evidence — Serve a Model on Cloud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Package a Flask prediction API, test its contract and analyze load-test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app.py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requirements.txt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test_api.py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Run and GKE serving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Image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Registry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Runtime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Service/Deployment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Autoscale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Observe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image to observe through versioned artifacts.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Run and GKE serving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Cloud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stateless HTTP, rapid ops, bursty 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GKE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custom networking, sidecars, accelerators or orchestration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Vertex 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managed ML deployment and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4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Run and GKE serving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gcloud run deploy churn-api --image=$IMAGE --region=$REGION \
+ --no-allow-unauthenticated --min=1 --max=20 --cpu=2 --memory=2Gi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4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Run and GKE serving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Request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latency = response_time - request_time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4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Run and GKE serving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Revision not 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port or startup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read revision 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OOM kill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memory limit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profile and right-size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5xx burst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downstream saturation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timeouts and circuit breaker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4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Run and GKE serving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269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image digest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deployment YAML/command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revision 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load-test output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logs and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4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Run and GKE serving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scikit-learn API is stateless and bursty; a future GPU version may need custom scheduling.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Deploy CPU baseline to Cloud Run; use GKE only when its control requirements become real.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4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13 evidence — Serve a Model on Cloud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Package a Flask prediction API, test its contract and analyze load-test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app.py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Dockerfile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requirements.txt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test_api.py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828800"/>
            <a:ext cx="960120" cy="96012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28431" y="2852928"/>
            <a:ext cx="960120" cy="9601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50224" y="1828800"/>
            <a:ext cx="960120" cy="9601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72016" y="2852928"/>
            <a:ext cx="960120" cy="96012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93808" y="1828800"/>
            <a:ext cx="960120" cy="9601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051560"/>
            <a:ext cx="2011680" cy="347472"/>
          </a:xfrm>
          <a:prstGeom prst="round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2011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DOMAIN 5 · ~18%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61264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2F"/>
                </a:solidFill>
                <a:latin typeface="Aptos Display"/>
              </a:rPr>
              <a:t>Automating and orchestrating ML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291840"/>
            <a:ext cx="5943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05E6F"/>
                </a:solidFill>
                <a:latin typeface="Aptos"/>
              </a:rPr>
              <a:t>Topic 8: MLOps, CI/CD and repeatable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84632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897B"/>
                </a:solidFill>
                <a:latin typeface="Aptos"/>
              </a:rPr>
              <a:t>8 technical mechanisms · 64 anchored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component contracts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Ingest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Transform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Deploy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ingest to deploy gate through versioned artifacts.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component contracts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Artifact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versioned file/model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Parameter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small configuration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numeric gate and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component contracts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@component
def evaluate(model: Input[Model], metrics: Output[Metrics]):
    score = run_eval(model.path)
    metrics.log_metric('auc', score)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component contracts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Pipeline pass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passes / scheduled_runs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component contracts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Hidden dependency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component reads global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declare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Cache poison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mutable URI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immutable artifact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Wrong deploy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gate not wired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explicit conditional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component contracts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278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component spec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input/output schema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compiled pipeline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artifact URI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gate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component contracts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pipeline retrains successfully but deploys a model evaluated on the previous run's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Make data/model/metrics explicit artifacts and wire deployment to the current evaluation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14 evidence — Compile a Vertex AI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Connect validate, transform, train, evaluate and conditional deployment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pipeline_spec.json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component_contracts.yaml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Pipelines and Kubeflow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Python DSL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Compile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Submit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Metadata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Cache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Schedule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python dsl to schedule through versioned artifacts.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Pipelines and Kubeflow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Vertex AI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managed KFP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Kubeflow on GKE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cluster-level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Local runner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component unit testing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Pipelines and Kubeflow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compiler.Compiler().compile(pipeline_func=training_pipeline, package_path='pipeline.json')
aiplatform.PipelineJob(display_name='churn', template_path='pipeline.json').run()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Pipelines and Kubeflow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Cached step savings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saved = uncached_duration - cached_duration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Pipelines and Kubeflow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Compile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type mismatch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typed component contracts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Permission failure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pipeline SA incomplete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role matrix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Unexpected cache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unchanged but code changed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version component/image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Pipelines and Kubeflow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286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pipeline 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service account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 graph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metadata lineage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schedule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Vertex AI Pipelines and Kubeflow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weekly training pipeline must be reproducible, inspectable and rerun only changed components.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Vertex AI Pipelines with versioned components, managed metadata and deliberate caching.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14 evidence — Compile a Vertex AI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Connect validate, transform, train, evaluate and conditional deployment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pipeline_spec.json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component_contracts.yaml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Composer and Airflow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Sensors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 job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ML pipeline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Notification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dag to notification through versioned artifacts.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Composer and Airflow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Composer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cross-service scheduling and dependencies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Vertex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simple pipeline cadence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Cloud Scheduler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single HTTP/event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Composer and Airflow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with DAG('weekly_ml', schedule='0 2 * * 1', catchup=False) as dag:
    wait_data &gt;&gt; launch_dataflow &gt;&gt; run_vertex_pipeline &gt;&gt; verify_slo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Composer and Airflow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DAG SLA misses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miss_rate = missed_runs / scheduled_runs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Composer and Airflow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Backfill storm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catchup enabled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set catchup deliberately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Stuck sensor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polling resource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deferrable sensor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Duplicate run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non-idempotent task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run IDs and idempotency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Composer and Airflow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294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DAG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 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 logs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SLA miss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notification ticket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Cloud Composer and Airflow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Training waits for three upstream data products and must notify owners when the freshness SLA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Composer for cross-team dependencies; keep ML logic inside the versioned Vertex pipeline.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14 evidence — Compile a Vertex AI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Connect validate, transform, train, evaluate and conditional deployment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pipeline_spec.json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component_contracts.yaml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Ray on Vertex AI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Driver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Cluster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Tasks/actors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Object store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Autoscale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driver to result through versioned artifacts.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Ray on Vertex AI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distributed Python workloads and tuning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Dataflow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Beam data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CustomJob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bounded training job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Ray on Vertex AI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299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@ray.remote
def score_shard(uri):
    return score(load(uri))
results = ray.get([score_shard.remote(u) for u in shard_uris])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Ray on Vertex AI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Distributed task throughput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throughput = completed_tasks / minute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Ray on Vertex AI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Object-store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large returned objects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write artifacts externally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Task retries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non-idempotent side effect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idempotent tasks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Cluster idle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teardown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job-scoped cluster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Ray on Vertex AI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302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cluster spec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Ray job 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 timeline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object-store metrics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result manifest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Ray on Vertex AI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Python-native embedding job fans out 20,000 independent shards and aggregates a manifest.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Ray tasks with external artifact writes, idempotent retries and explicit cluster teardown.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14 evidence — Compile a Vertex AI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Connect validate, transform, train, evaluate and conditional deployment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pipeline_spec.json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component_contracts.yaml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Training-serving preprocessing parity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Source schema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Transform graph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Export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Serving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Golden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source schema to golden test through versioned artifacts.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Training-serving preprocessing parity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tf.Transform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TensorFlow preprocessing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Sklearn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classical Python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Feature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central shared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Training-serving preprocessing parity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expected = offline_pipeline.transform(golden)
actual = requests.post(endpoint, json=golden).json()['features']
np.testing.assert_allclose(actual, expected, rtol=1e-6)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Training-serving preprocessing parity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Golden feature max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max_abs(actual-expected)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Training-serving preprocessing parity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Skew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two transform implementations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one exported graph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Schema mismatch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independent contracts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versioned 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Silent rounding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different dtypes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assert tolerances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Training-serving preprocessing parity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310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transform artifact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schema version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golden input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offline/online diff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test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Training-serving preprocessing parity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category vocabulary updates in training, but the online service keeps last month's mapping.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Version and deploy the transformation with the model; block rollout on golden parity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11 evidence — Verify Feature Store Point-in-Time Parity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Model offline/online feature definitions and detect stale or leaked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offline_features.csv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online_features.csv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check_parity.py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feature_view.yaml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Retraining policy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Signal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Eligibility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Trigger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Train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Compare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Promote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signal to promote through versioned artifacts.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Retraining policy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stable cadence and predictable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Drift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distribution changes matter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Performance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labels arrive and business metric degrades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Retraining policy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trigger_if = {'psi_gt':0.2,'auc_drop_gt':0.03,'min_new_labels':10000}
cooldown_hours = 72
require_human_approval =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Retraining policy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AUC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drop = baseline_auc - current_auc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Retraining policy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Retrain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cooldown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minimum interval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Bad labels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freshness mistaken for quality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label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Auto-promote harm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single 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multi-gate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Retraining policy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318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trigger event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data-quality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candidate/champion comparison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approval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promotion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Retraining policy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Labels arrive weekly; data drift is common but only some drift reduces business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Trigger on performance with enough fresh labels; use drift as investigation, not automatic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CI/CD/CT with Cloud Build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Commit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Build image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Compile pipeline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Evaluate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Promote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commit to promote through versioned artifacts.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CI/CD/CT with Cloud Build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unit, contract and security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deploy validated artifacts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retrain from governed triggers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CI/CD/CT with Cloud Build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steps:
- name: python:3.11
  entrypoint: pytest
- name: gcr.io/cloud-builders/docker
  args: ['build','-t','$IMAGE','.']
images: ['$IMAGE']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CI/CD/CT with Cloud Build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Change failure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failed_deployments / deployments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CI/CD/CT with Cloud Build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Mutable latest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tag reused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deploy digest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Test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only code unit tests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data/model/contract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Privilege escalation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broad build 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least-privilege build identity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CI/CD/CT with Cloud Build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326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commit SHA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test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image digest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provenance/SBOM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deployment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CI/CD/CT with Cloud Build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training image passes local tests but production deploys a different dependency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Build once in Cloud Build, lock dependencies, attest the digest and deploy that exact artifact.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15 evidence — Design an ML CI/CD/CT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Cloud Build gates, artifact provenance and a model card release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cloudbuild.yaml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release_gate.py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model_card.md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governance and reproducibility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Template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Execution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Metadata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Review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policy to retention through versioned artifacts.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Pipeline governance and reproducibility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Org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prevent forbidden resource 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approved repeatable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Policy-as-code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automated configuration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5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governance and reproducibility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required_labels = ['owner','data_classification','model_risk']
forbidden = ['public_ip','default_service_account']
retention_days = 365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5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governance and reproducibility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Reproducible run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reproduced_within_tolerance / audited_runs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governance and reproducibility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Missing 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labels optional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admission 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Data unavailable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retention too short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align lineage retention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Environment 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manual runtime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versioned container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5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governance and reproducibility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334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policy result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template version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 metadata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artifact retention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audit replay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5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Pipeline governance and reproducibility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An auditor selects a six-month-old prediction and asks which code, data and model produced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Retain end-to-end lineage, immutable artifacts and policy evidence long enough for replay.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5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Activity 15 evidence — Design an ML CI/CD/CT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Create Cloud Build gates, artifact provenance and a model card release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cloudbuild.yaml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release_gate.py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model_card.md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-monitoring-observability-v8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051560"/>
            <a:ext cx="2011680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2011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DOMAIN 6 · ~13%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48006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2F"/>
                </a:solidFill>
                <a:latin typeface="Aptos Display"/>
              </a:rPr>
              <a:t>Monitoring AI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291840"/>
            <a:ext cx="47091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05E6F"/>
                </a:solidFill>
                <a:latin typeface="Aptos"/>
              </a:rPr>
              <a:t>Topics 6–8: testing, monitoring, troubleshooting and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84632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897B"/>
                </a:solidFill>
                <a:latin typeface="Aptos"/>
              </a:rPr>
              <a:t>8 technical mechanisms · 64 anchored slides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337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AI security and Model Armor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Detect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Sanitize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Model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Output filter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input to audit through versioned artifacts.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AI security and Model Armor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Regex/DLP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known sensitive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Safety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harm 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Model Armor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managed prompt/response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AI security and Model Armor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blocked_patterns = ['ignore previous instructions','BEGIN PRIVATE KEY']
scan_prompt = True
scan_response = True
log_payload = False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AI security and Model Armor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Attack success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successful_attacks / red_team_attempts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AI security and Model Armor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Indirect injection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retrieved document contains commands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treat context as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Exfiltration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model reveals secret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minimize context and output scan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Log exposure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payload retained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redaction and access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AI security and Model Armor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343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threat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red-team corpus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filter config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blocked event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incident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AI security and Model Armor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grounded assistant retrieves a document that instructs the model to reveal system prompts.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Separate instructions from untrusted context, scan inputs/outputs and test indirect injections.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AI and bias monitoring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Outcome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Protected slices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Threshold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Review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Mitigation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outcome to mitigation through versioned artifacts.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AI and bias monitoring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Demographic parity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selection rates where appropriate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Equal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true-positive rates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probabilities match outcomes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AI and bias monitoring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monitor_slices = ['region','age_band']
max_tpr_gap = 0.05
min_sample = 200
escalate_to = 'model-risk-committee'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AI and bias monitoring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349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True-positive-rate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max(TPR)-min(TPR)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AI and bias monitoring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Small slice noise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insufficient 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confidence bounds/min sample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Proxy feature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correlated attribute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causal/domain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Metric conflict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one fairness metric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risk-specific metric 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AI and bias monitoring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351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slice definition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metric with intervals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threshold policy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review minutes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mitigation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Responsible AI and bias monitoring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Approval rates are stable overall but qualified applicants in one region see falling true-positive 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Alert on slice TPR gap with sample safeguards and require model-risk review before threshold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Explainability and feature attribution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Prediction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Attributions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Global summary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Slice review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prediction to action through versioned artifacts.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Explainability and feature attribution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Local attribution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explain one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Global importance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aggregate model behavior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Counterfactual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what feasible change alters 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Explainability and feature attribution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explanation_spec = {'method':'sampled_shapley','sampled_shapley_attribution':{'path_count':20}}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Explainability and feature attribution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Attribution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distance(current_attributions, baseline_attributions)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Explainability and feature attribution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Causal claim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attribution mistaken for cause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state limitation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Unstable rank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correlated features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group and test stability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Sensitive proxy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unexpected importance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investigate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Explainability and feature attribution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359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explanation config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local plot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global ranking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slice comparison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review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Explainability and feature attribution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credit model keeps AUC, but postcode suddenly becomes the top feature after a data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Investigate attribution drift and proxy risk; do not accept stable accuracy as proof of safety.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drift, skew and concept drift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Current window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Statistic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Threshold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Diagnosis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baseline to response through versioned artifacts.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drift, skew and concept drift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Training-serving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training vs serving pipeline mismatch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Data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input distribution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Concept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relationship between input and outcome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drift, skew and concept drift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psi = sum((current_pct - base_pct) * log(current_pct/base_pct))
alert_if = 'psi &gt; 0.2 for 2 windows'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drift, skew and concept drift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Population stability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PSI = sum((A-E)*ln(A/E))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drift, skew and concept drift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False drift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seasonality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seasonal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Skew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transform version differs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parity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Concept 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stable but errors rise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label-based performance 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drift, skew and concept drift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367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baseline version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window definition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drift statistic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alert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diagnosis and 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Data drift, skew and concept drift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fraud feature distribution shifts every holiday, but loss rises only after a new payment channel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Use seasonal baselines; distinguish benign data drift from labeled concept drift before retraining.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Gen AI evaluation in production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Sample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Safety scan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Groundedness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Task quality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Human audit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sample to feedback through versioned artifacts.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Gen AI evaluation in production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Continuous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sample production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Synthetic red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probe rare attacks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Human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calibrate nuanced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Gen AI evaluation in production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sample_rate = 0.02
metrics = ['groundedness','instruction_following','safety']
critical_violation_budget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Gen AI evaluation in production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Grounded answer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grounded_answers / evaluated_answers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Gen AI evaluation in production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Privacy leak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raw prompts in eval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redact and restrict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Judge drift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judge model changed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version and calibrate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Silent regression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release 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champion comparison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Gen AI evaluation in production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375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sampling policy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redacted eval set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judge 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human agreement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incident linkage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Gen AI evaluation in production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A support assistant remains fluent but citations increasingly fail to support its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Continuously score groundedness, audit samples and block releases that regress against the champion.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SLOs, logs and alerts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User journey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Error budget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Alert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user journey to runbook through versioned artifacts.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SLOs, logs and alerts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successful valid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p95/p99 per request 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validated prediction or grounded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SLOs, logs and alerts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slo:
  availability: 0.999
  p95_latency_ms: 300
  quality_floor: 0.82
alert_on_burn_rate: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SLOs, logs and alerts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Error-budget burn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burn = observed_error_rate / allowed_error_rate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SLOs, logs and alerts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Alert storm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symptom alerts duplicate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burn-rate aggregation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No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logs lack 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structured version fields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Green infra/red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only CPU monitored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user-centric quality SLI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SLOs, logs and alerts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383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SLI query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SLO policy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version-tagged log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burn alert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runbook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SLOs, logs and alerts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Infrastructure is healthy, yet users receive stale predictions for six hours after a failed batch.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Add freshness and quality SLIs, not just infrastructure metrics; page on error-budget burn.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Incident troubleshooting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Detect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Triage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Contain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Diagnose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Recover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detect to learn through versioned artifacts.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Incident troubleshooting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new version caused 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capacity saturation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Disable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upstream corruption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Incident troubleshooting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incident_id: ML-2026-0912
model_version: candidate-17
start: 14:05Z
containment: rollback_to_champion
owner: ml-platform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Incident troubleshooting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389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Mean time to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MTTR = sum(recovery_duration)/incident_count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Incident troubleshooting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Slow triage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version 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structured 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Repeat issue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action owner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postmortem with due 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Evidence loss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ephemeral logs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central retention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Incident troubleshooting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391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timeline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impact estimate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version and data IDs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containment command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postmortem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Incident troubleshooting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p95 latency triples immediately after a new model version receives 20%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Compare per-version metrics, roll back the candidate, preserve traces, then reproduce under 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 and performance optimization — mechanism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0724" y="2304288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072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Measure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3017520"/>
            <a:ext cx="164592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96312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58668" y="2304288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8668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Attribute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3017520"/>
            <a:ext cx="164592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6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6612" y="2304288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6612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7608" y="3017520"/>
            <a:ext cx="164592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4556" y="2304288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Change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5552" y="3017520"/>
            <a:ext cx="164592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10144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2304288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500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Load test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" y="3017520"/>
            <a:ext cx="164592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48088" y="1993392"/>
            <a:ext cx="1673352" cy="20574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0444" y="2304288"/>
            <a:ext cx="548640" cy="548640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0444" y="2304288"/>
            <a:ext cx="548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3063240"/>
            <a:ext cx="1453896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Approve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Control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535424"/>
            <a:ext cx="94183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8222F"/>
                </a:solidFill>
                <a:latin typeface="Aptos"/>
              </a:rPr>
              <a:t>Decision evidence must bind measure to approve through versioned artifacts.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 and performance optimization — service decision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2057400"/>
            <a:ext cx="960120" cy="34747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Right-size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Use 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remove unused CPU/memory/accelerator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8576" y="2057400"/>
            <a:ext cx="96012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Batching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Use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amortize inference overhead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2057400"/>
            <a:ext cx="960120" cy="347472"/>
          </a:xfrm>
          <a:prstGeom prst="round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057400"/>
            <a:ext cx="960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OPTION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670048"/>
            <a:ext cx="29260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8222F"/>
                </a:solidFill>
                <a:latin typeface="Aptos Display"/>
              </a:rPr>
              <a:t>Quantization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3675887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Use 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041648"/>
            <a:ext cx="2889504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trade small quality loss for speed/cost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669280"/>
            <a:ext cx="10698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12A4F"/>
                </a:solidFill>
                <a:latin typeface="Aptos"/>
              </a:rPr>
              <a:t>Exam cue: select from workload evidence—not from product familiarity.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2A4F"/>
                </a:solidFill>
                <a:latin typeface="Aptos"/>
              </a:rPr>
              <a:t>DOMAIN 6 · CODE /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 and performance optimization — runnable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00784"/>
            <a:ext cx="7479792" cy="418795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6922008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FDBFE"/>
                </a:solidFill>
                <a:latin typeface="Consolas"/>
              </a:rPr>
              <a:t>baseline = {'p95_ms':280,'cost_1k':0.42,'auc':0.846}
candidate = {'p95_ms':170,'cost_1k':0.24,'auc':0.842}
max_auc_loss = 0.005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7344" y="1700784"/>
            <a:ext cx="3044952" cy="418795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965960"/>
            <a:ext cx="2468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Read it like an engineer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52928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74320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Identity and region are explicit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333756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Inputs and outputs are versionable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04164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393192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Metrics or health can be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63600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4526280"/>
            <a:ext cx="2121408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No secret is embedded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DOMAIN 6 ·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 and performance optimization — metric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664208"/>
          <a:ext cx="681228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90688" y="1664208"/>
            <a:ext cx="3721608" cy="4224528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975104"/>
            <a:ext cx="3072384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Cost per 1,000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285292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BBC04"/>
                </a:solidFill>
                <a:latin typeface="Aptos"/>
              </a:rPr>
              <a:t>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3236976"/>
            <a:ext cx="3035808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A4F"/>
                </a:solidFill>
                <a:latin typeface="Consolas"/>
              </a:rPr>
              <a:t>total_cost / prediction_count * 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4727448"/>
            <a:ext cx="29718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Interpret trend, threshold and uncertainty before acting.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4335"/>
                </a:solidFill>
                <a:latin typeface="Aptos"/>
              </a:rPr>
              <a:t>DOMAIN 6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 and performance optimization — failure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29260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46504"/>
            <a:ext cx="27066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Observable 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64208"/>
            <a:ext cx="3108960" cy="50292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1746504"/>
            <a:ext cx="28895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Likely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664208"/>
            <a:ext cx="416052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746504"/>
            <a:ext cx="3941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Control or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59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Cheap but worse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7" y="2267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2359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quality not gated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76288" y="2267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359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multi-objective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10712"/>
            <a:ext cx="292608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02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Benchmark bias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410712"/>
            <a:ext cx="310896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502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toy 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3410712"/>
            <a:ext cx="4160520" cy="96012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3502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production traffic shape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553712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270662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22F"/>
                </a:solidFill>
                <a:latin typeface="Aptos"/>
              </a:rPr>
              <a:t>Hidden egress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4553712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5615" y="4645152"/>
            <a:ext cx="2889504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8222F"/>
                </a:solidFill>
                <a:latin typeface="Aptos"/>
              </a:rPr>
              <a:t>cross-region path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6288" y="455371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6016" y="4645152"/>
            <a:ext cx="3941063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897B"/>
                </a:solidFill>
                <a:latin typeface="Aptos"/>
              </a:rPr>
              <a:t>co-locate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10835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12A4F"/>
                </a:solidFill>
                <a:latin typeface="Aptos"/>
              </a:rPr>
              <a:t>Escalation requires evidence: job/revision ID · version · timestamp · affected slice · attempted control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97B"/>
                </a:solidFill>
                <a:latin typeface="Aptos"/>
              </a:rPr>
              <a:t>DOMAIN 6 ·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 and performance optimization —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399</a:t>
            </a:r>
          </a:p>
        </p:txBody>
      </p:sp>
      <p:sp>
        <p:nvSpPr>
          <p:cNvPr id="10" name="Hexagon 9"/>
          <p:cNvSpPr/>
          <p:nvPr/>
        </p:nvSpPr>
        <p:spPr>
          <a:xfrm>
            <a:off x="67665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billing labels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66390" y="3291840"/>
            <a:ext cx="219456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88584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872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4A85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profiler trace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5580" y="3291840"/>
            <a:ext cx="219456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exagon 17"/>
          <p:cNvSpPr/>
          <p:nvPr/>
        </p:nvSpPr>
        <p:spPr>
          <a:xfrm>
            <a:off x="5095036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7916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C0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9628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quality comparison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4771" y="3291840"/>
            <a:ext cx="219456" cy="0"/>
          </a:xfrm>
          <a:prstGeom prst="line">
            <a:avLst/>
          </a:prstGeom>
          <a:ln w="25400">
            <a:solidFill>
              <a:srgbClr val="FBBC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730422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10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A433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load test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3961" y="3291840"/>
            <a:ext cx="219456" cy="0"/>
          </a:xfrm>
          <a:prstGeom prst="line">
            <a:avLst/>
          </a:prstGeom>
          <a:ln w="254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xagon 25"/>
          <p:cNvSpPr/>
          <p:nvPr/>
        </p:nvSpPr>
        <p:spPr>
          <a:xfrm>
            <a:off x="9513417" y="2176272"/>
            <a:ext cx="1989734" cy="2240280"/>
          </a:xfrm>
          <a:prstGeom prst="hexagon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6297" y="2432304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8009" y="3108960"/>
            <a:ext cx="1660550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8222F"/>
                </a:solidFill>
                <a:latin typeface="Aptos"/>
              </a:rPr>
              <a:t>architecture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897B"/>
                </a:solidFill>
                <a:latin typeface="Aptos"/>
              </a:rPr>
              <a:t>A valid production decision is reproducible from the complete chain.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73AB7"/>
                </a:solidFill>
                <a:latin typeface="Aptos"/>
              </a:rPr>
              <a:t>DOMAIN 6 ·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Cost and performance optimization — exam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1024128" cy="347472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102412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5166360" cy="3236976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57200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8222F"/>
                </a:solidFill>
                <a:latin typeface="Aptos"/>
              </a:rPr>
              <a:t>Quantization halves cost but reduces AUC by 0.004 and improves p95 latency by 110 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19072"/>
            <a:ext cx="1353312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135331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BEST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523036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4572000" cy="19385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12A4F"/>
                </a:solidFill>
                <a:latin typeface="Aptos"/>
              </a:rPr>
              <a:t>Accept only if the documented quality tolerance is 0.005 and slice/edge-case gates also pass.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81728"/>
            <a:ext cx="453542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05E6F"/>
                </a:solidFill>
                <a:latin typeface="Aptos"/>
              </a:rPr>
              <a:t>Decision rule: satisfy explicit constraints with the least operational complexity and verifiable controls.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A853"/>
                </a:solidFill>
                <a:latin typeface="Aptos"/>
              </a:rPr>
              <a:t>DOMAIN 6 · ACTIVITY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22F"/>
                </a:solidFill>
                <a:latin typeface="Aptos Display"/>
              </a:rPr>
              <a:t>Activity 16 evidence — Investigate Drift, Bias and an ML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645920"/>
            <a:ext cx="1143000" cy="347472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45920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ACTIVITY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48840"/>
            <a:ext cx="4983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8222F"/>
                </a:solidFill>
                <a:latin typeface="Aptos Display"/>
              </a:rPr>
              <a:t>Calculate drift and slice metrics, enforce SLOs and produce an incident evidence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9300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73AB7"/>
                </a:solidFill>
                <a:latin typeface="Aptos"/>
              </a:rPr>
              <a:t>Evidence: activity artifacts and acceptance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041648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05E6F"/>
                </a:solidFill>
                <a:latin typeface="Aptos"/>
              </a:rPr>
              <a:t>Detailed procedures: Learner Guide +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755648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911096"/>
            <a:ext cx="393192" cy="39319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8836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baseline.csv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97480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2852928"/>
            <a:ext cx="393192" cy="39319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25496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current.csv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639312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794760"/>
            <a:ext cx="393192" cy="393192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monitor.py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581144"/>
            <a:ext cx="5248656" cy="71323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0" y="4736592"/>
            <a:ext cx="393192" cy="393192"/>
          </a:xfrm>
          <a:prstGeom prst="ellipse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8222F"/>
                </a:solidFill>
                <a:latin typeface="Consolas"/>
              </a:rPr>
              <a:t>incident_template.md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650992"/>
            <a:ext cx="10561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897B"/>
                </a:solidFill>
                <a:latin typeface="Aptos"/>
              </a:rPr>
              <a:t>Slide shows artifacts and acceptance evidence only—no click-by-click procedure.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Exam Decision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Clarify 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Data modality, volume, freshness and business loss.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Constrain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Quality, latency, cost, availability, privacy and explainability.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Prefer managed 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Choose the least complex service that satisfies measured requirements.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Demand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Versioned artifacts, metrics, lineage, monitoring and rollback.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SOURCE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Legacy v7 Coverage Preserved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Topics 1–3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GCP foundations, ML workflow, algorithms and managed AI APIs.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Topics 4–5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TensorFlow/Keras, tf.data and feature engineering.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Topics 6–7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AutoML/custom training, batch/online serving and production systems.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Topic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MLOps, CI/CD/CT, pipelines, monitoring and troubleshooting.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Course Achievement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Decision records tied to documented business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Runnable scripts, containers and pipeline specifications.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Metrics, canary controls and production monitoring.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Responsible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Privacy, fairness, security, explainability and incident records.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73E8"/>
                </a:solidFill>
                <a:latin typeface="Aptos"/>
              </a:rPr>
              <a:t>COURSE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81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222F"/>
                </a:solidFill>
                <a:latin typeface="Aptos Display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92240"/>
            <a:ext cx="11375136" cy="18288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7680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Google Professional Machine Learning Engineer Training · C740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537960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05E6F"/>
                </a:solidFill>
                <a:latin typeface="Aptos"/>
              </a:rPr>
              <a:t>405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206197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4376" y="1719072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Aptos"/>
              </a:rPr>
              <a:t>Feedback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Complete the course feedback form shared by the trainer.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7276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572768"/>
            <a:ext cx="82296" cy="206197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71907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26496" y="171907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2821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A853"/>
                </a:solidFill>
                <a:latin typeface="Aptos"/>
              </a:rPr>
              <a:t>Certificate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9456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Your certificate of completion is emailed after the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35908"/>
            <a:ext cx="82296" cy="20619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3982212"/>
            <a:ext cx="310896" cy="310896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BBC04"/>
                </a:solidFill>
                <a:latin typeface="Aptos"/>
              </a:rPr>
              <a:t>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Raise any outstanding questions with the trainer before you leave.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835908"/>
            <a:ext cx="5166360" cy="2061972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835908"/>
            <a:ext cx="82296" cy="206197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26496" y="398221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6496" y="3982212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91356"/>
            <a:ext cx="427024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A4335"/>
                </a:solidFill>
                <a:latin typeface="Aptos"/>
              </a:rPr>
              <a:t>Keep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57700"/>
            <a:ext cx="4709160" cy="14218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05E6F"/>
                </a:solidFill>
                <a:latin typeface="Aptos"/>
              </a:rPr>
              <a:t>Revisit the activities and Learner Guide to consolidate your evidence.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10744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BFDBFE"/>
                </a:solidFill>
                <a:latin typeface="Aptos"/>
              </a:rPr>
              <a:t>Build evidence. Make the decision. Operate responsibly.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Google Professional Machine Learning Engineer Training · C740 ·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Professional Machine Learning Engineer Training</dc:title>
  <dc:subject>TGS-2023040476 v8.0</dc:subject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