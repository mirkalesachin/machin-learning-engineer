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603504"/>
            <a:ext cx="1828800" cy="105156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603504"/>
            <a:ext cx="1828800" cy="10972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841248"/>
            <a:ext cx="1828800" cy="457200"/>
          </a:xfrm>
          <a:prstGeom prst="rect">
            <a:avLst/>
          </a:prstGeom>
          <a:noFill/>
        </p:spPr>
        <p:txBody>
          <a:bodyPr wrap="square" anchor="t">
            <a:spAutoFit/>
          </a:bodyPr>
          <a:lstStyle/>
          <a:p>
            <a:pPr algn="ctr">
              <a:spcAft>
                <a:spcPts val="400"/>
              </a:spcAft>
            </a:pPr>
            <a:r>
              <a:rPr sz="2200" b="1">
                <a:solidFill>
                  <a:srgbClr val="FFFFFF"/>
                </a:solidFill>
                <a:latin typeface="Arial"/>
              </a:rPr>
              <a:t>MLA-C01</a:t>
            </a:r>
          </a:p>
        </p:txBody>
      </p:sp>
      <p:sp>
        <p:nvSpPr>
          <p:cNvPr id="9" name="TextBox 8"/>
          <p:cNvSpPr txBox="1"/>
          <p:nvPr/>
        </p:nvSpPr>
        <p:spPr>
          <a:xfrm>
            <a:off x="9646920" y="1280160"/>
            <a:ext cx="1828800" cy="310896"/>
          </a:xfrm>
          <a:prstGeom prst="rect">
            <a:avLst/>
          </a:prstGeom>
          <a:noFill/>
        </p:spPr>
        <p:txBody>
          <a:bodyPr wrap="square" anchor="t">
            <a:spAutoFit/>
          </a:bodyPr>
          <a:lstStyle/>
          <a:p>
            <a:pPr algn="ctr">
              <a:spcAft>
                <a:spcPts val="400"/>
              </a:spcAft>
            </a:pPr>
            <a:r>
              <a:rPr sz="850" b="1">
                <a:solidFill>
                  <a:srgbClr val="FF9900"/>
                </a:solidFill>
                <a:latin typeface="Arial"/>
              </a:rPr>
              <a:t>AWS CERTIFIED</a:t>
            </a:r>
          </a:p>
        </p:txBody>
      </p:sp>
      <p:sp>
        <p:nvSpPr>
          <p:cNvPr id="10" name="TextBox 9"/>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606040"/>
            <a:ext cx="10972800" cy="1737360"/>
          </a:xfrm>
          <a:prstGeom prst="rect">
            <a:avLst/>
          </a:prstGeom>
          <a:noFill/>
        </p:spPr>
        <p:txBody>
          <a:bodyPr wrap="square" anchor="t">
            <a:spAutoFit/>
          </a:bodyPr>
          <a:lstStyle/>
          <a:p>
            <a:pPr algn="l">
              <a:spcAft>
                <a:spcPts val="400"/>
              </a:spcAft>
            </a:pPr>
            <a:r>
              <a:rPr sz="3800" b="1">
                <a:solidFill>
                  <a:srgbClr val="161B26"/>
                </a:solidFill>
                <a:latin typeface="Arial"/>
              </a:rPr>
              <a:t>AWS Certified Machine Learning Engineer Associate Training</a:t>
            </a:r>
          </a:p>
        </p:txBody>
      </p:sp>
      <p:sp>
        <p:nvSpPr>
          <p:cNvPr id="12" name="Rectangle 11"/>
          <p:cNvSpPr/>
          <p:nvPr/>
        </p:nvSpPr>
        <p:spPr>
          <a:xfrm>
            <a:off x="841248" y="443484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6344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TGS-2024049340</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v14  ·  23 August 2026</a:t>
            </a:r>
          </a:p>
        </p:txBody>
      </p:sp>
      <p:sp>
        <p:nvSpPr>
          <p:cNvPr id="15" name="TextBox 14"/>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 (AM)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Mandatory each session</a:t>
            </a:r>
          </a:p>
          <a:p>
            <a:pPr algn="l">
              <a:spcAft>
                <a:spcPts val="300"/>
              </a:spcAft>
            </a:pPr>
            <a:r>
              <a:rPr sz="1300" b="0">
                <a:solidFill>
                  <a:srgbClr val="5B6372"/>
                </a:solidFill>
                <a:latin typeface="Arial"/>
              </a:rPr>
              <a:t>Take AM, PM and Assessment digital attendance for WSQ-funded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QR code</a:t>
            </a:r>
          </a:p>
          <a:p>
            <a:pPr algn="l">
              <a:spcAft>
                <a:spcPts val="300"/>
              </a:spcAft>
            </a:pPr>
            <a:r>
              <a:rPr sz="1300" b="0">
                <a:solidFill>
                  <a:srgbClr val="5B6372"/>
                </a:solidFill>
                <a:latin typeface="Arial"/>
              </a:rPr>
              <a:t>The trainer displays the SSG digital-attendance QR code at the start of each session.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to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AWS-certified; cloud, machine learning and data-engineering practitioner and trainer.</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AWS, machine learning, data engineering, AI and cloud architecture.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Python, data or machine learning (if any).</a:t>
            </a:r>
          </a:p>
          <a:p>
            <a:pPr>
              <a:spcAft>
                <a:spcPts val="1000"/>
              </a:spcAft>
            </a:pPr>
            <a:r>
              <a:rPr sz="2000" b="0">
                <a:solidFill>
                  <a:srgbClr val="161B26"/>
                </a:solidFill>
                <a:latin typeface="Arial"/>
              </a:rPr>
              <a:t>•  What you want to be able to build or certify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6912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199156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991562"/>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54480" y="1874519"/>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Open lms-tms.tertiaryinfotech.com in your browser.</a:t>
            </a:r>
          </a:p>
        </p:txBody>
      </p:sp>
      <p:sp>
        <p:nvSpPr>
          <p:cNvPr id="12" name="Rectangle 11"/>
          <p:cNvSpPr/>
          <p:nvPr/>
        </p:nvSpPr>
        <p:spPr>
          <a:xfrm>
            <a:off x="777240" y="2730397"/>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30397"/>
            <a:ext cx="91440" cy="6912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28474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847440"/>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54480" y="2730397"/>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Log in with the account emailed to you before the course.</a:t>
            </a:r>
          </a:p>
        </p:txBody>
      </p:sp>
      <p:sp>
        <p:nvSpPr>
          <p:cNvPr id="17" name="Rectangle 16"/>
          <p:cNvSpPr/>
          <p:nvPr/>
        </p:nvSpPr>
        <p:spPr>
          <a:xfrm>
            <a:off x="777240" y="3586275"/>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6275"/>
            <a:ext cx="91440" cy="6912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370331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703318"/>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54480" y="3586275"/>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Open this course and go to the Courseware / Materials tab.</a:t>
            </a:r>
          </a:p>
        </p:txBody>
      </p:sp>
      <p:sp>
        <p:nvSpPr>
          <p:cNvPr id="22" name="Rectangle 21"/>
          <p:cNvSpPr/>
          <p:nvPr/>
        </p:nvSpPr>
        <p:spPr>
          <a:xfrm>
            <a:off x="777240" y="4442153"/>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42153"/>
            <a:ext cx="91440" cy="6912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4559196"/>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559196"/>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26" name="TextBox 25"/>
          <p:cNvSpPr txBox="1"/>
          <p:nvPr/>
        </p:nvSpPr>
        <p:spPr>
          <a:xfrm>
            <a:off x="1554480" y="4442153"/>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Download the Trainer Slides, Learner Guide and Lesson Plan.</a:t>
            </a:r>
          </a:p>
        </p:txBody>
      </p:sp>
      <p:sp>
        <p:nvSpPr>
          <p:cNvPr id="27" name="Rectangle 26"/>
          <p:cNvSpPr/>
          <p:nvPr/>
        </p:nvSpPr>
        <p:spPr>
          <a:xfrm>
            <a:off x="777240" y="5298031"/>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298031"/>
            <a:ext cx="91440" cy="6912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8408" y="541507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 y="5415074"/>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54480" y="5298031"/>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Keep them open — the assessment is open book.</a:t>
            </a:r>
          </a:p>
        </p:txBody>
      </p:sp>
      <p:sp>
        <p:nvSpPr>
          <p:cNvPr id="32" name="Rectangle 31"/>
          <p:cNvSpPr/>
          <p:nvPr/>
        </p:nvSpPr>
        <p:spPr>
          <a:xfrm>
            <a:off x="5212080" y="1874519"/>
            <a:ext cx="621792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76672" y="2029967"/>
            <a:ext cx="146304" cy="146304"/>
          </a:xfrm>
          <a:prstGeom prst="ellipse">
            <a:avLst/>
          </a:prstGeom>
          <a:solidFill>
            <a:srgbClr val="EF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632704" y="2029967"/>
            <a:ext cx="146304" cy="146304"/>
          </a:xfrm>
          <a:prstGeom prst="ellipse">
            <a:avLst/>
          </a:prstGeom>
          <a:solidFill>
            <a:srgbClr val="F5B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88736" y="2029967"/>
            <a:ext cx="146304" cy="146304"/>
          </a:xfrm>
          <a:prstGeom prst="ellipse">
            <a:avLst/>
          </a:prstGeom>
          <a:solidFill>
            <a:srgbClr val="22B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09360" y="1975103"/>
            <a:ext cx="49377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1975103"/>
            <a:ext cx="4754880" cy="256032"/>
          </a:xfrm>
          <a:prstGeom prst="rect">
            <a:avLst/>
          </a:prstGeom>
          <a:noFill/>
        </p:spPr>
        <p:txBody>
          <a:bodyPr wrap="square" anchor="ctr">
            <a:spAutoFit/>
          </a:bodyPr>
          <a:lstStyle/>
          <a:p>
            <a:pPr algn="l">
              <a:spcAft>
                <a:spcPts val="400"/>
              </a:spcAft>
            </a:pPr>
            <a:r>
              <a:rPr sz="1100" b="0">
                <a:solidFill>
                  <a:srgbClr val="5B6372"/>
                </a:solidFill>
                <a:latin typeface="Arial"/>
              </a:rPr>
              <a:t>lms-tms.tertiaryinfotech.com</a:t>
            </a:r>
          </a:p>
        </p:txBody>
      </p:sp>
      <p:pic>
        <p:nvPicPr>
          <p:cNvPr id="38" name="Picture 37" descr="lms-tms-download.png"/>
          <p:cNvPicPr>
            <a:picLocks noChangeAspect="1"/>
          </p:cNvPicPr>
          <p:nvPr/>
        </p:nvPicPr>
        <p:blipFill>
          <a:blip r:embed="rId2"/>
          <a:stretch>
            <a:fillRect/>
          </a:stretch>
        </p:blipFill>
        <p:spPr>
          <a:xfrm>
            <a:off x="5465216" y="2404871"/>
            <a:ext cx="5711647" cy="3246120"/>
          </a:xfrm>
          <a:prstGeom prst="rect">
            <a:avLst/>
          </a:prstGeom>
        </p:spPr>
      </p:pic>
      <p:sp>
        <p:nvSpPr>
          <p:cNvPr id="39" name="Rectangle 38"/>
          <p:cNvSpPr/>
          <p:nvPr/>
        </p:nvSpPr>
        <p:spPr>
          <a:xfrm>
            <a:off x="5212080" y="1874519"/>
            <a:ext cx="6217920" cy="18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3 Days · 24 Course Hours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Day 1 — Data Preparation for Machine Learning</a:t>
            </a:r>
          </a:p>
          <a:p>
            <a:pPr algn="l">
              <a:spcAft>
                <a:spcPts val="300"/>
              </a:spcAft>
            </a:pPr>
            <a:r>
              <a:rPr sz="1100" b="0">
                <a:solidFill>
                  <a:srgbClr val="5B6372"/>
                </a:solidFill>
                <a:latin typeface="Arial"/>
              </a:rPr>
              <a:t>Domain 1 · Labs 1–4: account safety &amp; IAM, S3 data lake, batch/streaming ingestion, feature engineering.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Day 2 — ML Model Development</a:t>
            </a:r>
          </a:p>
          <a:p>
            <a:pPr algn="l">
              <a:spcAft>
                <a:spcPts val="300"/>
              </a:spcAft>
            </a:pPr>
            <a:r>
              <a:rPr sz="1100" b="0">
                <a:solidFill>
                  <a:srgbClr val="5B6372"/>
                </a:solidFill>
                <a:latin typeface="Arial"/>
              </a:rPr>
              <a:t>Domain 2 · Labs 5–8: modelling approach, training &amp; Debugger, tuning &amp; registry, evaluation &amp; bias.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Day 3 — Deployment, Monitoring, Security &amp; Exam Review</a:t>
            </a:r>
          </a:p>
          <a:p>
            <a:pPr algn="l">
              <a:spcAft>
                <a:spcPts val="300"/>
              </a:spcAft>
            </a:pPr>
            <a:r>
              <a:rPr sz="1100" b="0">
                <a:solidFill>
                  <a:srgbClr val="5B6372"/>
                </a:solidFill>
                <a:latin typeface="Arial"/>
              </a:rPr>
              <a:t>Domains 3–4 · Labs 9–12: deployment, MLOps, monitoring, security, cost &amp; exam review.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Assessment (Day 3)</a:t>
            </a:r>
          </a:p>
          <a:p>
            <a:pPr algn="l">
              <a:spcAft>
                <a:spcPts val="300"/>
              </a:spcAft>
            </a:pPr>
            <a:r>
              <a:rPr sz="1100" b="0">
                <a:solidFill>
                  <a:srgbClr val="5B6372"/>
                </a:solidFill>
                <a:latin typeface="Arial"/>
              </a:rPr>
              <a:t>Written Assessment (1 hour) + Case Study (1 hour) = 2 assessment hours.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Duration</a:t>
            </a:r>
          </a:p>
          <a:p>
            <a:pPr algn="l">
              <a:spcAft>
                <a:spcPts val="300"/>
              </a:spcAft>
            </a:pPr>
            <a:r>
              <a:rPr sz="1100" b="0">
                <a:solidFill>
                  <a:srgbClr val="5B6372"/>
                </a:solidFill>
                <a:latin typeface="Arial"/>
              </a:rPr>
              <a:t>22 learning hours + 2 assessment hours = 24 course hours across 3 days.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Daily timing</a:t>
            </a:r>
          </a:p>
          <a:p>
            <a:pPr algn="l">
              <a:spcAft>
                <a:spcPts val="300"/>
              </a:spcAft>
            </a:pPr>
            <a:r>
              <a:rPr sz="1100" b="0">
                <a:solidFill>
                  <a:srgbClr val="5B6372"/>
                </a:solidFill>
                <a:latin typeface="Arial"/>
              </a:rPr>
              <a:t>9:30am–6:30pm · 1-hour lunch · two 15-min tea breaks within the 8 scheduled hours.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Data Preparation</a:t>
            </a:r>
          </a:p>
          <a:p>
            <a:pPr algn="l">
              <a:spcAft>
                <a:spcPts val="300"/>
              </a:spcAft>
            </a:pPr>
            <a:r>
              <a:rPr sz="1300" b="0">
                <a:solidFill>
                  <a:srgbClr val="5B6372"/>
                </a:solidFill>
                <a:latin typeface="Arial"/>
              </a:rPr>
              <a:t>Ingest, transform, engineer features for, and govern ML data on AWS.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Model Development</a:t>
            </a:r>
          </a:p>
          <a:p>
            <a:pPr algn="l">
              <a:spcAft>
                <a:spcPts val="300"/>
              </a:spcAft>
            </a:pPr>
            <a:r>
              <a:rPr sz="1300" b="0">
                <a:solidFill>
                  <a:srgbClr val="5B6372"/>
                </a:solidFill>
                <a:latin typeface="Arial"/>
              </a:rPr>
              <a:t>Select, train, tune, evaluate and register models with SageMaker AI.</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Deploy &amp; Orchestrate</a:t>
            </a:r>
          </a:p>
          <a:p>
            <a:pPr algn="l">
              <a:spcAft>
                <a:spcPts val="300"/>
              </a:spcAft>
            </a:pPr>
            <a:r>
              <a:rPr sz="1300" b="0">
                <a:solidFill>
                  <a:srgbClr val="5B6372"/>
                </a:solidFill>
                <a:latin typeface="Arial"/>
              </a:rPr>
              <a:t>Real-time, serverless and batch inference; MLOps pipelines and CI/CD.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Monitor &amp; Secure</a:t>
            </a:r>
          </a:p>
          <a:p>
            <a:pPr algn="l">
              <a:spcAft>
                <a:spcPts val="300"/>
              </a:spcAft>
            </a:pPr>
            <a:r>
              <a:rPr sz="1300" b="0">
                <a:solidFill>
                  <a:srgbClr val="5B6372"/>
                </a:solidFill>
                <a:latin typeface="Arial"/>
              </a:rPr>
              <a:t>Monitoring, security, cost optimisation and MLA-C01 exam readiness.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FUNDING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Attend at least 75% of the course.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Competency</a:t>
            </a:r>
          </a:p>
          <a:p>
            <a:pPr algn="l">
              <a:spcAft>
                <a:spcPts val="300"/>
              </a:spcAft>
            </a:pPr>
            <a:r>
              <a:rPr sz="1200" b="0">
                <a:solidFill>
                  <a:srgbClr val="5B6372"/>
                </a:solidFill>
                <a:latin typeface="Arial"/>
              </a:rPr>
              <a:t>Be assessed Competent (C) in both the WA and the Case Study (CS).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Take AM, PM and Assessment digital attendance (TRAQOM) each day.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Survey</a:t>
            </a:r>
          </a:p>
          <a:p>
            <a:pPr algn="l">
              <a:spcAft>
                <a:spcPts val="300"/>
              </a:spcAft>
            </a:pPr>
            <a:r>
              <a:rPr sz="1200" b="0">
                <a:solidFill>
                  <a:srgbClr val="5B6372"/>
                </a:solidFill>
                <a:latin typeface="Arial"/>
              </a:rPr>
              <a:t>Complete the TRAQOM course survey.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Meet SSG/SkillsFuture eligibility for the applicable funding scheme.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 Knowledge questions trace to specific course slides.</a:t>
            </a:r>
          </a:p>
          <a:p>
            <a:pPr>
              <a:spcAft>
                <a:spcPts val="1000"/>
              </a:spcAft>
            </a:pPr>
            <a:r>
              <a:rPr sz="2000" b="0">
                <a:solidFill>
                  <a:srgbClr val="161B26"/>
                </a:solidFill>
                <a:latin typeface="Arial"/>
              </a:rPr>
              <a:t>•  Case Study (CS) — an applied AWS ML scenario, 1 hour, open book. Learners analyse a business scenario and design and justify an end-to-end ML solution mapped to the four MLA-C01 domains and the twelve hands-on labs.</a:t>
            </a:r>
          </a:p>
          <a:p>
            <a:pPr>
              <a:spcAft>
                <a:spcPts val="1000"/>
              </a:spcAft>
            </a:pPr>
            <a:r>
              <a:rPr sz="2000" b="0">
                <a:solidFill>
                  <a:srgbClr val="161B26"/>
                </a:solidFill>
                <a:latin typeface="Arial"/>
              </a:rPr>
              <a:t>•  Format: Open Book — slides, Learner Guide and approved materials only.</a:t>
            </a:r>
          </a:p>
          <a:p>
            <a:pPr>
              <a:spcAft>
                <a:spcPts val="1000"/>
              </a:spcAft>
            </a:pPr>
            <a:r>
              <a:rPr sz="2000" b="0">
                <a:solidFill>
                  <a:srgbClr val="161B26"/>
                </a:solidFill>
                <a:latin typeface="Arial"/>
              </a:rPr>
              <a:t>•  Held on Day 3: Written Assessment (1 hour) then Case Study (1 hour) = 2 assessment hours.</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Case Study (CS)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Machine Learning Engineering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AT A GLANCE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AWS Machine Learning Engineering Lab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lab-flow.png"/>
          <p:cNvPicPr>
            <a:picLocks noChangeAspect="1"/>
          </p:cNvPicPr>
          <p:nvPr/>
        </p:nvPicPr>
        <p:blipFill>
          <a:blip r:embed="rId2"/>
          <a:stretch>
            <a:fillRect/>
          </a:stretch>
        </p:blipFill>
        <p:spPr>
          <a:xfrm>
            <a:off x="2560168" y="1783080"/>
            <a:ext cx="7071358" cy="3977639"/>
          </a:xfrm>
          <a:prstGeom prst="rect">
            <a:avLst/>
          </a:prstGeom>
        </p:spPr>
      </p:pic>
      <p:sp>
        <p:nvSpPr>
          <p:cNvPr id="8" name="TextBox 7"/>
          <p:cNvSpPr txBox="1"/>
          <p:nvPr/>
        </p:nvSpPr>
        <p:spPr>
          <a:xfrm>
            <a:off x="777240" y="589788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Prepare → Develop → Deploy → Operate — the twelve labs follow the ML lifecycle.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END TO END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Machine Learning Lifecycle on AWS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Prepare data</a:t>
            </a:r>
          </a:p>
          <a:p>
            <a:pPr algn="l">
              <a:spcAft>
                <a:spcPts val="300"/>
              </a:spcAft>
            </a:pPr>
            <a:r>
              <a:rPr sz="1200" b="0">
                <a:solidFill>
                  <a:srgbClr val="5B6372"/>
                </a:solidFill>
                <a:latin typeface="Arial"/>
              </a:rPr>
              <a:t>Ingest, store, transform and validate data; engineer and store features (Domain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Develop model</a:t>
            </a:r>
          </a:p>
          <a:p>
            <a:pPr algn="l">
              <a:spcAft>
                <a:spcPts val="300"/>
              </a:spcAft>
            </a:pPr>
            <a:r>
              <a:rPr sz="1200" b="0">
                <a:solidFill>
                  <a:srgbClr val="5B6372"/>
                </a:solidFill>
                <a:latin typeface="Arial"/>
              </a:rPr>
              <a:t>Choose an approach; train, tune, evaluate, and register the model (Domain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Deploy &amp; orchestrate</a:t>
            </a:r>
          </a:p>
          <a:p>
            <a:pPr algn="l">
              <a:spcAft>
                <a:spcPts val="300"/>
              </a:spcAft>
            </a:pPr>
            <a:r>
              <a:rPr sz="1200" b="0">
                <a:solidFill>
                  <a:srgbClr val="5B6372"/>
                </a:solidFill>
                <a:latin typeface="Arial"/>
              </a:rPr>
              <a:t>Serve inference and automate the pipeline with MLOps (Domain 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Monitor &amp; secure</a:t>
            </a:r>
          </a:p>
          <a:p>
            <a:pPr algn="l">
              <a:spcAft>
                <a:spcPts val="300"/>
              </a:spcAft>
            </a:pPr>
            <a:r>
              <a:rPr sz="1200" b="0">
                <a:solidFill>
                  <a:srgbClr val="5B6372"/>
                </a:solidFill>
                <a:latin typeface="Arial"/>
              </a:rPr>
              <a:t>Monitor drift, secure, and cost-optimise in production (Domain 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Repeatable</a:t>
            </a:r>
          </a:p>
          <a:p>
            <a:pPr algn="l">
              <a:spcAft>
                <a:spcPts val="300"/>
              </a:spcAft>
            </a:pPr>
            <a:r>
              <a:rPr sz="1200" b="0">
                <a:solidFill>
                  <a:srgbClr val="5B6372"/>
                </a:solidFill>
                <a:latin typeface="Arial"/>
              </a:rPr>
              <a:t>SageMaker Pipelines, Model Registry and IaC make each stage repeatable.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Exam-aligned</a:t>
            </a:r>
          </a:p>
          <a:p>
            <a:pPr algn="l">
              <a:spcAft>
                <a:spcPts val="300"/>
              </a:spcAft>
            </a:pPr>
            <a:r>
              <a:rPr sz="1200" b="0">
                <a:solidFill>
                  <a:srgbClr val="5B6372"/>
                </a:solidFill>
                <a:latin typeface="Arial"/>
              </a:rPr>
              <a:t>Every stage maps to an MLA-C01 domain and a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SERVICE STACK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AWS Services You Will Practise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services-map.png"/>
          <p:cNvPicPr>
            <a:picLocks noChangeAspect="1"/>
          </p:cNvPicPr>
          <p:nvPr/>
        </p:nvPicPr>
        <p:blipFill>
          <a:blip r:embed="rId2"/>
          <a:stretch>
            <a:fillRect/>
          </a:stretch>
        </p:blipFill>
        <p:spPr>
          <a:xfrm>
            <a:off x="2560168" y="1783080"/>
            <a:ext cx="7071358" cy="3977639"/>
          </a:xfrm>
          <a:prstGeom prst="rect">
            <a:avLst/>
          </a:prstGeom>
        </p:spPr>
      </p:pic>
      <p:sp>
        <p:nvSpPr>
          <p:cNvPr id="8" name="TextBox 7"/>
          <p:cNvSpPr txBox="1"/>
          <p:nvPr/>
        </p:nvSpPr>
        <p:spPr>
          <a:xfrm>
            <a:off x="777240" y="589788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Data, Model, Deploy and MLOps services used across the twelve labs.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FUNDAMENTALS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Types &amp; Formats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a:t>
            </a:r>
          </a:p>
          <a:p>
            <a:pPr algn="l">
              <a:spcAft>
                <a:spcPts val="300"/>
              </a:spcAft>
            </a:pPr>
            <a:r>
              <a:rPr sz="1200" b="0">
                <a:solidFill>
                  <a:srgbClr val="5B6372"/>
                </a:solidFill>
                <a:latin typeface="Arial"/>
              </a:rPr>
              <a:t>Tabular rows/columns — CSV, Parquet, ORC for analytics and SageMaker training.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Semi-structured</a:t>
            </a:r>
          </a:p>
          <a:p>
            <a:pPr algn="l">
              <a:spcAft>
                <a:spcPts val="300"/>
              </a:spcAft>
            </a:pPr>
            <a:r>
              <a:rPr sz="1200" b="0">
                <a:solidFill>
                  <a:srgbClr val="5B6372"/>
                </a:solidFill>
                <a:latin typeface="Arial"/>
              </a:rPr>
              <a:t>JSON, Avro — flexible schemas, common for ingestion and streaming.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Unstructured</a:t>
            </a:r>
          </a:p>
          <a:p>
            <a:pPr algn="l">
              <a:spcAft>
                <a:spcPts val="300"/>
              </a:spcAft>
            </a:pPr>
            <a:r>
              <a:rPr sz="1200" b="0">
                <a:solidFill>
                  <a:srgbClr val="5B6372"/>
                </a:solidFill>
                <a:latin typeface="Arial"/>
              </a:rPr>
              <a:t>Text, image, audio, video — for NLP, computer vision and generative 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Format choice</a:t>
            </a:r>
          </a:p>
          <a:p>
            <a:pPr algn="l">
              <a:spcAft>
                <a:spcPts val="300"/>
              </a:spcAft>
            </a:pPr>
            <a:r>
              <a:rPr sz="1200" b="0">
                <a:solidFill>
                  <a:srgbClr val="5B6372"/>
                </a:solidFill>
                <a:latin typeface="Arial"/>
              </a:rPr>
              <a:t>Columnar (Parquet/ORC) for analytics; RecordIO/protobuf for efficient training.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Storage</a:t>
            </a:r>
          </a:p>
          <a:p>
            <a:pPr algn="l">
              <a:spcAft>
                <a:spcPts val="300"/>
              </a:spcAft>
            </a:pPr>
            <a:r>
              <a:rPr sz="1200" b="0">
                <a:solidFill>
                  <a:srgbClr val="5B6372"/>
                </a:solidFill>
                <a:latin typeface="Arial"/>
              </a:rPr>
              <a:t>Amazon S3 data lake with lifecycle prefixes and default encryption.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Governance</a:t>
            </a:r>
          </a:p>
          <a:p>
            <a:pPr algn="l">
              <a:spcAft>
                <a:spcPts val="300"/>
              </a:spcAft>
            </a:pPr>
            <a:r>
              <a:rPr sz="1200" b="0">
                <a:solidFill>
                  <a:srgbClr val="5B6372"/>
                </a:solidFill>
                <a:latin typeface="Arial"/>
              </a:rPr>
              <a:t>Glue Data Catalog, Lake Formation and Clarify for quality and bias.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SECURITY MODEL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for ML on AWS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shared-responsibility.png"/>
          <p:cNvPicPr>
            <a:picLocks noChangeAspect="1"/>
          </p:cNvPicPr>
          <p:nvPr/>
        </p:nvPicPr>
        <p:blipFill>
          <a:blip r:embed="rId2"/>
          <a:stretch>
            <a:fillRect/>
          </a:stretch>
        </p:blipFill>
        <p:spPr>
          <a:xfrm>
            <a:off x="2560168" y="1783080"/>
            <a:ext cx="7071358" cy="3977639"/>
          </a:xfrm>
          <a:prstGeom prst="rect">
            <a:avLst/>
          </a:prstGeom>
        </p:spPr>
      </p:pic>
      <p:sp>
        <p:nvSpPr>
          <p:cNvPr id="8" name="TextBox 7"/>
          <p:cNvSpPr txBox="1"/>
          <p:nvPr/>
        </p:nvSpPr>
        <p:spPr>
          <a:xfrm>
            <a:off x="777240" y="589788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AWS secures the cloud; you secure your ML data, models and access in the cloud.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THE EXAM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MLA-C01 Exam Domains &amp; Weightings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az900-domain-matrix.png"/>
          <p:cNvPicPr>
            <a:picLocks noChangeAspect="1"/>
          </p:cNvPicPr>
          <p:nvPr/>
        </p:nvPicPr>
        <p:blipFill>
          <a:blip r:embed="rId2"/>
          <a:stretch>
            <a:fillRect/>
          </a:stretch>
        </p:blipFill>
        <p:spPr>
          <a:xfrm>
            <a:off x="2560168" y="1783080"/>
            <a:ext cx="7071358" cy="3977639"/>
          </a:xfrm>
          <a:prstGeom prst="rect">
            <a:avLst/>
          </a:prstGeom>
        </p:spPr>
      </p:pic>
      <p:sp>
        <p:nvSpPr>
          <p:cNvPr id="8" name="TextBox 7"/>
          <p:cNvSpPr txBox="1"/>
          <p:nvPr/>
        </p:nvSpPr>
        <p:spPr>
          <a:xfrm>
            <a:off x="777240" y="589788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Four domains — the course spends time in proportion to their exam weighting.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Preparation for Machine Learning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Ingestion &amp; storage · transformation &amp; feature engineering · data quality, labelling &amp; bias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MLA-C01 EXAM WEIGHTING 28%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Data Preparation for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formats</a:t>
            </a:r>
          </a:p>
          <a:p>
            <a:pPr algn="l">
              <a:spcAft>
                <a:spcPts val="300"/>
              </a:spcAft>
            </a:pPr>
            <a:r>
              <a:rPr sz="1100" b="0">
                <a:solidFill>
                  <a:srgbClr val="5B6372"/>
                </a:solidFill>
                <a:latin typeface="Arial"/>
              </a:rPr>
              <a:t>CSV, JSON, Parquet, ORC, Avro and RecordIO — column vs row storage, and which format suits analytics, streaming and SageMaker training.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S3 ML data lake</a:t>
            </a:r>
          </a:p>
          <a:p>
            <a:pPr algn="l">
              <a:spcAft>
                <a:spcPts val="300"/>
              </a:spcAft>
            </a:pPr>
            <a:r>
              <a:rPr sz="1100" b="0">
                <a:solidFill>
                  <a:srgbClr val="5B6372"/>
                </a:solidFill>
                <a:latin typeface="Arial"/>
              </a:rPr>
              <a:t>Bucket + prefix design (raw/prepared/features/training/models/monitoring), default encryption (SSE-S3 / SSE-KMS) and Block Public Access.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Batch &amp; streaming ingestion</a:t>
            </a:r>
          </a:p>
          <a:p>
            <a:pPr algn="l">
              <a:spcAft>
                <a:spcPts val="300"/>
              </a:spcAft>
            </a:pPr>
            <a:r>
              <a:rPr sz="1100" b="0">
                <a:solidFill>
                  <a:srgbClr val="5B6372"/>
                </a:solidFill>
                <a:latin typeface="Arial"/>
              </a:rPr>
              <a:t>AWS Glue crawlers/jobs and the Data Catalog, Athena, and the Kinesis family (Data Streams, Firehose, MSK) for batch and streaming preparation.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Feature engineering</a:t>
            </a:r>
          </a:p>
          <a:p>
            <a:pPr algn="l">
              <a:spcAft>
                <a:spcPts val="300"/>
              </a:spcAft>
            </a:pPr>
            <a:r>
              <a:rPr sz="1100" b="0">
                <a:solidFill>
                  <a:srgbClr val="5B6372"/>
                </a:solidFill>
                <a:latin typeface="Arial"/>
              </a:rPr>
              <a:t>Imputation, normalisation/standardisation, binning, one-hot encoding and scaling; online vs offline SageMaker Feature Store.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Labelling</a:t>
            </a:r>
          </a:p>
          <a:p>
            <a:pPr algn="l">
              <a:spcAft>
                <a:spcPts val="300"/>
              </a:spcAft>
            </a:pPr>
            <a:r>
              <a:rPr sz="1100" b="0">
                <a:solidFill>
                  <a:srgbClr val="5B6372"/>
                </a:solidFill>
                <a:latin typeface="Arial"/>
              </a:rPr>
              <a:t>SageMaker Ground Truth labelling jobs for text, image and tabular data; human-in-the-loop and automated labelling.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quality &amp; bias</a:t>
            </a:r>
          </a:p>
          <a:p>
            <a:pPr algn="l">
              <a:spcAft>
                <a:spcPts val="300"/>
              </a:spcAft>
            </a:pPr>
            <a:r>
              <a:rPr sz="1100" b="0">
                <a:solidFill>
                  <a:srgbClr val="5B6372"/>
                </a:solidFill>
                <a:latin typeface="Arial"/>
              </a:rPr>
              <a:t>Glue Data Quality and SageMaker Clarify checks for nulls, duplicates, schema drift, outliers, class imbalance and data leakage.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01 · DATA FORMATS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 Data Formats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Format</a:t>
            </a:r>
          </a:p>
        </p:txBody>
      </p:sp>
      <p:sp>
        <p:nvSpPr>
          <p:cNvPr id="9" name="Rectangle 8"/>
          <p:cNvSpPr/>
          <p:nvPr/>
        </p:nvSpPr>
        <p:spPr>
          <a:xfrm>
            <a:off x="3329513" y="1783080"/>
            <a:ext cx="276496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Layout</a:t>
            </a:r>
          </a:p>
        </p:txBody>
      </p:sp>
      <p:sp>
        <p:nvSpPr>
          <p:cNvPr id="11" name="Rectangle 10"/>
          <p:cNvSpPr/>
          <p:nvPr/>
        </p:nvSpPr>
        <p:spPr>
          <a:xfrm>
            <a:off x="6094475" y="1783080"/>
            <a:ext cx="5317237"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Best used for</a:t>
            </a:r>
          </a:p>
        </p:txBody>
      </p:sp>
      <p:sp>
        <p:nvSpPr>
          <p:cNvPr id="13" name="Rectangle 12"/>
          <p:cNvSpPr/>
          <p:nvPr/>
        </p:nvSpPr>
        <p:spPr>
          <a:xfrm>
            <a:off x="777240" y="2286000"/>
            <a:ext cx="2552273"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CSV</a:t>
            </a:r>
          </a:p>
        </p:txBody>
      </p:sp>
      <p:sp>
        <p:nvSpPr>
          <p:cNvPr id="15" name="Rectangle 14"/>
          <p:cNvSpPr/>
          <p:nvPr/>
        </p:nvSpPr>
        <p:spPr>
          <a:xfrm>
            <a:off x="3329513" y="2286000"/>
            <a:ext cx="2764962"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Row, text</a:t>
            </a:r>
          </a:p>
        </p:txBody>
      </p:sp>
      <p:sp>
        <p:nvSpPr>
          <p:cNvPr id="17" name="Rectangle 16"/>
          <p:cNvSpPr/>
          <p:nvPr/>
        </p:nvSpPr>
        <p:spPr>
          <a:xfrm>
            <a:off x="6094475" y="2286000"/>
            <a:ext cx="5317237"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Human-readable ingestion and small tabular datasets</a:t>
            </a:r>
          </a:p>
        </p:txBody>
      </p:sp>
      <p:sp>
        <p:nvSpPr>
          <p:cNvPr id="19" name="Rectangle 18"/>
          <p:cNvSpPr/>
          <p:nvPr/>
        </p:nvSpPr>
        <p:spPr>
          <a:xfrm>
            <a:off x="777240" y="2933700"/>
            <a:ext cx="2552273"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337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JSON</a:t>
            </a:r>
          </a:p>
        </p:txBody>
      </p:sp>
      <p:sp>
        <p:nvSpPr>
          <p:cNvPr id="21" name="Rectangle 20"/>
          <p:cNvSpPr/>
          <p:nvPr/>
        </p:nvSpPr>
        <p:spPr>
          <a:xfrm>
            <a:off x="3329513" y="2933700"/>
            <a:ext cx="2764962"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29337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Semi-structured</a:t>
            </a:r>
          </a:p>
        </p:txBody>
      </p:sp>
      <p:sp>
        <p:nvSpPr>
          <p:cNvPr id="23" name="Rectangle 22"/>
          <p:cNvSpPr/>
          <p:nvPr/>
        </p:nvSpPr>
        <p:spPr>
          <a:xfrm>
            <a:off x="6094475" y="2933700"/>
            <a:ext cx="5317237"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29337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APIs, nested records and event/log data</a:t>
            </a:r>
          </a:p>
        </p:txBody>
      </p:sp>
      <p:sp>
        <p:nvSpPr>
          <p:cNvPr id="25" name="Rectangle 24"/>
          <p:cNvSpPr/>
          <p:nvPr/>
        </p:nvSpPr>
        <p:spPr>
          <a:xfrm>
            <a:off x="777240" y="3581400"/>
            <a:ext cx="2552273"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5814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Parquet</a:t>
            </a:r>
          </a:p>
        </p:txBody>
      </p:sp>
      <p:sp>
        <p:nvSpPr>
          <p:cNvPr id="27" name="Rectangle 26"/>
          <p:cNvSpPr/>
          <p:nvPr/>
        </p:nvSpPr>
        <p:spPr>
          <a:xfrm>
            <a:off x="3329513" y="3581400"/>
            <a:ext cx="2764962"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35814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Columnar, compressed</a:t>
            </a:r>
          </a:p>
        </p:txBody>
      </p:sp>
      <p:sp>
        <p:nvSpPr>
          <p:cNvPr id="29" name="Rectangle 28"/>
          <p:cNvSpPr/>
          <p:nvPr/>
        </p:nvSpPr>
        <p:spPr>
          <a:xfrm>
            <a:off x="6094475" y="3581400"/>
            <a:ext cx="5317237"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35814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Analytics and large-scale SageMaker training</a:t>
            </a:r>
          </a:p>
        </p:txBody>
      </p:sp>
      <p:sp>
        <p:nvSpPr>
          <p:cNvPr id="31" name="Rectangle 30"/>
          <p:cNvSpPr/>
          <p:nvPr/>
        </p:nvSpPr>
        <p:spPr>
          <a:xfrm>
            <a:off x="777240" y="4229100"/>
            <a:ext cx="2552273"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2291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ORC</a:t>
            </a:r>
          </a:p>
        </p:txBody>
      </p:sp>
      <p:sp>
        <p:nvSpPr>
          <p:cNvPr id="33" name="Rectangle 32"/>
          <p:cNvSpPr/>
          <p:nvPr/>
        </p:nvSpPr>
        <p:spPr>
          <a:xfrm>
            <a:off x="3329513" y="4229100"/>
            <a:ext cx="2764962"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42291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Columnar, compressed</a:t>
            </a:r>
          </a:p>
        </p:txBody>
      </p:sp>
      <p:sp>
        <p:nvSpPr>
          <p:cNvPr id="35" name="Rectangle 34"/>
          <p:cNvSpPr/>
          <p:nvPr/>
        </p:nvSpPr>
        <p:spPr>
          <a:xfrm>
            <a:off x="6094475" y="4229100"/>
            <a:ext cx="5317237"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42291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Hive/analytics workloads with predicate push-down</a:t>
            </a:r>
          </a:p>
        </p:txBody>
      </p:sp>
      <p:sp>
        <p:nvSpPr>
          <p:cNvPr id="37" name="Rectangle 36"/>
          <p:cNvSpPr/>
          <p:nvPr/>
        </p:nvSpPr>
        <p:spPr>
          <a:xfrm>
            <a:off x="777240" y="4876800"/>
            <a:ext cx="2552273"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8768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Avro</a:t>
            </a:r>
          </a:p>
        </p:txBody>
      </p:sp>
      <p:sp>
        <p:nvSpPr>
          <p:cNvPr id="39" name="Rectangle 38"/>
          <p:cNvSpPr/>
          <p:nvPr/>
        </p:nvSpPr>
        <p:spPr>
          <a:xfrm>
            <a:off x="3329513" y="4876800"/>
            <a:ext cx="2764962"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57529" y="48768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Row + embedded schema</a:t>
            </a:r>
          </a:p>
        </p:txBody>
      </p:sp>
      <p:sp>
        <p:nvSpPr>
          <p:cNvPr id="41" name="Rectangle 40"/>
          <p:cNvSpPr/>
          <p:nvPr/>
        </p:nvSpPr>
        <p:spPr>
          <a:xfrm>
            <a:off x="6094475" y="4876800"/>
            <a:ext cx="5317237"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2491" y="48768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Streaming and schema evolution</a:t>
            </a:r>
          </a:p>
        </p:txBody>
      </p:sp>
      <p:sp>
        <p:nvSpPr>
          <p:cNvPr id="43" name="Rectangle 42"/>
          <p:cNvSpPr/>
          <p:nvPr/>
        </p:nvSpPr>
        <p:spPr>
          <a:xfrm>
            <a:off x="777240" y="5524500"/>
            <a:ext cx="2552273"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55245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RecordIO-protobuf</a:t>
            </a:r>
          </a:p>
        </p:txBody>
      </p:sp>
      <p:sp>
        <p:nvSpPr>
          <p:cNvPr id="45" name="Rectangle 44"/>
          <p:cNvSpPr/>
          <p:nvPr/>
        </p:nvSpPr>
        <p:spPr>
          <a:xfrm>
            <a:off x="3329513" y="5524500"/>
            <a:ext cx="2764962"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57529" y="55245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Binary</a:t>
            </a:r>
          </a:p>
        </p:txBody>
      </p:sp>
      <p:sp>
        <p:nvSpPr>
          <p:cNvPr id="47" name="Rectangle 46"/>
          <p:cNvSpPr/>
          <p:nvPr/>
        </p:nvSpPr>
        <p:spPr>
          <a:xfrm>
            <a:off x="6094475" y="5524500"/>
            <a:ext cx="5317237"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22491" y="55245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Efficient input to several SageMaker built-in algorithms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KNOW YOUR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Types for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a:t>
            </a:r>
          </a:p>
          <a:p>
            <a:pPr algn="l">
              <a:spcAft>
                <a:spcPts val="300"/>
              </a:spcAft>
            </a:pPr>
            <a:r>
              <a:rPr sz="1200" b="0">
                <a:solidFill>
                  <a:srgbClr val="5B6372"/>
                </a:solidFill>
                <a:latin typeface="Arial"/>
              </a:rPr>
              <a:t>Tabular rows/columns — CSV, Parquet, ORC for analytics and training.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Semi-structured</a:t>
            </a:r>
          </a:p>
          <a:p>
            <a:pPr algn="l">
              <a:spcAft>
                <a:spcPts val="300"/>
              </a:spcAft>
            </a:pPr>
            <a:r>
              <a:rPr sz="1200" b="0">
                <a:solidFill>
                  <a:srgbClr val="5B6372"/>
                </a:solidFill>
                <a:latin typeface="Arial"/>
              </a:rPr>
              <a:t>JSON and Avro — flexible, nested schemas common in ingestion.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Unstructured</a:t>
            </a:r>
          </a:p>
          <a:p>
            <a:pPr algn="l">
              <a:spcAft>
                <a:spcPts val="300"/>
              </a:spcAft>
            </a:pPr>
            <a:r>
              <a:rPr sz="1200" b="0">
                <a:solidFill>
                  <a:srgbClr val="5B6372"/>
                </a:solidFill>
                <a:latin typeface="Arial"/>
              </a:rPr>
              <a:t>Text, image, audio, video for NLP, vision and generative 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Labelled vs unlabelled</a:t>
            </a:r>
          </a:p>
          <a:p>
            <a:pPr algn="l">
              <a:spcAft>
                <a:spcPts val="300"/>
              </a:spcAft>
            </a:pPr>
            <a:r>
              <a:rPr sz="1200" b="0">
                <a:solidFill>
                  <a:srgbClr val="5B6372"/>
                </a:solidFill>
                <a:latin typeface="Arial"/>
              </a:rPr>
              <a:t>Supervised needs labels (Ground Truth); unsupervised does not.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Time-series</a:t>
            </a:r>
          </a:p>
          <a:p>
            <a:pPr algn="l">
              <a:spcAft>
                <a:spcPts val="300"/>
              </a:spcAft>
            </a:pPr>
            <a:r>
              <a:rPr sz="1200" b="0">
                <a:solidFill>
                  <a:srgbClr val="5B6372"/>
                </a:solidFill>
                <a:latin typeface="Arial"/>
              </a:rPr>
              <a:t>Ordered observations for forecasting and anomaly detection.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Streaming vs at-rest</a:t>
            </a:r>
          </a:p>
          <a:p>
            <a:pPr algn="l">
              <a:spcAft>
                <a:spcPts val="300"/>
              </a:spcAft>
            </a:pPr>
            <a:r>
              <a:rPr sz="1200" b="0">
                <a:solidFill>
                  <a:srgbClr val="5B6372"/>
                </a:solidFill>
                <a:latin typeface="Arial"/>
              </a:rPr>
              <a:t>Live events vs data already landed in the S3 data lake.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01 · PROTECT DATA AT REST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Amazon S3 Encryption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Option</a:t>
            </a:r>
          </a:p>
        </p:txBody>
      </p:sp>
      <p:sp>
        <p:nvSpPr>
          <p:cNvPr id="9" name="Rectangle 8"/>
          <p:cNvSpPr/>
          <p:nvPr/>
        </p:nvSpPr>
        <p:spPr>
          <a:xfrm>
            <a:off x="3329513" y="1783080"/>
            <a:ext cx="2764962"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Key management</a:t>
            </a:r>
          </a:p>
        </p:txBody>
      </p:sp>
      <p:sp>
        <p:nvSpPr>
          <p:cNvPr id="11" name="Rectangle 10"/>
          <p:cNvSpPr/>
          <p:nvPr/>
        </p:nvSpPr>
        <p:spPr>
          <a:xfrm>
            <a:off x="6094475" y="1783080"/>
            <a:ext cx="5317237"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Choose when</a:t>
            </a:r>
          </a:p>
        </p:txBody>
      </p:sp>
      <p:sp>
        <p:nvSpPr>
          <p:cNvPr id="13" name="Rectangle 12"/>
          <p:cNvSpPr/>
          <p:nvPr/>
        </p:nvSpPr>
        <p:spPr>
          <a:xfrm>
            <a:off x="777240" y="2286000"/>
            <a:ext cx="2552273"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SSE-S3</a:t>
            </a:r>
          </a:p>
        </p:txBody>
      </p:sp>
      <p:sp>
        <p:nvSpPr>
          <p:cNvPr id="15" name="Rectangle 14"/>
          <p:cNvSpPr/>
          <p:nvPr/>
        </p:nvSpPr>
        <p:spPr>
          <a:xfrm>
            <a:off x="3329513" y="2286000"/>
            <a:ext cx="2764962"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S3-managed AES-256</a:t>
            </a:r>
          </a:p>
        </p:txBody>
      </p:sp>
      <p:sp>
        <p:nvSpPr>
          <p:cNvPr id="17" name="Rectangle 16"/>
          <p:cNvSpPr/>
          <p:nvPr/>
        </p:nvSpPr>
        <p:spPr>
          <a:xfrm>
            <a:off x="6094475" y="2286000"/>
            <a:ext cx="5317237"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A simple, always-on default for training data</a:t>
            </a:r>
          </a:p>
        </p:txBody>
      </p:sp>
      <p:sp>
        <p:nvSpPr>
          <p:cNvPr id="19" name="Rectangle 18"/>
          <p:cNvSpPr/>
          <p:nvPr/>
        </p:nvSpPr>
        <p:spPr>
          <a:xfrm>
            <a:off x="777240" y="3063240"/>
            <a:ext cx="2552273"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6324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SSE-KMS</a:t>
            </a:r>
          </a:p>
        </p:txBody>
      </p:sp>
      <p:sp>
        <p:nvSpPr>
          <p:cNvPr id="21" name="Rectangle 20"/>
          <p:cNvSpPr/>
          <p:nvPr/>
        </p:nvSpPr>
        <p:spPr>
          <a:xfrm>
            <a:off x="3329513" y="3063240"/>
            <a:ext cx="2764962"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06324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AWS KMS (CMK)</a:t>
            </a:r>
          </a:p>
        </p:txBody>
      </p:sp>
      <p:sp>
        <p:nvSpPr>
          <p:cNvPr id="23" name="Rectangle 22"/>
          <p:cNvSpPr/>
          <p:nvPr/>
        </p:nvSpPr>
        <p:spPr>
          <a:xfrm>
            <a:off x="6094475" y="3063240"/>
            <a:ext cx="5317237"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06324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You need audit logs, rotation and access control on the key</a:t>
            </a:r>
          </a:p>
        </p:txBody>
      </p:sp>
      <p:sp>
        <p:nvSpPr>
          <p:cNvPr id="25" name="Rectangle 24"/>
          <p:cNvSpPr/>
          <p:nvPr/>
        </p:nvSpPr>
        <p:spPr>
          <a:xfrm>
            <a:off x="777240" y="3840480"/>
            <a:ext cx="2552273"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84048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SSE-C</a:t>
            </a:r>
          </a:p>
        </p:txBody>
      </p:sp>
      <p:sp>
        <p:nvSpPr>
          <p:cNvPr id="27" name="Rectangle 26"/>
          <p:cNvSpPr/>
          <p:nvPr/>
        </p:nvSpPr>
        <p:spPr>
          <a:xfrm>
            <a:off x="3329513" y="3840480"/>
            <a:ext cx="2764962"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384048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Customer-supplied</a:t>
            </a:r>
          </a:p>
        </p:txBody>
      </p:sp>
      <p:sp>
        <p:nvSpPr>
          <p:cNvPr id="29" name="Rectangle 28"/>
          <p:cNvSpPr/>
          <p:nvPr/>
        </p:nvSpPr>
        <p:spPr>
          <a:xfrm>
            <a:off x="6094475" y="3840480"/>
            <a:ext cx="5317237"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384048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You must hold and provide the key on each request</a:t>
            </a:r>
          </a:p>
        </p:txBody>
      </p:sp>
      <p:sp>
        <p:nvSpPr>
          <p:cNvPr id="31" name="Rectangle 30"/>
          <p:cNvSpPr/>
          <p:nvPr/>
        </p:nvSpPr>
        <p:spPr>
          <a:xfrm>
            <a:off x="777240" y="4617720"/>
            <a:ext cx="2552273"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61772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Client-side</a:t>
            </a:r>
          </a:p>
        </p:txBody>
      </p:sp>
      <p:sp>
        <p:nvSpPr>
          <p:cNvPr id="33" name="Rectangle 32"/>
          <p:cNvSpPr/>
          <p:nvPr/>
        </p:nvSpPr>
        <p:spPr>
          <a:xfrm>
            <a:off x="3329513" y="4617720"/>
            <a:ext cx="2764962"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461772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Encrypted before upload</a:t>
            </a:r>
          </a:p>
        </p:txBody>
      </p:sp>
      <p:sp>
        <p:nvSpPr>
          <p:cNvPr id="35" name="Rectangle 34"/>
          <p:cNvSpPr/>
          <p:nvPr/>
        </p:nvSpPr>
        <p:spPr>
          <a:xfrm>
            <a:off x="6094475" y="4617720"/>
            <a:ext cx="5317237"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461772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Data must be encrypted before it reaches AWS</a:t>
            </a:r>
          </a:p>
        </p:txBody>
      </p:sp>
      <p:sp>
        <p:nvSpPr>
          <p:cNvPr id="37" name="Rectangle 36"/>
          <p:cNvSpPr/>
          <p:nvPr/>
        </p:nvSpPr>
        <p:spPr>
          <a:xfrm>
            <a:off x="777240" y="5394960"/>
            <a:ext cx="2552273"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39496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TLS in transit</a:t>
            </a:r>
          </a:p>
        </p:txBody>
      </p:sp>
      <p:sp>
        <p:nvSpPr>
          <p:cNvPr id="39" name="Rectangle 38"/>
          <p:cNvSpPr/>
          <p:nvPr/>
        </p:nvSpPr>
        <p:spPr>
          <a:xfrm>
            <a:off x="3329513" y="5394960"/>
            <a:ext cx="2764962"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57529" y="539496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HTTPS/SSL</a:t>
            </a:r>
          </a:p>
        </p:txBody>
      </p:sp>
      <p:sp>
        <p:nvSpPr>
          <p:cNvPr id="41" name="Rectangle 40"/>
          <p:cNvSpPr/>
          <p:nvPr/>
        </p:nvSpPr>
        <p:spPr>
          <a:xfrm>
            <a:off x="6094475" y="5394960"/>
            <a:ext cx="5317237"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2491" y="539496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Always — protects data moving to and from S3</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COST-AWARE STORAGE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S3 Storage Classes &amp; Lifecycle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S3 Standard</a:t>
            </a:r>
          </a:p>
          <a:p>
            <a:pPr algn="l">
              <a:spcAft>
                <a:spcPts val="300"/>
              </a:spcAft>
            </a:pPr>
            <a:r>
              <a:rPr sz="1200" b="0">
                <a:solidFill>
                  <a:srgbClr val="5B6372"/>
                </a:solidFill>
                <a:latin typeface="Arial"/>
              </a:rPr>
              <a:t>Hot raw and training data accessed frequently.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Intelligent-Tiering</a:t>
            </a:r>
          </a:p>
          <a:p>
            <a:pPr algn="l">
              <a:spcAft>
                <a:spcPts val="300"/>
              </a:spcAft>
            </a:pPr>
            <a:r>
              <a:rPr sz="1200" b="0">
                <a:solidFill>
                  <a:srgbClr val="5B6372"/>
                </a:solidFill>
                <a:latin typeface="Arial"/>
              </a:rPr>
              <a:t>Unknown/changing access — S3 moves objects automatically.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Standard-IA / One Zone-IA</a:t>
            </a:r>
          </a:p>
          <a:p>
            <a:pPr algn="l">
              <a:spcAft>
                <a:spcPts val="300"/>
              </a:spcAft>
            </a:pPr>
            <a:r>
              <a:rPr sz="1200" b="0">
                <a:solidFill>
                  <a:srgbClr val="5B6372"/>
                </a:solidFill>
                <a:latin typeface="Arial"/>
              </a:rPr>
              <a:t>Prepared datasets kept but read infrequently.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Glacier Instant / Flexible</a:t>
            </a:r>
          </a:p>
          <a:p>
            <a:pPr algn="l">
              <a:spcAft>
                <a:spcPts val="300"/>
              </a:spcAft>
            </a:pPr>
            <a:r>
              <a:rPr sz="1200" b="0">
                <a:solidFill>
                  <a:srgbClr val="5B6372"/>
                </a:solidFill>
                <a:latin typeface="Arial"/>
              </a:rPr>
              <a:t>Archived training snapshots and old model artifacts.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Lifecycle rules</a:t>
            </a:r>
          </a:p>
          <a:p>
            <a:pPr algn="l">
              <a:spcAft>
                <a:spcPts val="300"/>
              </a:spcAft>
            </a:pPr>
            <a:r>
              <a:rPr sz="1200" b="0">
                <a:solidFill>
                  <a:srgbClr val="5B6372"/>
                </a:solidFill>
                <a:latin typeface="Arial"/>
              </a:rPr>
              <a:t>Transition raw→IA→Glacier and expire temp objects on a schedule.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Block Public Access</a:t>
            </a:r>
          </a:p>
          <a:p>
            <a:pPr algn="l">
              <a:spcAft>
                <a:spcPts val="300"/>
              </a:spcAft>
            </a:pPr>
            <a:r>
              <a:rPr sz="1200" b="0">
                <a:solidFill>
                  <a:srgbClr val="5B6372"/>
                </a:solidFill>
                <a:latin typeface="Arial"/>
              </a:rPr>
              <a:t>Keep enabled on every ML bucket to prevent data exposure.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01 · SECURE THE WORKSPACE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IAM &amp; Access Control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Users, groups, roles</a:t>
            </a:r>
          </a:p>
          <a:p>
            <a:pPr algn="l">
              <a:spcAft>
                <a:spcPts val="300"/>
              </a:spcAft>
            </a:pPr>
            <a:r>
              <a:rPr sz="1200" b="0">
                <a:solidFill>
                  <a:srgbClr val="5B6372"/>
                </a:solidFill>
                <a:latin typeface="Arial"/>
              </a:rPr>
              <a:t>Prefer roles over long-lived keys; group common permissions.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Grant only the S3/SageMaker/Glue actions each task needs.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execution role</a:t>
            </a:r>
          </a:p>
          <a:p>
            <a:pPr algn="l">
              <a:spcAft>
                <a:spcPts val="300"/>
              </a:spcAft>
            </a:pPr>
            <a:r>
              <a:rPr sz="1200" b="0">
                <a:solidFill>
                  <a:srgbClr val="5B6372"/>
                </a:solidFill>
                <a:latin typeface="Arial"/>
              </a:rPr>
              <a:t>The role SageMaker assumes to read S3 and write artifacts.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MFA</a:t>
            </a:r>
          </a:p>
          <a:p>
            <a:pPr algn="l">
              <a:spcAft>
                <a:spcPts val="300"/>
              </a:spcAft>
            </a:pPr>
            <a:r>
              <a:rPr sz="1200" b="0">
                <a:solidFill>
                  <a:srgbClr val="5B6372"/>
                </a:solidFill>
                <a:latin typeface="Arial"/>
              </a:rPr>
              <a:t>Protect human sign-in with multi-factor authentication.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Policies &amp; conditions</a:t>
            </a:r>
          </a:p>
          <a:p>
            <a:pPr algn="l">
              <a:spcAft>
                <a:spcPts val="300"/>
              </a:spcAft>
            </a:pPr>
            <a:r>
              <a:rPr sz="1200" b="0">
                <a:solidFill>
                  <a:srgbClr val="5B6372"/>
                </a:solidFill>
                <a:latin typeface="Arial"/>
              </a:rPr>
              <a:t>Identity, resource and permission-boundary policies with conditions.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KMS key policies / grants</a:t>
            </a:r>
          </a:p>
          <a:p>
            <a:pPr algn="l">
              <a:spcAft>
                <a:spcPts val="300"/>
              </a:spcAft>
            </a:pPr>
            <a:r>
              <a:rPr sz="1200" b="0">
                <a:solidFill>
                  <a:srgbClr val="5B6372"/>
                </a:solidFill>
                <a:latin typeface="Arial"/>
              </a:rPr>
              <a:t>Control who can use the CMK that encrypts ML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HOW DATA ARRIVES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Batch vs Streaming Ingestion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329513" y="1783080"/>
            <a:ext cx="276496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Batch</a:t>
            </a:r>
          </a:p>
        </p:txBody>
      </p:sp>
      <p:sp>
        <p:nvSpPr>
          <p:cNvPr id="11" name="Rectangle 10"/>
          <p:cNvSpPr/>
          <p:nvPr/>
        </p:nvSpPr>
        <p:spPr>
          <a:xfrm>
            <a:off x="6094475" y="1783080"/>
            <a:ext cx="5317237"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Streaming</a:t>
            </a:r>
          </a:p>
        </p:txBody>
      </p:sp>
      <p:sp>
        <p:nvSpPr>
          <p:cNvPr id="13" name="Rectangle 12"/>
          <p:cNvSpPr/>
          <p:nvPr/>
        </p:nvSpPr>
        <p:spPr>
          <a:xfrm>
            <a:off x="777240" y="22860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Services</a:t>
            </a:r>
          </a:p>
        </p:txBody>
      </p:sp>
      <p:sp>
        <p:nvSpPr>
          <p:cNvPr id="15" name="Rectangle 14"/>
          <p:cNvSpPr/>
          <p:nvPr/>
        </p:nvSpPr>
        <p:spPr>
          <a:xfrm>
            <a:off x="3329513" y="22860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Glue jobs, EMR (Spark), Athena, DMS</a:t>
            </a:r>
          </a:p>
        </p:txBody>
      </p:sp>
      <p:sp>
        <p:nvSpPr>
          <p:cNvPr id="17" name="Rectangle 16"/>
          <p:cNvSpPr/>
          <p:nvPr/>
        </p:nvSpPr>
        <p:spPr>
          <a:xfrm>
            <a:off x="6094475" y="22860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Kinesis Data Streams, Data Firehose, Managed Kafka</a:t>
            </a:r>
          </a:p>
        </p:txBody>
      </p:sp>
      <p:sp>
        <p:nvSpPr>
          <p:cNvPr id="19" name="Rectangle 18"/>
          <p:cNvSpPr/>
          <p:nvPr/>
        </p:nvSpPr>
        <p:spPr>
          <a:xfrm>
            <a:off x="777240" y="32575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2575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Latency</a:t>
            </a:r>
          </a:p>
        </p:txBody>
      </p:sp>
      <p:sp>
        <p:nvSpPr>
          <p:cNvPr id="21" name="Rectangle 20"/>
          <p:cNvSpPr/>
          <p:nvPr/>
        </p:nvSpPr>
        <p:spPr>
          <a:xfrm>
            <a:off x="3329513" y="32575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2575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Minutes to hours</a:t>
            </a:r>
          </a:p>
        </p:txBody>
      </p:sp>
      <p:sp>
        <p:nvSpPr>
          <p:cNvPr id="23" name="Rectangle 22"/>
          <p:cNvSpPr/>
          <p:nvPr/>
        </p:nvSpPr>
        <p:spPr>
          <a:xfrm>
            <a:off x="6094475" y="32575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2575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Seconds — near real time</a:t>
            </a:r>
          </a:p>
        </p:txBody>
      </p:sp>
      <p:sp>
        <p:nvSpPr>
          <p:cNvPr id="25" name="Rectangle 24"/>
          <p:cNvSpPr/>
          <p:nvPr/>
        </p:nvSpPr>
        <p:spPr>
          <a:xfrm>
            <a:off x="777240" y="42291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2291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Typical use</a:t>
            </a:r>
          </a:p>
        </p:txBody>
      </p:sp>
      <p:sp>
        <p:nvSpPr>
          <p:cNvPr id="27" name="Rectangle 26"/>
          <p:cNvSpPr/>
          <p:nvPr/>
        </p:nvSpPr>
        <p:spPr>
          <a:xfrm>
            <a:off x="3329513" y="42291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42291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Nightly ETL, historical reprocessing</a:t>
            </a:r>
          </a:p>
        </p:txBody>
      </p:sp>
      <p:sp>
        <p:nvSpPr>
          <p:cNvPr id="29" name="Rectangle 28"/>
          <p:cNvSpPr/>
          <p:nvPr/>
        </p:nvSpPr>
        <p:spPr>
          <a:xfrm>
            <a:off x="6094475" y="42291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42291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Clickstream, IoT, live features</a:t>
            </a:r>
          </a:p>
        </p:txBody>
      </p:sp>
      <p:sp>
        <p:nvSpPr>
          <p:cNvPr id="31" name="Rectangle 30"/>
          <p:cNvSpPr/>
          <p:nvPr/>
        </p:nvSpPr>
        <p:spPr>
          <a:xfrm>
            <a:off x="777240" y="52006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52006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Lands in</a:t>
            </a:r>
          </a:p>
        </p:txBody>
      </p:sp>
      <p:sp>
        <p:nvSpPr>
          <p:cNvPr id="33" name="Rectangle 32"/>
          <p:cNvSpPr/>
          <p:nvPr/>
        </p:nvSpPr>
        <p:spPr>
          <a:xfrm>
            <a:off x="3329513" y="52006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52006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S3 data lake, cataloged by Glue</a:t>
            </a:r>
          </a:p>
        </p:txBody>
      </p:sp>
      <p:sp>
        <p:nvSpPr>
          <p:cNvPr id="35" name="Rectangle 34"/>
          <p:cNvSpPr/>
          <p:nvPr/>
        </p:nvSpPr>
        <p:spPr>
          <a:xfrm>
            <a:off x="6094475" y="52006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52006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S3/Firehose → Glue crawler → Catalog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CATALOG &amp; TRANSFORM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AWS Glue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Crawlers</a:t>
            </a:r>
          </a:p>
          <a:p>
            <a:pPr algn="l">
              <a:spcAft>
                <a:spcPts val="300"/>
              </a:spcAft>
            </a:pPr>
            <a:r>
              <a:rPr sz="1200" b="0">
                <a:solidFill>
                  <a:srgbClr val="5B6372"/>
                </a:solidFill>
                <a:latin typeface="Arial"/>
              </a:rPr>
              <a:t>Scan S3, infer schema and populate the Data Catalog.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Catalog</a:t>
            </a:r>
          </a:p>
          <a:p>
            <a:pPr algn="l">
              <a:spcAft>
                <a:spcPts val="300"/>
              </a:spcAft>
            </a:pPr>
            <a:r>
              <a:rPr sz="1200" b="0">
                <a:solidFill>
                  <a:srgbClr val="5B6372"/>
                </a:solidFill>
                <a:latin typeface="Arial"/>
              </a:rPr>
              <a:t>Central table/partition metadata shared by Athena, EMR, SageMaker.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Glue ETL jobs</a:t>
            </a:r>
          </a:p>
          <a:p>
            <a:pPr algn="l">
              <a:spcAft>
                <a:spcPts val="300"/>
              </a:spcAft>
            </a:pPr>
            <a:r>
              <a:rPr sz="1200" b="0">
                <a:solidFill>
                  <a:srgbClr val="5B6372"/>
                </a:solidFill>
                <a:latin typeface="Arial"/>
              </a:rPr>
              <a:t>Serverless Spark jobs that clean and reshape data to Parquet.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Glue DataBrew</a:t>
            </a:r>
          </a:p>
          <a:p>
            <a:pPr algn="l">
              <a:spcAft>
                <a:spcPts val="300"/>
              </a:spcAft>
            </a:pPr>
            <a:r>
              <a:rPr sz="1200" b="0">
                <a:solidFill>
                  <a:srgbClr val="5B6372"/>
                </a:solidFill>
                <a:latin typeface="Arial"/>
              </a:rPr>
              <a:t>Visual, no-code profiling and cleaning of datasets.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Glue Data Quality</a:t>
            </a:r>
          </a:p>
          <a:p>
            <a:pPr algn="l">
              <a:spcAft>
                <a:spcPts val="300"/>
              </a:spcAft>
            </a:pPr>
            <a:r>
              <a:rPr sz="1200" b="0">
                <a:solidFill>
                  <a:srgbClr val="5B6372"/>
                </a:solidFill>
                <a:latin typeface="Arial"/>
              </a:rPr>
              <a:t>Rule-based checks for nulls, ranges, uniqueness and freshness.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Triggers &amp; workflows</a:t>
            </a:r>
          </a:p>
          <a:p>
            <a:pPr algn="l">
              <a:spcAft>
                <a:spcPts val="300"/>
              </a:spcAft>
            </a:pPr>
            <a:r>
              <a:rPr sz="1200" b="0">
                <a:solidFill>
                  <a:srgbClr val="5B6372"/>
                </a:solidFill>
                <a:latin typeface="Arial"/>
              </a:rPr>
              <a:t>Schedule or event-chain crawlers and jobs into a pipeline.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REAL-TIME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Streaming Ingestion Family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Service</a:t>
            </a:r>
          </a:p>
        </p:txBody>
      </p:sp>
      <p:sp>
        <p:nvSpPr>
          <p:cNvPr id="9" name="Rectangle 8"/>
          <p:cNvSpPr/>
          <p:nvPr/>
        </p:nvSpPr>
        <p:spPr>
          <a:xfrm>
            <a:off x="3329513" y="1783080"/>
            <a:ext cx="276496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Does</a:t>
            </a:r>
          </a:p>
        </p:txBody>
      </p:sp>
      <p:sp>
        <p:nvSpPr>
          <p:cNvPr id="11" name="Rectangle 10"/>
          <p:cNvSpPr/>
          <p:nvPr/>
        </p:nvSpPr>
        <p:spPr>
          <a:xfrm>
            <a:off x="6094475" y="1783080"/>
            <a:ext cx="5317237"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Best for</a:t>
            </a:r>
          </a:p>
        </p:txBody>
      </p:sp>
      <p:sp>
        <p:nvSpPr>
          <p:cNvPr id="13" name="Rectangle 12"/>
          <p:cNvSpPr/>
          <p:nvPr/>
        </p:nvSpPr>
        <p:spPr>
          <a:xfrm>
            <a:off x="777240" y="22860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Kinesis Data Streams</a:t>
            </a:r>
          </a:p>
        </p:txBody>
      </p:sp>
      <p:sp>
        <p:nvSpPr>
          <p:cNvPr id="15" name="Rectangle 14"/>
          <p:cNvSpPr/>
          <p:nvPr/>
        </p:nvSpPr>
        <p:spPr>
          <a:xfrm>
            <a:off x="3329513" y="22860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Durable, shard-based real-time stream</a:t>
            </a:r>
          </a:p>
        </p:txBody>
      </p:sp>
      <p:sp>
        <p:nvSpPr>
          <p:cNvPr id="17" name="Rectangle 16"/>
          <p:cNvSpPr/>
          <p:nvPr/>
        </p:nvSpPr>
        <p:spPr>
          <a:xfrm>
            <a:off x="6094475" y="22860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Custom consumers, sub-second processing</a:t>
            </a:r>
          </a:p>
        </p:txBody>
      </p:sp>
      <p:sp>
        <p:nvSpPr>
          <p:cNvPr id="19" name="Rectangle 18"/>
          <p:cNvSpPr/>
          <p:nvPr/>
        </p:nvSpPr>
        <p:spPr>
          <a:xfrm>
            <a:off x="777240" y="32575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2575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Kinesis Data Firehose</a:t>
            </a:r>
          </a:p>
        </p:txBody>
      </p:sp>
      <p:sp>
        <p:nvSpPr>
          <p:cNvPr id="21" name="Rectangle 20"/>
          <p:cNvSpPr/>
          <p:nvPr/>
        </p:nvSpPr>
        <p:spPr>
          <a:xfrm>
            <a:off x="3329513" y="32575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2575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Managed delivery to S3/Redshift/OpenSearch</a:t>
            </a:r>
          </a:p>
        </p:txBody>
      </p:sp>
      <p:sp>
        <p:nvSpPr>
          <p:cNvPr id="23" name="Rectangle 22"/>
          <p:cNvSpPr/>
          <p:nvPr/>
        </p:nvSpPr>
        <p:spPr>
          <a:xfrm>
            <a:off x="6094475" y="32575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2575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No-code load of streams into the lake</a:t>
            </a:r>
          </a:p>
        </p:txBody>
      </p:sp>
      <p:sp>
        <p:nvSpPr>
          <p:cNvPr id="25" name="Rectangle 24"/>
          <p:cNvSpPr/>
          <p:nvPr/>
        </p:nvSpPr>
        <p:spPr>
          <a:xfrm>
            <a:off x="777240" y="42291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2291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Managed Service for Kafka</a:t>
            </a:r>
          </a:p>
        </p:txBody>
      </p:sp>
      <p:sp>
        <p:nvSpPr>
          <p:cNvPr id="27" name="Rectangle 26"/>
          <p:cNvSpPr/>
          <p:nvPr/>
        </p:nvSpPr>
        <p:spPr>
          <a:xfrm>
            <a:off x="3329513" y="42291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42291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Managed Apache Kafka (MSK)</a:t>
            </a:r>
          </a:p>
        </p:txBody>
      </p:sp>
      <p:sp>
        <p:nvSpPr>
          <p:cNvPr id="29" name="Rectangle 28"/>
          <p:cNvSpPr/>
          <p:nvPr/>
        </p:nvSpPr>
        <p:spPr>
          <a:xfrm>
            <a:off x="6094475" y="42291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42291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Kafka-based ecosystems and high throughput</a:t>
            </a:r>
          </a:p>
        </p:txBody>
      </p:sp>
      <p:sp>
        <p:nvSpPr>
          <p:cNvPr id="31" name="Rectangle 30"/>
          <p:cNvSpPr/>
          <p:nvPr/>
        </p:nvSpPr>
        <p:spPr>
          <a:xfrm>
            <a:off x="777240" y="52006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52006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Managed Flink</a:t>
            </a:r>
          </a:p>
        </p:txBody>
      </p:sp>
      <p:sp>
        <p:nvSpPr>
          <p:cNvPr id="33" name="Rectangle 32"/>
          <p:cNvSpPr/>
          <p:nvPr/>
        </p:nvSpPr>
        <p:spPr>
          <a:xfrm>
            <a:off x="3329513" y="52006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52006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Real-time analytics on streams</a:t>
            </a:r>
          </a:p>
        </p:txBody>
      </p:sp>
      <p:sp>
        <p:nvSpPr>
          <p:cNvPr id="35" name="Rectangle 34"/>
          <p:cNvSpPr/>
          <p:nvPr/>
        </p:nvSpPr>
        <p:spPr>
          <a:xfrm>
            <a:off x="6094475" y="52006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52006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In-stream aggregation and feature computation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01 · SHAPE THE FEATURES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Feature Engineering Transforms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Missing-value imputation</a:t>
            </a:r>
          </a:p>
          <a:p>
            <a:pPr algn="l">
              <a:spcAft>
                <a:spcPts val="300"/>
              </a:spcAft>
            </a:pPr>
            <a:r>
              <a:rPr sz="1200" b="0">
                <a:solidFill>
                  <a:srgbClr val="5B6372"/>
                </a:solidFill>
                <a:latin typeface="Arial"/>
              </a:rPr>
              <a:t>Fill nulls with mean/median/mode or a model.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Scaling / normalisation</a:t>
            </a:r>
          </a:p>
          <a:p>
            <a:pPr algn="l">
              <a:spcAft>
                <a:spcPts val="300"/>
              </a:spcAft>
            </a:pPr>
            <a:r>
              <a:rPr sz="1200" b="0">
                <a:solidFill>
                  <a:srgbClr val="5B6372"/>
                </a:solidFill>
                <a:latin typeface="Arial"/>
              </a:rPr>
              <a:t>Standardise or min-max scale numeric features.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Encoding categoricals</a:t>
            </a:r>
          </a:p>
          <a:p>
            <a:pPr algn="l">
              <a:spcAft>
                <a:spcPts val="300"/>
              </a:spcAft>
            </a:pPr>
            <a:r>
              <a:rPr sz="1200" b="0">
                <a:solidFill>
                  <a:srgbClr val="5B6372"/>
                </a:solidFill>
                <a:latin typeface="Arial"/>
              </a:rPr>
              <a:t>One-hot, label or target encoding for categories.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Binning &amp; bucketing</a:t>
            </a:r>
          </a:p>
          <a:p>
            <a:pPr algn="l">
              <a:spcAft>
                <a:spcPts val="300"/>
              </a:spcAft>
            </a:pPr>
            <a:r>
              <a:rPr sz="1200" b="0">
                <a:solidFill>
                  <a:srgbClr val="5B6372"/>
                </a:solidFill>
                <a:latin typeface="Arial"/>
              </a:rPr>
              <a:t>Group continuous values into ranges.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Outlier handling</a:t>
            </a:r>
          </a:p>
          <a:p>
            <a:pPr algn="l">
              <a:spcAft>
                <a:spcPts val="300"/>
              </a:spcAft>
            </a:pPr>
            <a:r>
              <a:rPr sz="1200" b="0">
                <a:solidFill>
                  <a:srgbClr val="5B6372"/>
                </a:solidFill>
                <a:latin typeface="Arial"/>
              </a:rPr>
              <a:t>Cap, clip or remove extreme values.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Avoid data leakage</a:t>
            </a:r>
          </a:p>
          <a:p>
            <a:pPr algn="l">
              <a:spcAft>
                <a:spcPts val="300"/>
              </a:spcAft>
            </a:pPr>
            <a:r>
              <a:rPr sz="1200" b="0">
                <a:solidFill>
                  <a:srgbClr val="5B6372"/>
                </a:solidFill>
                <a:latin typeface="Arial"/>
              </a:rPr>
              <a:t>Never use future/target-derived information as a feature.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01 · REUSABLE FEATURES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Feature Store — Online vs Offline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Store</a:t>
            </a:r>
          </a:p>
        </p:txBody>
      </p:sp>
      <p:sp>
        <p:nvSpPr>
          <p:cNvPr id="9" name="Rectangle 8"/>
          <p:cNvSpPr/>
          <p:nvPr/>
        </p:nvSpPr>
        <p:spPr>
          <a:xfrm>
            <a:off x="3329513" y="1783080"/>
            <a:ext cx="276496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Latency</a:t>
            </a:r>
          </a:p>
        </p:txBody>
      </p:sp>
      <p:sp>
        <p:nvSpPr>
          <p:cNvPr id="11" name="Rectangle 10"/>
          <p:cNvSpPr/>
          <p:nvPr/>
        </p:nvSpPr>
        <p:spPr>
          <a:xfrm>
            <a:off x="6094475" y="1783080"/>
            <a:ext cx="5317237"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Used for</a:t>
            </a:r>
          </a:p>
        </p:txBody>
      </p:sp>
      <p:sp>
        <p:nvSpPr>
          <p:cNvPr id="13" name="Rectangle 12"/>
          <p:cNvSpPr/>
          <p:nvPr/>
        </p:nvSpPr>
        <p:spPr>
          <a:xfrm>
            <a:off x="777240" y="22860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Online store</a:t>
            </a:r>
          </a:p>
        </p:txBody>
      </p:sp>
      <p:sp>
        <p:nvSpPr>
          <p:cNvPr id="15" name="Rectangle 14"/>
          <p:cNvSpPr/>
          <p:nvPr/>
        </p:nvSpPr>
        <p:spPr>
          <a:xfrm>
            <a:off x="3329513" y="22860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Single-digit ms</a:t>
            </a:r>
          </a:p>
        </p:txBody>
      </p:sp>
      <p:sp>
        <p:nvSpPr>
          <p:cNvPr id="17" name="Rectangle 16"/>
          <p:cNvSpPr/>
          <p:nvPr/>
        </p:nvSpPr>
        <p:spPr>
          <a:xfrm>
            <a:off x="6094475" y="22860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Real-time inference feature lookups</a:t>
            </a:r>
          </a:p>
        </p:txBody>
      </p:sp>
      <p:sp>
        <p:nvSpPr>
          <p:cNvPr id="19" name="Rectangle 18"/>
          <p:cNvSpPr/>
          <p:nvPr/>
        </p:nvSpPr>
        <p:spPr>
          <a:xfrm>
            <a:off x="777240" y="32575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2575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Offline store</a:t>
            </a:r>
          </a:p>
        </p:txBody>
      </p:sp>
      <p:sp>
        <p:nvSpPr>
          <p:cNvPr id="21" name="Rectangle 20"/>
          <p:cNvSpPr/>
          <p:nvPr/>
        </p:nvSpPr>
        <p:spPr>
          <a:xfrm>
            <a:off x="3329513" y="32575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2575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Batch (S3)</a:t>
            </a:r>
          </a:p>
        </p:txBody>
      </p:sp>
      <p:sp>
        <p:nvSpPr>
          <p:cNvPr id="23" name="Rectangle 22"/>
          <p:cNvSpPr/>
          <p:nvPr/>
        </p:nvSpPr>
        <p:spPr>
          <a:xfrm>
            <a:off x="6094475" y="32575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2575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Training datasets and historical analysis</a:t>
            </a:r>
          </a:p>
        </p:txBody>
      </p:sp>
      <p:sp>
        <p:nvSpPr>
          <p:cNvPr id="25" name="Rectangle 24"/>
          <p:cNvSpPr/>
          <p:nvPr/>
        </p:nvSpPr>
        <p:spPr>
          <a:xfrm>
            <a:off x="777240" y="42291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2291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Feature groups</a:t>
            </a:r>
          </a:p>
        </p:txBody>
      </p:sp>
      <p:sp>
        <p:nvSpPr>
          <p:cNvPr id="27" name="Rectangle 26"/>
          <p:cNvSpPr/>
          <p:nvPr/>
        </p:nvSpPr>
        <p:spPr>
          <a:xfrm>
            <a:off x="3329513" y="42291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42291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a:t>
            </a:r>
          </a:p>
        </p:txBody>
      </p:sp>
      <p:sp>
        <p:nvSpPr>
          <p:cNvPr id="29" name="Rectangle 28"/>
          <p:cNvSpPr/>
          <p:nvPr/>
        </p:nvSpPr>
        <p:spPr>
          <a:xfrm>
            <a:off x="6094475" y="42291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42291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Versioned schema of related features</a:t>
            </a:r>
          </a:p>
        </p:txBody>
      </p:sp>
      <p:sp>
        <p:nvSpPr>
          <p:cNvPr id="31" name="Rectangle 30"/>
          <p:cNvSpPr/>
          <p:nvPr/>
        </p:nvSpPr>
        <p:spPr>
          <a:xfrm>
            <a:off x="777240" y="52006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52006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Consistency</a:t>
            </a:r>
          </a:p>
        </p:txBody>
      </p:sp>
      <p:sp>
        <p:nvSpPr>
          <p:cNvPr id="33" name="Rectangle 32"/>
          <p:cNvSpPr/>
          <p:nvPr/>
        </p:nvSpPr>
        <p:spPr>
          <a:xfrm>
            <a:off x="3329513" y="52006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52006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a:t>
            </a:r>
          </a:p>
        </p:txBody>
      </p:sp>
      <p:sp>
        <p:nvSpPr>
          <p:cNvPr id="35" name="Rectangle 34"/>
          <p:cNvSpPr/>
          <p:nvPr/>
        </p:nvSpPr>
        <p:spPr>
          <a:xfrm>
            <a:off x="6094475" y="52006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52006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Same feature definition for train and serve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TRUSTWORTHY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Labelling, Data Quality &amp; Bias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 Truth</a:t>
            </a:r>
          </a:p>
          <a:p>
            <a:pPr algn="l">
              <a:spcAft>
                <a:spcPts val="300"/>
              </a:spcAft>
            </a:pPr>
            <a:r>
              <a:rPr sz="1200" b="0">
                <a:solidFill>
                  <a:srgbClr val="5B6372"/>
                </a:solidFill>
                <a:latin typeface="Arial"/>
              </a:rPr>
              <a:t>Managed labelling for text, image and tabular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Human-in-the-loop</a:t>
            </a:r>
          </a:p>
          <a:p>
            <a:pPr algn="l">
              <a:spcAft>
                <a:spcPts val="300"/>
              </a:spcAft>
            </a:pPr>
            <a:r>
              <a:rPr sz="1200" b="0">
                <a:solidFill>
                  <a:srgbClr val="5B6372"/>
                </a:solidFill>
                <a:latin typeface="Arial"/>
              </a:rPr>
              <a:t>A2I adds human review to low-confidence predictions.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Automated labelling</a:t>
            </a:r>
          </a:p>
          <a:p>
            <a:pPr algn="l">
              <a:spcAft>
                <a:spcPts val="300"/>
              </a:spcAft>
            </a:pPr>
            <a:r>
              <a:rPr sz="1200" b="0">
                <a:solidFill>
                  <a:srgbClr val="5B6372"/>
                </a:solidFill>
                <a:latin typeface="Arial"/>
              </a:rPr>
              <a:t>Active learning labels the easy cases to cut cost.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Glue Data Quality</a:t>
            </a:r>
          </a:p>
          <a:p>
            <a:pPr algn="l">
              <a:spcAft>
                <a:spcPts val="300"/>
              </a:spcAft>
            </a:pPr>
            <a:r>
              <a:rPr sz="1200" b="0">
                <a:solidFill>
                  <a:srgbClr val="5B6372"/>
                </a:solidFill>
                <a:latin typeface="Arial"/>
              </a:rPr>
              <a:t>Automated rule checks on nulls, ranges and freshness.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Clarify pre-training bias</a:t>
            </a:r>
          </a:p>
          <a:p>
            <a:pPr algn="l">
              <a:spcAft>
                <a:spcPts val="300"/>
              </a:spcAft>
            </a:pPr>
            <a:r>
              <a:rPr sz="1200" b="0">
                <a:solidFill>
                  <a:srgbClr val="5B6372"/>
                </a:solidFill>
                <a:latin typeface="Arial"/>
              </a:rPr>
              <a:t>Detect class imbalance and skew before training.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Data-leakage checks</a:t>
            </a:r>
          </a:p>
          <a:p>
            <a:pPr algn="l">
              <a:spcAft>
                <a:spcPts val="300"/>
              </a:spcAft>
            </a:pPr>
            <a:r>
              <a:rPr sz="1200" b="0">
                <a:solidFill>
                  <a:srgbClr val="5B6372"/>
                </a:solidFill>
                <a:latin typeface="Arial"/>
              </a:rPr>
              <a:t>Remove target/future signals that inflate scores.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PICK THE RIGHT TOOL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 Data-Preparation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Visual, no-code cleaning and profiling</a:t>
            </a:r>
          </a:p>
        </p:txBody>
      </p:sp>
      <p:sp>
        <p:nvSpPr>
          <p:cNvPr id="10" name="TextBox 9"/>
          <p:cNvSpPr txBox="1"/>
          <p:nvPr/>
        </p:nvSpPr>
        <p:spPr>
          <a:xfrm>
            <a:off x="6446520" y="1783080"/>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1" name="Rectangle 10"/>
          <p:cNvSpPr/>
          <p:nvPr/>
        </p:nvSpPr>
        <p:spPr>
          <a:xfrm>
            <a:off x="6931152" y="1783080"/>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AWS Glue DataBrew</a:t>
            </a:r>
          </a:p>
        </p:txBody>
      </p:sp>
      <p:sp>
        <p:nvSpPr>
          <p:cNvPr id="14" name="Rectangle 13"/>
          <p:cNvSpPr/>
          <p:nvPr/>
        </p:nvSpPr>
        <p:spPr>
          <a:xfrm>
            <a:off x="777240" y="2430997"/>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430997"/>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430997"/>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Interactive feature engineering for ML</a:t>
            </a:r>
          </a:p>
        </p:txBody>
      </p:sp>
      <p:sp>
        <p:nvSpPr>
          <p:cNvPr id="17" name="TextBox 16"/>
          <p:cNvSpPr txBox="1"/>
          <p:nvPr/>
        </p:nvSpPr>
        <p:spPr>
          <a:xfrm>
            <a:off x="6446520" y="2430997"/>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931152" y="2430997"/>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430997"/>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430997"/>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SageMaker Data Wrangler</a:t>
            </a:r>
          </a:p>
        </p:txBody>
      </p:sp>
      <p:sp>
        <p:nvSpPr>
          <p:cNvPr id="21" name="Rectangle 20"/>
          <p:cNvSpPr/>
          <p:nvPr/>
        </p:nvSpPr>
        <p:spPr>
          <a:xfrm>
            <a:off x="777240" y="3078914"/>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078914"/>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078914"/>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Large-scale distributed ETL (Spark)</a:t>
            </a:r>
          </a:p>
        </p:txBody>
      </p:sp>
      <p:sp>
        <p:nvSpPr>
          <p:cNvPr id="24" name="TextBox 23"/>
          <p:cNvSpPr txBox="1"/>
          <p:nvPr/>
        </p:nvSpPr>
        <p:spPr>
          <a:xfrm>
            <a:off x="6446520" y="3078914"/>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931152" y="3078914"/>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078914"/>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078914"/>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AWS Glue jobs or Amazon EMR</a:t>
            </a:r>
          </a:p>
        </p:txBody>
      </p:sp>
      <p:sp>
        <p:nvSpPr>
          <p:cNvPr id="28" name="Rectangle 27"/>
          <p:cNvSpPr/>
          <p:nvPr/>
        </p:nvSpPr>
        <p:spPr>
          <a:xfrm>
            <a:off x="777240" y="3726831"/>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3726831"/>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3726831"/>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Ad-hoc SQL exploration of data in S3</a:t>
            </a:r>
          </a:p>
        </p:txBody>
      </p:sp>
      <p:sp>
        <p:nvSpPr>
          <p:cNvPr id="31" name="TextBox 30"/>
          <p:cNvSpPr txBox="1"/>
          <p:nvPr/>
        </p:nvSpPr>
        <p:spPr>
          <a:xfrm>
            <a:off x="6446520" y="3726831"/>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2" name="Rectangle 31"/>
          <p:cNvSpPr/>
          <p:nvPr/>
        </p:nvSpPr>
        <p:spPr>
          <a:xfrm>
            <a:off x="6931152" y="3726831"/>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3726831"/>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726831"/>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Amazon Athena</a:t>
            </a:r>
          </a:p>
        </p:txBody>
      </p:sp>
      <p:sp>
        <p:nvSpPr>
          <p:cNvPr id="35" name="Rectangle 34"/>
          <p:cNvSpPr/>
          <p:nvPr/>
        </p:nvSpPr>
        <p:spPr>
          <a:xfrm>
            <a:off x="777240" y="4374748"/>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4374748"/>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4374748"/>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Near-real-time event ingestion into S3</a:t>
            </a:r>
          </a:p>
        </p:txBody>
      </p:sp>
      <p:sp>
        <p:nvSpPr>
          <p:cNvPr id="38" name="TextBox 37"/>
          <p:cNvSpPr txBox="1"/>
          <p:nvPr/>
        </p:nvSpPr>
        <p:spPr>
          <a:xfrm>
            <a:off x="6446520" y="4374748"/>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9" name="Rectangle 38"/>
          <p:cNvSpPr/>
          <p:nvPr/>
        </p:nvSpPr>
        <p:spPr>
          <a:xfrm>
            <a:off x="6931152" y="4374748"/>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4374748"/>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4374748"/>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Kinesis Data Firehose</a:t>
            </a:r>
          </a:p>
        </p:txBody>
      </p:sp>
      <p:sp>
        <p:nvSpPr>
          <p:cNvPr id="42" name="Rectangle 41"/>
          <p:cNvSpPr/>
          <p:nvPr/>
        </p:nvSpPr>
        <p:spPr>
          <a:xfrm>
            <a:off x="777240" y="5022665"/>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022665"/>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022665"/>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Reusable features shared train/serve</a:t>
            </a:r>
          </a:p>
        </p:txBody>
      </p:sp>
      <p:sp>
        <p:nvSpPr>
          <p:cNvPr id="45" name="TextBox 44"/>
          <p:cNvSpPr txBox="1"/>
          <p:nvPr/>
        </p:nvSpPr>
        <p:spPr>
          <a:xfrm>
            <a:off x="6446520" y="5022665"/>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46" name="Rectangle 45"/>
          <p:cNvSpPr/>
          <p:nvPr/>
        </p:nvSpPr>
        <p:spPr>
          <a:xfrm>
            <a:off x="6931152" y="5022665"/>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31152" y="5022665"/>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05472" y="5022665"/>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SageMaker Feature Store</a:t>
            </a:r>
          </a:p>
        </p:txBody>
      </p:sp>
      <p:sp>
        <p:nvSpPr>
          <p:cNvPr id="49" name="Rectangle 48"/>
          <p:cNvSpPr/>
          <p:nvPr/>
        </p:nvSpPr>
        <p:spPr>
          <a:xfrm>
            <a:off x="777240" y="5670582"/>
            <a:ext cx="566928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670582"/>
            <a:ext cx="91440" cy="501613"/>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670582"/>
            <a:ext cx="5266944" cy="501613"/>
          </a:xfrm>
          <a:prstGeom prst="rect">
            <a:avLst/>
          </a:prstGeom>
          <a:noFill/>
        </p:spPr>
        <p:txBody>
          <a:bodyPr wrap="square" anchor="ctr">
            <a:spAutoFit/>
          </a:bodyPr>
          <a:lstStyle/>
          <a:p>
            <a:pPr algn="l">
              <a:spcAft>
                <a:spcPts val="400"/>
              </a:spcAft>
            </a:pPr>
            <a:r>
              <a:rPr sz="1300" b="0">
                <a:solidFill>
                  <a:srgbClr val="161B26"/>
                </a:solidFill>
                <a:latin typeface="Arial"/>
              </a:rPr>
              <a:t>Data labelling for text/image/tabular</a:t>
            </a:r>
          </a:p>
        </p:txBody>
      </p:sp>
      <p:sp>
        <p:nvSpPr>
          <p:cNvPr id="52" name="TextBox 51"/>
          <p:cNvSpPr txBox="1"/>
          <p:nvPr/>
        </p:nvSpPr>
        <p:spPr>
          <a:xfrm>
            <a:off x="6446520" y="5670582"/>
            <a:ext cx="484632" cy="501613"/>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53" name="Rectangle 52"/>
          <p:cNvSpPr/>
          <p:nvPr/>
        </p:nvSpPr>
        <p:spPr>
          <a:xfrm>
            <a:off x="6931152" y="5670582"/>
            <a:ext cx="4480560" cy="50161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931152" y="5670582"/>
            <a:ext cx="91440" cy="50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05472" y="5670582"/>
            <a:ext cx="4078224" cy="501613"/>
          </a:xfrm>
          <a:prstGeom prst="rect">
            <a:avLst/>
          </a:prstGeom>
          <a:noFill/>
        </p:spPr>
        <p:txBody>
          <a:bodyPr wrap="square" anchor="ctr">
            <a:spAutoFit/>
          </a:bodyPr>
          <a:lstStyle/>
          <a:p>
            <a:pPr algn="l">
              <a:spcAft>
                <a:spcPts val="400"/>
              </a:spcAft>
            </a:pPr>
            <a:r>
              <a:rPr sz="1300" b="1">
                <a:solidFill>
                  <a:srgbClr val="1F6FEB"/>
                </a:solidFill>
                <a:latin typeface="Arial"/>
              </a:rPr>
              <a:t>SageMaker Ground Truth</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QUERY IN PLACE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Amazon Athena &amp; the Glue Data Catalog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Serverless SQL</a:t>
            </a:r>
          </a:p>
          <a:p>
            <a:pPr algn="l">
              <a:spcAft>
                <a:spcPts val="300"/>
              </a:spcAft>
            </a:pPr>
            <a:r>
              <a:rPr sz="1200" b="0">
                <a:solidFill>
                  <a:srgbClr val="5B6372"/>
                </a:solidFill>
                <a:latin typeface="Arial"/>
              </a:rPr>
              <a:t>Query S3 data directly with standard SQL — no servers.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Glue Data Catalog</a:t>
            </a:r>
          </a:p>
          <a:p>
            <a:pPr algn="l">
              <a:spcAft>
                <a:spcPts val="300"/>
              </a:spcAft>
            </a:pPr>
            <a:r>
              <a:rPr sz="1200" b="0">
                <a:solidFill>
                  <a:srgbClr val="5B6372"/>
                </a:solidFill>
                <a:latin typeface="Arial"/>
              </a:rPr>
              <a:t>Shared table/partition metadata for Athena and SageMaker.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Partitioning</a:t>
            </a:r>
          </a:p>
          <a:p>
            <a:pPr algn="l">
              <a:spcAft>
                <a:spcPts val="300"/>
              </a:spcAft>
            </a:pPr>
            <a:r>
              <a:rPr sz="1200" b="0">
                <a:solidFill>
                  <a:srgbClr val="5B6372"/>
                </a:solidFill>
                <a:latin typeface="Arial"/>
              </a:rPr>
              <a:t>Partition by date/key to cut scan cost and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Columnar wins</a:t>
            </a:r>
          </a:p>
          <a:p>
            <a:pPr algn="l">
              <a:spcAft>
                <a:spcPts val="300"/>
              </a:spcAft>
            </a:pPr>
            <a:r>
              <a:rPr sz="1200" b="0">
                <a:solidFill>
                  <a:srgbClr val="5B6372"/>
                </a:solidFill>
                <a:latin typeface="Arial"/>
              </a:rPr>
              <a:t>Parquet/ORC scan far less data than CSV.</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CTAS / views</a:t>
            </a:r>
          </a:p>
          <a:p>
            <a:pPr algn="l">
              <a:spcAft>
                <a:spcPts val="300"/>
              </a:spcAft>
            </a:pPr>
            <a:r>
              <a:rPr sz="1200" b="0">
                <a:solidFill>
                  <a:srgbClr val="5B6372"/>
                </a:solidFill>
                <a:latin typeface="Arial"/>
              </a:rPr>
              <a:t>Create prepared tables and reusable views for ML.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 model</a:t>
            </a:r>
          </a:p>
          <a:p>
            <a:pPr algn="l">
              <a:spcAft>
                <a:spcPts val="300"/>
              </a:spcAft>
            </a:pPr>
            <a:r>
              <a:rPr sz="1200" b="0">
                <a:solidFill>
                  <a:srgbClr val="5B6372"/>
                </a:solidFill>
                <a:latin typeface="Arial"/>
              </a:rPr>
              <a:t>You pay per terabyte scanned — prune columns and partitions.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01 · VISUAL FEATURE PREP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Data Wrangler Transforms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Import</a:t>
            </a:r>
          </a:p>
          <a:p>
            <a:pPr algn="l">
              <a:spcAft>
                <a:spcPts val="300"/>
              </a:spcAft>
            </a:pPr>
            <a:r>
              <a:rPr sz="1200" b="0">
                <a:solidFill>
                  <a:srgbClr val="5B6372"/>
                </a:solidFill>
                <a:latin typeface="Arial"/>
              </a:rPr>
              <a:t>Connect to S3, Athena, Redshift and more.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insights</a:t>
            </a:r>
          </a:p>
          <a:p>
            <a:pPr algn="l">
              <a:spcAft>
                <a:spcPts val="300"/>
              </a:spcAft>
            </a:pPr>
            <a:r>
              <a:rPr sz="1200" b="0">
                <a:solidFill>
                  <a:srgbClr val="5B6372"/>
                </a:solidFill>
                <a:latin typeface="Arial"/>
              </a:rPr>
              <a:t>Automatic profiling and quality warnings.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300+ transforms</a:t>
            </a:r>
          </a:p>
          <a:p>
            <a:pPr algn="l">
              <a:spcAft>
                <a:spcPts val="300"/>
              </a:spcAft>
            </a:pPr>
            <a:r>
              <a:rPr sz="1200" b="0">
                <a:solidFill>
                  <a:srgbClr val="5B6372"/>
                </a:solidFill>
                <a:latin typeface="Arial"/>
              </a:rPr>
              <a:t>Built-in cleaning, encoding and scaling steps.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 transforms</a:t>
            </a:r>
          </a:p>
          <a:p>
            <a:pPr algn="l">
              <a:spcAft>
                <a:spcPts val="300"/>
              </a:spcAft>
            </a:pPr>
            <a:r>
              <a:rPr sz="1200" b="0">
                <a:solidFill>
                  <a:srgbClr val="5B6372"/>
                </a:solidFill>
                <a:latin typeface="Arial"/>
              </a:rPr>
              <a:t>Add pandas/PySpark/SQL steps where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Export</a:t>
            </a:r>
          </a:p>
          <a:p>
            <a:pPr algn="l">
              <a:spcAft>
                <a:spcPts val="300"/>
              </a:spcAft>
            </a:pPr>
            <a:r>
              <a:rPr sz="1200" b="0">
                <a:solidFill>
                  <a:srgbClr val="5B6372"/>
                </a:solidFill>
                <a:latin typeface="Arial"/>
              </a:rPr>
              <a:t>Push the flow to a processing job or pipeline.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Feature Store target</a:t>
            </a:r>
          </a:p>
          <a:p>
            <a:pPr algn="l">
              <a:spcAft>
                <a:spcPts val="300"/>
              </a:spcAft>
            </a:pPr>
            <a:r>
              <a:rPr sz="1200" b="0">
                <a:solidFill>
                  <a:srgbClr val="5B6372"/>
                </a:solidFill>
                <a:latin typeface="Arial"/>
              </a:rPr>
              <a:t>Write engineered features straight to Feature Store.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Data Preparation for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Account Safety and IAM Baseline</a:t>
            </a:r>
          </a:p>
          <a:p>
            <a:pPr>
              <a:spcAft>
                <a:spcPts val="900"/>
              </a:spcAft>
            </a:pPr>
            <a:r>
              <a:rPr sz="1400" b="0">
                <a:solidFill>
                  <a:srgbClr val="161B26"/>
                </a:solidFill>
                <a:latin typeface="Arial"/>
              </a:rPr>
              <a:t>•  S3 ML Data Lake and Data Formats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Batch and Streaming Ingestion with Glue, Athena and Kinesis</a:t>
            </a:r>
          </a:p>
          <a:p>
            <a:pPr>
              <a:spcAft>
                <a:spcPts val="900"/>
              </a:spcAft>
            </a:pPr>
            <a:r>
              <a:rPr sz="1400" b="0">
                <a:solidFill>
                  <a:srgbClr val="161B26"/>
                </a:solidFill>
                <a:latin typeface="Arial"/>
              </a:rPr>
              <a:t>•  Feature Engineering, Feature Store, Labelling and Data Quality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Account Safety and IAM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Set up a safe AWS baseline for ML engineering: confirm identity and Region, review IAM users, roles, groups and least privilege, understand the SageMaker execution role, enable MFA and a budget alert, and review KMS key concepts before any data lands.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secured AWS ML workspace: verified identity/Region, a least-privilege IAM review, an enabled budget alert and notes on execution roles and KMS.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IAM, AWS KMS, AWS Budgets, Amazon SageMaker AI, AWS CloudShell, AWS CloudTrail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Account Safety and IAM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&amp; verify identity/Region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IAM roles &amp; least privilege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the SageMaker execution role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MFA &amp; a budget alert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KMS key concepts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Account Safety and IAM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Use IAM roles when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 IAM users/keys when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Granting AWS services access (execution roles)</a:t>
            </a:r>
          </a:p>
          <a:p>
            <a:pPr>
              <a:spcAft>
                <a:spcPts val="1000"/>
              </a:spcAft>
            </a:pPr>
            <a:r>
              <a:rPr sz="1600" b="0">
                <a:solidFill>
                  <a:srgbClr val="161B26"/>
                </a:solidFill>
                <a:latin typeface="Arial"/>
              </a:rPr>
              <a:t>•  Temporary, auto-rotated credentials</a:t>
            </a:r>
          </a:p>
          <a:p>
            <a:pPr>
              <a:spcAft>
                <a:spcPts val="1000"/>
              </a:spcAft>
            </a:pPr>
            <a:r>
              <a:rPr sz="1600" b="0">
                <a:solidFill>
                  <a:srgbClr val="161B26"/>
                </a:solidFill>
                <a:latin typeface="Arial"/>
              </a:rPr>
              <a:t>•  Cross-account or federated access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human needs console sign-in</a:t>
            </a:r>
          </a:p>
          <a:p>
            <a:pPr>
              <a:spcAft>
                <a:spcPts val="1000"/>
              </a:spcAft>
            </a:pPr>
            <a:r>
              <a:rPr sz="1600" b="0">
                <a:solidFill>
                  <a:srgbClr val="161B26"/>
                </a:solidFill>
                <a:latin typeface="Arial"/>
              </a:rPr>
              <a:t>•  No role-assumption path is available</a:t>
            </a:r>
          </a:p>
          <a:p>
            <a:pPr>
              <a:spcAft>
                <a:spcPts val="1000"/>
              </a:spcAft>
            </a:pPr>
            <a:r>
              <a:rPr sz="1600" b="0">
                <a:solidFill>
                  <a:srgbClr val="161B26"/>
                </a:solidFill>
                <a:latin typeface="Arial"/>
              </a:rPr>
              <a:t>•  Always protect with MFA and rotation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Account Safety and IAM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verify your identity and Region, explain least-privilege IAM and the SageMaker execution role, and confirm MFA, a budget alert and KMS are in place before any ML data lands.</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Access denied calling an ML API</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Attach a least-privilege policy for that action to your role/user.</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SageMaker cannot read S3</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Fix the SageMaker execution role's S3 permissions and trust policy.</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Surprise charges appear</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Enable AWS Budgets alerts and delete idle resources immediately.</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S3 ML Data Lake and Data Formats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storage foundation for ML: create an encrypted S3 data lake with raw, prepared, features, training, models and monitoring prefixes, apply Block Public Access, lifecycle rules and storage classes, and compare the data formats used across ML workflows.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secure, encrypted S3 ML data lake with six lifecycle prefixes and a data-format comparison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Amazon S3, AWS KMS, S3 Lifecycle, Amazon SageMaker AI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S3 ML Data Lake and Data Formats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an encrypted S3 bucket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Block Public Access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ML lifecycle prefixes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storage-class lifecycle rules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data formats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2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S3 ML Data Lake and Data Formats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Use SSE-KMS when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SSE-S3 is enough when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You need key rotation and audit logs</a:t>
            </a:r>
          </a:p>
          <a:p>
            <a:pPr>
              <a:spcAft>
                <a:spcPts val="1000"/>
              </a:spcAft>
            </a:pPr>
            <a:r>
              <a:rPr sz="1600" b="0">
                <a:solidFill>
                  <a:srgbClr val="161B26"/>
                </a:solidFill>
                <a:latin typeface="Arial"/>
              </a:rPr>
              <a:t>•  Fine-grained key access control</a:t>
            </a:r>
          </a:p>
          <a:p>
            <a:pPr>
              <a:spcAft>
                <a:spcPts val="1000"/>
              </a:spcAft>
            </a:pPr>
            <a:r>
              <a:rPr sz="1600" b="0">
                <a:solidFill>
                  <a:srgbClr val="161B26"/>
                </a:solidFill>
                <a:latin typeface="Arial"/>
              </a:rPr>
              <a:t>•  Regulated data (PII/PHI)</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simple always-on default is fine</a:t>
            </a:r>
          </a:p>
          <a:p>
            <a:pPr>
              <a:spcAft>
                <a:spcPts val="1000"/>
              </a:spcAft>
            </a:pPr>
            <a:r>
              <a:rPr sz="1600" b="0">
                <a:solidFill>
                  <a:srgbClr val="161B26"/>
                </a:solidFill>
                <a:latin typeface="Arial"/>
              </a:rPr>
              <a:t>•  No per-key access control needed</a:t>
            </a:r>
          </a:p>
          <a:p>
            <a:pPr>
              <a:spcAft>
                <a:spcPts val="1000"/>
              </a:spcAft>
            </a:pPr>
            <a:r>
              <a:rPr sz="1600" b="0">
                <a:solidFill>
                  <a:srgbClr val="161B26"/>
                </a:solidFill>
                <a:latin typeface="Arial"/>
              </a:rPr>
              <a:t>•  Lowest operational overhead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S3 ML Data Lake and Data Formats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navigate the encrypted S3 data lake with its six prefixes, explain storage-class lifecycle, and justify a data-format choice for analytics, streaming and SageMaker training.</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Bucket name already exists</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S3 names are globally unique — add your initials/date.</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Access denied on PutObject</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Attach a least-privilege S3 policy to your role/execution role.</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Objects not encrypted</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Set default bucket encryption; existing objects must be re-copied.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Batch and Streaming Ingestion with Glue, Athena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Land data into the lake two ways: crawl and catalog batch data with AWS Glue and query it with Athena, and design a near-real-time streaming path with the Kinesis family (Data Streams, Firehose, MSK) into S3, then compare batch and streaming trade-offs.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cataloged batch dataset queryable in Athena plus a streaming-ingestion design and a batch-vs-streaming comparison.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AWS Glue, Glue Data Catalog, Amazon Athena, Kinesis Data Streams, Kinesis Data Firehose, Amazon MSK, Amazon S3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Batch and Streaming Ingestion with…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Crawl raw/ with Glue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Catalog the schema</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Query in Athena</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a Kinesis streaming path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batch vs streaming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3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Batch and Streaming Ingestion with…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Batch ingestion (Glue/EMR)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Streaming ingestion (Kinesis)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Scheduled, large-scale Spark ETL</a:t>
            </a:r>
          </a:p>
          <a:p>
            <a:pPr>
              <a:spcAft>
                <a:spcPts val="1000"/>
              </a:spcAft>
            </a:pPr>
            <a:r>
              <a:rPr sz="1600" b="0">
                <a:solidFill>
                  <a:srgbClr val="161B26"/>
                </a:solidFill>
                <a:latin typeface="Arial"/>
              </a:rPr>
              <a:t>•  Writes columnar Parquet to S3</a:t>
            </a:r>
          </a:p>
          <a:p>
            <a:pPr>
              <a:spcAft>
                <a:spcPts val="1000"/>
              </a:spcAft>
            </a:pPr>
            <a:r>
              <a:rPr sz="1600" b="0">
                <a:solidFill>
                  <a:srgbClr val="161B26"/>
                </a:solidFill>
                <a:latin typeface="Arial"/>
              </a:rPr>
              <a:t>•  Best for full historical loads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Near-real-time event capture</a:t>
            </a:r>
          </a:p>
          <a:p>
            <a:pPr>
              <a:spcAft>
                <a:spcPts val="1000"/>
              </a:spcAft>
            </a:pPr>
            <a:r>
              <a:rPr sz="1600" b="0">
                <a:solidFill>
                  <a:srgbClr val="161B26"/>
                </a:solidFill>
                <a:latin typeface="Arial"/>
              </a:rPr>
              <a:t>•  Firehose delivers to S3 with no code</a:t>
            </a:r>
          </a:p>
          <a:p>
            <a:pPr>
              <a:spcAft>
                <a:spcPts val="1000"/>
              </a:spcAft>
            </a:pPr>
            <a:r>
              <a:rPr sz="1600" b="0">
                <a:solidFill>
                  <a:srgbClr val="161B26"/>
                </a:solidFill>
                <a:latin typeface="Arial"/>
              </a:rPr>
              <a:t>•  Best for clickstream/IoT/live features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Batch and Streaming Ingestion with Glue, Athena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catalog and query batch data with Glue and Athena, design a Kinesis streaming path into the lake, and justify batch vs streaming from latency and use-case requirements.</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Crawler finds no tables</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Point the crawler at the correct S3 prefix and re-run it.</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Athena query fails</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Set an S3 query-result location and confirm the Glue table exists.</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Streaming data not landing in S3</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Check the Firehose delivery stream's IAM role and S3 destination.</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Feature Engineering, Feature Store, Labelling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cataloged data into trustworthy features: apply feature-engineering transforms in Data Wrangler, store reusable features in SageMaker Feature Store, review Ground Truth labelling, and validate quality and bias with Glue Data Quality and SageMaker Clarify.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feature-engineering flow, an online/offline Feature Store design, and feature-engineering, data-quality and bias checklists.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Data Wrangler, Feature Store, Ground Truth, Clarify, AWS Glue, Glue Data Quality, Amazon Athena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Feature Engineering, Feature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Engineer features (Data Wrangler)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Store features (Feature Store)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Label data (Ground Truth)</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quality (Glue DQ)</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bias (Clarify)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4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Feature Engineering, Feature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Interactive prep (Data Wrangler)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Reusable features (Feature Store)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Visual feature engineering on samples</a:t>
            </a:r>
          </a:p>
          <a:p>
            <a:pPr>
              <a:spcAft>
                <a:spcPts val="1000"/>
              </a:spcAft>
            </a:pPr>
            <a:r>
              <a:rPr sz="1600" b="0">
                <a:solidFill>
                  <a:srgbClr val="161B26"/>
                </a:solidFill>
                <a:latin typeface="Arial"/>
              </a:rPr>
              <a:t>•  Fast iteration and preview</a:t>
            </a:r>
          </a:p>
          <a:p>
            <a:pPr>
              <a:spcAft>
                <a:spcPts val="1000"/>
              </a:spcAft>
            </a:pPr>
            <a:r>
              <a:rPr sz="1600" b="0">
                <a:solidFill>
                  <a:srgbClr val="161B26"/>
                </a:solidFill>
                <a:latin typeface="Arial"/>
              </a:rPr>
              <a:t>•  Export the flow into a pipeline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Online store for low-latency serving</a:t>
            </a:r>
          </a:p>
          <a:p>
            <a:pPr>
              <a:spcAft>
                <a:spcPts val="1000"/>
              </a:spcAft>
            </a:pPr>
            <a:r>
              <a:rPr sz="1600" b="0">
                <a:solidFill>
                  <a:srgbClr val="161B26"/>
                </a:solidFill>
                <a:latin typeface="Arial"/>
              </a:rPr>
              <a:t>•  Offline store for training</a:t>
            </a:r>
          </a:p>
          <a:p>
            <a:pPr>
              <a:spcAft>
                <a:spcPts val="1000"/>
              </a:spcAft>
            </a:pPr>
            <a:r>
              <a:rPr sz="1600" b="0">
                <a:solidFill>
                  <a:srgbClr val="161B26"/>
                </a:solidFill>
                <a:latin typeface="Arial"/>
              </a:rPr>
              <a:t>•  Same definition train and serve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Feature Engineering, Feature Store, Labelling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engineer features, store them for reuse in Feature Store, describe Ground Truth labelling, and validate a dataset for quality and bias with Glue Data Quality and Clarify.</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Features differ between train and serve</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Use Feature Store so both read the same definition.</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Skewed classes bias the model</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Detect with Clarify; rebalance or reweight before training.</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Data-quality rules keep failing</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Fix the source or the transform; re-run Glue Data Quality.</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Data Preparation for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secure an AWS ML workspace with identity, least-privilege IAM and cost guardrails (Domain 1: establish a safe ML foundation)</a:t>
            </a:r>
          </a:p>
          <a:p>
            <a:pPr>
              <a:spcAft>
                <a:spcPts val="1000"/>
              </a:spcAft>
            </a:pPr>
            <a:r>
              <a:rPr sz="1700" b="0">
                <a:solidFill>
                  <a:srgbClr val="161B26"/>
                </a:solidFill>
                <a:latin typeface="Arial"/>
              </a:rPr>
              <a:t>•  You can now: structure and secure an S3 data lake for ML and choose the right data format (Domain 1: data ingestion and storage)</a:t>
            </a:r>
          </a:p>
          <a:p>
            <a:pPr>
              <a:spcAft>
                <a:spcPts val="1000"/>
              </a:spcAft>
            </a:pPr>
            <a:r>
              <a:rPr sz="1700" b="0">
                <a:solidFill>
                  <a:srgbClr val="161B26"/>
                </a:solidFill>
                <a:latin typeface="Arial"/>
              </a:rPr>
              <a:t>•  You can now: design batch and streaming ingestion into the ML data lake and query it in place (Domain 1: ingest and catalog data)</a:t>
            </a:r>
          </a:p>
          <a:p>
            <a:pPr>
              <a:spcAft>
                <a:spcPts val="1000"/>
              </a:spcAft>
            </a:pPr>
            <a:r>
              <a:rPr sz="1700" b="0">
                <a:solidFill>
                  <a:srgbClr val="161B26"/>
                </a:solidFill>
                <a:latin typeface="Arial"/>
              </a:rPr>
              <a:t>•  You can now: engineer, store, label and validate features for machine learning (Domain 1: transform, engineer and validate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ML Model Development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Modelling approach · training &amp; debugging · tuning, experiments &amp; Model Registry · evaluation, metrics &amp; bias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MLA-C01 EXAM WEIGHTING 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ML Model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Problem framing</a:t>
            </a:r>
          </a:p>
          <a:p>
            <a:pPr algn="l">
              <a:spcAft>
                <a:spcPts val="300"/>
              </a:spcAft>
            </a:pPr>
            <a:r>
              <a:rPr sz="1100" b="0">
                <a:solidFill>
                  <a:srgbClr val="5B6372"/>
                </a:solidFill>
                <a:latin typeface="Arial"/>
              </a:rPr>
              <a:t>Classification, regression, clustering, forecasting, anomaly detection, NLP and computer vision — matching the problem to an approach.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Approach selection</a:t>
            </a:r>
          </a:p>
          <a:p>
            <a:pPr algn="l">
              <a:spcAft>
                <a:spcPts val="300"/>
              </a:spcAft>
            </a:pPr>
            <a:r>
              <a:rPr sz="1100" b="0">
                <a:solidFill>
                  <a:srgbClr val="5B6372"/>
                </a:solidFill>
                <a:latin typeface="Arial"/>
              </a:rPr>
              <a:t>SageMaker built-in algorithms vs script-mode custom frameworks vs JumpStart vs Amazon Bedrock foundation models vs managed AI services.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Training &amp; debugging</a:t>
            </a:r>
          </a:p>
          <a:p>
            <a:pPr algn="l">
              <a:spcAft>
                <a:spcPts val="300"/>
              </a:spcAft>
            </a:pPr>
            <a:r>
              <a:rPr sz="1100" b="0">
                <a:solidFill>
                  <a:srgbClr val="5B6372"/>
                </a:solidFill>
                <a:latin typeface="Arial"/>
              </a:rPr>
              <a:t>Training jobs: input channels, instance type, container image, execution role; SageMaker Debugger and Profiler to catch training problems early.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Tuning &amp; experiments</a:t>
            </a:r>
          </a:p>
          <a:p>
            <a:pPr algn="l">
              <a:spcAft>
                <a:spcPts val="300"/>
              </a:spcAft>
            </a:pPr>
            <a:r>
              <a:rPr sz="1100" b="0">
                <a:solidFill>
                  <a:srgbClr val="5B6372"/>
                </a:solidFill>
                <a:latin typeface="Arial"/>
              </a:rPr>
              <a:t>Automatic Model Tuning (random, grid, Bayesian, Hyperband); SageMaker Experiments for reproducible trial tracking.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Model Registry</a:t>
            </a:r>
          </a:p>
          <a:p>
            <a:pPr algn="l">
              <a:spcAft>
                <a:spcPts val="300"/>
              </a:spcAft>
            </a:pPr>
            <a:r>
              <a:rPr sz="1100" b="0">
                <a:solidFill>
                  <a:srgbClr val="5B6372"/>
                </a:solidFill>
                <a:latin typeface="Arial"/>
              </a:rPr>
              <a:t>Model package groups, versions, approval status and metadata for a repeatable train-to-approval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Evaluation &amp; bias</a:t>
            </a:r>
          </a:p>
          <a:p>
            <a:pPr algn="l">
              <a:spcAft>
                <a:spcPts val="300"/>
              </a:spcAft>
            </a:pPr>
            <a:r>
              <a:rPr sz="1100" b="0">
                <a:solidFill>
                  <a:srgbClr val="5B6372"/>
                </a:solidFill>
                <a:latin typeface="Arial"/>
              </a:rPr>
              <a:t>Confusion matrix, accuracy, precision, recall, F1, ROC AUC; MAE/MSE/RMSE/R2; Clarify bias metrics, SHAP and feature importance.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 FRAME THE PROBLEM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 Problem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Classification</a:t>
            </a:r>
          </a:p>
          <a:p>
            <a:pPr algn="l">
              <a:spcAft>
                <a:spcPts val="300"/>
              </a:spcAft>
            </a:pPr>
            <a:r>
              <a:rPr sz="1200" b="0">
                <a:solidFill>
                  <a:srgbClr val="5B6372"/>
                </a:solidFill>
                <a:latin typeface="Arial"/>
              </a:rPr>
              <a:t>Predict a category — churn, spam, fraud (supervised).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Regression</a:t>
            </a:r>
          </a:p>
          <a:p>
            <a:pPr algn="l">
              <a:spcAft>
                <a:spcPts val="300"/>
              </a:spcAft>
            </a:pPr>
            <a:r>
              <a:rPr sz="1200" b="0">
                <a:solidFill>
                  <a:srgbClr val="5B6372"/>
                </a:solidFill>
                <a:latin typeface="Arial"/>
              </a:rPr>
              <a:t>Predict a number — price, demand, load (supervised).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Clustering</a:t>
            </a:r>
          </a:p>
          <a:p>
            <a:pPr algn="l">
              <a:spcAft>
                <a:spcPts val="300"/>
              </a:spcAft>
            </a:pPr>
            <a:r>
              <a:rPr sz="1200" b="0">
                <a:solidFill>
                  <a:srgbClr val="5B6372"/>
                </a:solidFill>
                <a:latin typeface="Arial"/>
              </a:rPr>
              <a:t>Group similar records — segmentation (unsupervised).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Forecasting</a:t>
            </a:r>
          </a:p>
          <a:p>
            <a:pPr algn="l">
              <a:spcAft>
                <a:spcPts val="300"/>
              </a:spcAft>
            </a:pPr>
            <a:r>
              <a:rPr sz="1200" b="0">
                <a:solidFill>
                  <a:srgbClr val="5B6372"/>
                </a:solidFill>
                <a:latin typeface="Arial"/>
              </a:rPr>
              <a:t>Predict future values of a time-series (DeepAR).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Anomaly detection</a:t>
            </a:r>
          </a:p>
          <a:p>
            <a:pPr algn="l">
              <a:spcAft>
                <a:spcPts val="300"/>
              </a:spcAft>
            </a:pPr>
            <a:r>
              <a:rPr sz="1200" b="0">
                <a:solidFill>
                  <a:srgbClr val="5B6372"/>
                </a:solidFill>
                <a:latin typeface="Arial"/>
              </a:rPr>
              <a:t>Flag rare/outlier events — Random Cut Forest.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NLP &amp; computer vision</a:t>
            </a:r>
          </a:p>
          <a:p>
            <a:pPr algn="l">
              <a:spcAft>
                <a:spcPts val="300"/>
              </a:spcAft>
            </a:pPr>
            <a:r>
              <a:rPr sz="1200" b="0">
                <a:solidFill>
                  <a:srgbClr val="5B6372"/>
                </a:solidFill>
                <a:latin typeface="Arial"/>
              </a:rPr>
              <a:t>Text and image understanding and generation.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 ALGORITHM SELECTION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Built-in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Algorithm</a:t>
            </a:r>
          </a:p>
        </p:txBody>
      </p:sp>
      <p:sp>
        <p:nvSpPr>
          <p:cNvPr id="9" name="Rectangle 8"/>
          <p:cNvSpPr/>
          <p:nvPr/>
        </p:nvSpPr>
        <p:spPr>
          <a:xfrm>
            <a:off x="3329513" y="1783080"/>
            <a:ext cx="2764962"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Problem type</a:t>
            </a:r>
          </a:p>
        </p:txBody>
      </p:sp>
      <p:sp>
        <p:nvSpPr>
          <p:cNvPr id="11" name="Rectangle 10"/>
          <p:cNvSpPr/>
          <p:nvPr/>
        </p:nvSpPr>
        <p:spPr>
          <a:xfrm>
            <a:off x="6094475" y="1783080"/>
            <a:ext cx="5317237"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86000"/>
            <a:ext cx="2552273"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XGBoost</a:t>
            </a:r>
          </a:p>
        </p:txBody>
      </p:sp>
      <p:sp>
        <p:nvSpPr>
          <p:cNvPr id="15" name="Rectangle 14"/>
          <p:cNvSpPr/>
          <p:nvPr/>
        </p:nvSpPr>
        <p:spPr>
          <a:xfrm>
            <a:off x="3329513" y="2286000"/>
            <a:ext cx="2764962"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Classification / regression</a:t>
            </a:r>
          </a:p>
        </p:txBody>
      </p:sp>
      <p:sp>
        <p:nvSpPr>
          <p:cNvPr id="17" name="Rectangle 16"/>
          <p:cNvSpPr/>
          <p:nvPr/>
        </p:nvSpPr>
        <p:spPr>
          <a:xfrm>
            <a:off x="6094475" y="2286000"/>
            <a:ext cx="5317237"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Tabular churn, risk, price prediction</a:t>
            </a:r>
          </a:p>
        </p:txBody>
      </p:sp>
      <p:sp>
        <p:nvSpPr>
          <p:cNvPr id="19" name="Rectangle 18"/>
          <p:cNvSpPr/>
          <p:nvPr/>
        </p:nvSpPr>
        <p:spPr>
          <a:xfrm>
            <a:off x="777240" y="2841171"/>
            <a:ext cx="2552273"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41171"/>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Linear Learner</a:t>
            </a:r>
          </a:p>
        </p:txBody>
      </p:sp>
      <p:sp>
        <p:nvSpPr>
          <p:cNvPr id="21" name="Rectangle 20"/>
          <p:cNvSpPr/>
          <p:nvPr/>
        </p:nvSpPr>
        <p:spPr>
          <a:xfrm>
            <a:off x="3329513" y="2841171"/>
            <a:ext cx="2764962"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2841171"/>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Classification / regression</a:t>
            </a:r>
          </a:p>
        </p:txBody>
      </p:sp>
      <p:sp>
        <p:nvSpPr>
          <p:cNvPr id="23" name="Rectangle 22"/>
          <p:cNvSpPr/>
          <p:nvPr/>
        </p:nvSpPr>
        <p:spPr>
          <a:xfrm>
            <a:off x="6094475" y="2841171"/>
            <a:ext cx="5317237"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2841171"/>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Fast linear baselines at scale</a:t>
            </a:r>
          </a:p>
        </p:txBody>
      </p:sp>
      <p:sp>
        <p:nvSpPr>
          <p:cNvPr id="25" name="Rectangle 24"/>
          <p:cNvSpPr/>
          <p:nvPr/>
        </p:nvSpPr>
        <p:spPr>
          <a:xfrm>
            <a:off x="777240" y="3396342"/>
            <a:ext cx="2552273"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396342"/>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K-Means</a:t>
            </a:r>
          </a:p>
        </p:txBody>
      </p:sp>
      <p:sp>
        <p:nvSpPr>
          <p:cNvPr id="27" name="Rectangle 26"/>
          <p:cNvSpPr/>
          <p:nvPr/>
        </p:nvSpPr>
        <p:spPr>
          <a:xfrm>
            <a:off x="3329513" y="3396342"/>
            <a:ext cx="2764962"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3396342"/>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Clustering</a:t>
            </a:r>
          </a:p>
        </p:txBody>
      </p:sp>
      <p:sp>
        <p:nvSpPr>
          <p:cNvPr id="29" name="Rectangle 28"/>
          <p:cNvSpPr/>
          <p:nvPr/>
        </p:nvSpPr>
        <p:spPr>
          <a:xfrm>
            <a:off x="6094475" y="3396342"/>
            <a:ext cx="5317237"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3396342"/>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Customer/segment grouping (unsupervised)</a:t>
            </a:r>
          </a:p>
        </p:txBody>
      </p:sp>
      <p:sp>
        <p:nvSpPr>
          <p:cNvPr id="31" name="Rectangle 30"/>
          <p:cNvSpPr/>
          <p:nvPr/>
        </p:nvSpPr>
        <p:spPr>
          <a:xfrm>
            <a:off x="777240" y="3951513"/>
            <a:ext cx="2552273"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51513"/>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Random Cut Forest</a:t>
            </a:r>
          </a:p>
        </p:txBody>
      </p:sp>
      <p:sp>
        <p:nvSpPr>
          <p:cNvPr id="33" name="Rectangle 32"/>
          <p:cNvSpPr/>
          <p:nvPr/>
        </p:nvSpPr>
        <p:spPr>
          <a:xfrm>
            <a:off x="3329513" y="3951513"/>
            <a:ext cx="2764962"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3951513"/>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Anomaly detection</a:t>
            </a:r>
          </a:p>
        </p:txBody>
      </p:sp>
      <p:sp>
        <p:nvSpPr>
          <p:cNvPr id="35" name="Rectangle 34"/>
          <p:cNvSpPr/>
          <p:nvPr/>
        </p:nvSpPr>
        <p:spPr>
          <a:xfrm>
            <a:off x="6094475" y="3951513"/>
            <a:ext cx="5317237"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3951513"/>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Fraud and outlier detection</a:t>
            </a:r>
          </a:p>
        </p:txBody>
      </p:sp>
      <p:sp>
        <p:nvSpPr>
          <p:cNvPr id="37" name="Rectangle 36"/>
          <p:cNvSpPr/>
          <p:nvPr/>
        </p:nvSpPr>
        <p:spPr>
          <a:xfrm>
            <a:off x="777240" y="4506684"/>
            <a:ext cx="2552273"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06684"/>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DeepAR</a:t>
            </a:r>
          </a:p>
        </p:txBody>
      </p:sp>
      <p:sp>
        <p:nvSpPr>
          <p:cNvPr id="39" name="Rectangle 38"/>
          <p:cNvSpPr/>
          <p:nvPr/>
        </p:nvSpPr>
        <p:spPr>
          <a:xfrm>
            <a:off x="3329513" y="4506684"/>
            <a:ext cx="2764962"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57529" y="4506684"/>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Time-series forecasting</a:t>
            </a:r>
          </a:p>
        </p:txBody>
      </p:sp>
      <p:sp>
        <p:nvSpPr>
          <p:cNvPr id="41" name="Rectangle 40"/>
          <p:cNvSpPr/>
          <p:nvPr/>
        </p:nvSpPr>
        <p:spPr>
          <a:xfrm>
            <a:off x="6094475" y="4506684"/>
            <a:ext cx="5317237"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2491" y="4506684"/>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Demand and load forecasting</a:t>
            </a:r>
          </a:p>
        </p:txBody>
      </p:sp>
      <p:sp>
        <p:nvSpPr>
          <p:cNvPr id="43" name="Rectangle 42"/>
          <p:cNvSpPr/>
          <p:nvPr/>
        </p:nvSpPr>
        <p:spPr>
          <a:xfrm>
            <a:off x="777240" y="5061855"/>
            <a:ext cx="2552273"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5061855"/>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BlazingText / Seq2Seq</a:t>
            </a:r>
          </a:p>
        </p:txBody>
      </p:sp>
      <p:sp>
        <p:nvSpPr>
          <p:cNvPr id="45" name="Rectangle 44"/>
          <p:cNvSpPr/>
          <p:nvPr/>
        </p:nvSpPr>
        <p:spPr>
          <a:xfrm>
            <a:off x="3329513" y="5061855"/>
            <a:ext cx="2764962"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57529" y="5061855"/>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NLP</a:t>
            </a:r>
          </a:p>
        </p:txBody>
      </p:sp>
      <p:sp>
        <p:nvSpPr>
          <p:cNvPr id="47" name="Rectangle 46"/>
          <p:cNvSpPr/>
          <p:nvPr/>
        </p:nvSpPr>
        <p:spPr>
          <a:xfrm>
            <a:off x="6094475" y="5061855"/>
            <a:ext cx="5317237" cy="5551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22491" y="5061855"/>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Text classification and translation</a:t>
            </a:r>
          </a:p>
        </p:txBody>
      </p:sp>
      <p:sp>
        <p:nvSpPr>
          <p:cNvPr id="49" name="Rectangle 48"/>
          <p:cNvSpPr/>
          <p:nvPr/>
        </p:nvSpPr>
        <p:spPr>
          <a:xfrm>
            <a:off x="777240" y="5617026"/>
            <a:ext cx="2552273"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5617026"/>
            <a:ext cx="2314529" cy="555171"/>
          </a:xfrm>
          <a:prstGeom prst="rect">
            <a:avLst/>
          </a:prstGeom>
          <a:noFill/>
        </p:spPr>
        <p:txBody>
          <a:bodyPr wrap="square" anchor="ctr">
            <a:spAutoFit/>
          </a:bodyPr>
          <a:lstStyle/>
          <a:p>
            <a:pPr algn="l">
              <a:spcAft>
                <a:spcPts val="400"/>
              </a:spcAft>
            </a:pPr>
            <a:r>
              <a:rPr sz="1050" b="1">
                <a:solidFill>
                  <a:srgbClr val="161B26"/>
                </a:solidFill>
                <a:latin typeface="Arial"/>
              </a:rPr>
              <a:t>Image Classification / Object Detection</a:t>
            </a:r>
          </a:p>
        </p:txBody>
      </p:sp>
      <p:sp>
        <p:nvSpPr>
          <p:cNvPr id="51" name="Rectangle 50"/>
          <p:cNvSpPr/>
          <p:nvPr/>
        </p:nvSpPr>
        <p:spPr>
          <a:xfrm>
            <a:off x="3329513" y="5617026"/>
            <a:ext cx="2764962"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57529" y="5617026"/>
            <a:ext cx="2527218" cy="555171"/>
          </a:xfrm>
          <a:prstGeom prst="rect">
            <a:avLst/>
          </a:prstGeom>
          <a:noFill/>
        </p:spPr>
        <p:txBody>
          <a:bodyPr wrap="square" anchor="ctr">
            <a:spAutoFit/>
          </a:bodyPr>
          <a:lstStyle/>
          <a:p>
            <a:pPr algn="l">
              <a:spcAft>
                <a:spcPts val="400"/>
              </a:spcAft>
            </a:pPr>
            <a:r>
              <a:rPr sz="1000" b="0">
                <a:solidFill>
                  <a:srgbClr val="5B6372"/>
                </a:solidFill>
                <a:latin typeface="Arial"/>
              </a:rPr>
              <a:t>Computer vision</a:t>
            </a:r>
          </a:p>
        </p:txBody>
      </p:sp>
      <p:sp>
        <p:nvSpPr>
          <p:cNvPr id="53" name="Rectangle 52"/>
          <p:cNvSpPr/>
          <p:nvPr/>
        </p:nvSpPr>
        <p:spPr>
          <a:xfrm>
            <a:off x="6094475" y="5617026"/>
            <a:ext cx="5317237" cy="55517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22491" y="5617026"/>
            <a:ext cx="5079493" cy="555171"/>
          </a:xfrm>
          <a:prstGeom prst="rect">
            <a:avLst/>
          </a:prstGeom>
          <a:noFill/>
        </p:spPr>
        <p:txBody>
          <a:bodyPr wrap="square" anchor="ctr">
            <a:spAutoFit/>
          </a:bodyPr>
          <a:lstStyle/>
          <a:p>
            <a:pPr algn="l">
              <a:spcAft>
                <a:spcPts val="400"/>
              </a:spcAft>
            </a:pPr>
            <a:r>
              <a:rPr sz="1000" b="0">
                <a:solidFill>
                  <a:srgbClr val="5B6372"/>
                </a:solidFill>
                <a:latin typeface="Arial"/>
              </a:rPr>
              <a:t>Labelling and detecting objects in images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BUILD vs BUY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 Modelling Approach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096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609600"/>
          </a:xfrm>
          <a:prstGeom prst="rect">
            <a:avLst/>
          </a:prstGeom>
          <a:noFill/>
        </p:spPr>
        <p:txBody>
          <a:bodyPr wrap="square" anchor="ctr">
            <a:spAutoFit/>
          </a:bodyPr>
          <a:lstStyle/>
          <a:p>
            <a:pPr algn="l">
              <a:spcAft>
                <a:spcPts val="400"/>
              </a:spcAft>
            </a:pPr>
            <a:r>
              <a:rPr sz="1300" b="0">
                <a:solidFill>
                  <a:srgbClr val="161B26"/>
                </a:solidFill>
                <a:latin typeface="Arial"/>
              </a:rPr>
              <a:t>Common tabular/CV/NLP task, want managed algorithm</a:t>
            </a:r>
          </a:p>
        </p:txBody>
      </p:sp>
      <p:sp>
        <p:nvSpPr>
          <p:cNvPr id="10" name="TextBox 9"/>
          <p:cNvSpPr txBox="1"/>
          <p:nvPr/>
        </p:nvSpPr>
        <p:spPr>
          <a:xfrm>
            <a:off x="6446520" y="1783080"/>
            <a:ext cx="484632" cy="60960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1" name="Rectangle 10"/>
          <p:cNvSpPr/>
          <p:nvPr/>
        </p:nvSpPr>
        <p:spPr>
          <a:xfrm>
            <a:off x="6931152" y="1783080"/>
            <a:ext cx="448056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609600"/>
          </a:xfrm>
          <a:prstGeom prst="rect">
            <a:avLst/>
          </a:prstGeom>
          <a:noFill/>
        </p:spPr>
        <p:txBody>
          <a:bodyPr wrap="square" anchor="ctr">
            <a:spAutoFit/>
          </a:bodyPr>
          <a:lstStyle/>
          <a:p>
            <a:pPr algn="l">
              <a:spcAft>
                <a:spcPts val="400"/>
              </a:spcAft>
            </a:pPr>
            <a:r>
              <a:rPr sz="1300" b="1">
                <a:solidFill>
                  <a:srgbClr val="10B981"/>
                </a:solidFill>
                <a:latin typeface="Arial"/>
              </a:rPr>
              <a:t>SageMaker built-in algorithm</a:t>
            </a:r>
          </a:p>
        </p:txBody>
      </p:sp>
      <p:sp>
        <p:nvSpPr>
          <p:cNvPr id="14" name="Rectangle 13"/>
          <p:cNvSpPr/>
          <p:nvPr/>
        </p:nvSpPr>
        <p:spPr>
          <a:xfrm>
            <a:off x="777240" y="2538984"/>
            <a:ext cx="566928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538984"/>
            <a:ext cx="91440" cy="6096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38984"/>
            <a:ext cx="5266944" cy="609600"/>
          </a:xfrm>
          <a:prstGeom prst="rect">
            <a:avLst/>
          </a:prstGeom>
          <a:noFill/>
        </p:spPr>
        <p:txBody>
          <a:bodyPr wrap="square" anchor="ctr">
            <a:spAutoFit/>
          </a:bodyPr>
          <a:lstStyle/>
          <a:p>
            <a:pPr algn="l">
              <a:spcAft>
                <a:spcPts val="400"/>
              </a:spcAft>
            </a:pPr>
            <a:r>
              <a:rPr sz="1300" b="0">
                <a:solidFill>
                  <a:srgbClr val="161B26"/>
                </a:solidFill>
                <a:latin typeface="Arial"/>
              </a:rPr>
              <a:t>Custom TensorFlow / PyTorch / scikit-learn code</a:t>
            </a:r>
          </a:p>
        </p:txBody>
      </p:sp>
      <p:sp>
        <p:nvSpPr>
          <p:cNvPr id="17" name="TextBox 16"/>
          <p:cNvSpPr txBox="1"/>
          <p:nvPr/>
        </p:nvSpPr>
        <p:spPr>
          <a:xfrm>
            <a:off x="6446520" y="2538984"/>
            <a:ext cx="484632" cy="60960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931152" y="2538984"/>
            <a:ext cx="448056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538984"/>
            <a:ext cx="91440"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538984"/>
            <a:ext cx="4078224" cy="609600"/>
          </a:xfrm>
          <a:prstGeom prst="rect">
            <a:avLst/>
          </a:prstGeom>
          <a:noFill/>
        </p:spPr>
        <p:txBody>
          <a:bodyPr wrap="square" anchor="ctr">
            <a:spAutoFit/>
          </a:bodyPr>
          <a:lstStyle/>
          <a:p>
            <a:pPr algn="l">
              <a:spcAft>
                <a:spcPts val="400"/>
              </a:spcAft>
            </a:pPr>
            <a:r>
              <a:rPr sz="1300" b="1">
                <a:solidFill>
                  <a:srgbClr val="10B981"/>
                </a:solidFill>
                <a:latin typeface="Arial"/>
              </a:rPr>
              <a:t>SageMaker script mode</a:t>
            </a:r>
          </a:p>
        </p:txBody>
      </p:sp>
      <p:sp>
        <p:nvSpPr>
          <p:cNvPr id="21" name="Rectangle 20"/>
          <p:cNvSpPr/>
          <p:nvPr/>
        </p:nvSpPr>
        <p:spPr>
          <a:xfrm>
            <a:off x="777240" y="3294888"/>
            <a:ext cx="566928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294888"/>
            <a:ext cx="91440" cy="6096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294888"/>
            <a:ext cx="5266944" cy="609600"/>
          </a:xfrm>
          <a:prstGeom prst="rect">
            <a:avLst/>
          </a:prstGeom>
          <a:noFill/>
        </p:spPr>
        <p:txBody>
          <a:bodyPr wrap="square" anchor="ctr">
            <a:spAutoFit/>
          </a:bodyPr>
          <a:lstStyle/>
          <a:p>
            <a:pPr algn="l">
              <a:spcAft>
                <a:spcPts val="400"/>
              </a:spcAft>
            </a:pPr>
            <a:r>
              <a:rPr sz="1300" b="0">
                <a:solidFill>
                  <a:srgbClr val="161B26"/>
                </a:solidFill>
                <a:latin typeface="Arial"/>
              </a:rPr>
              <a:t>Full control of runtime and dependencies</a:t>
            </a:r>
          </a:p>
        </p:txBody>
      </p:sp>
      <p:sp>
        <p:nvSpPr>
          <p:cNvPr id="24" name="TextBox 23"/>
          <p:cNvSpPr txBox="1"/>
          <p:nvPr/>
        </p:nvSpPr>
        <p:spPr>
          <a:xfrm>
            <a:off x="6446520" y="3294888"/>
            <a:ext cx="484632" cy="60960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931152" y="3294888"/>
            <a:ext cx="448056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294888"/>
            <a:ext cx="91440"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294888"/>
            <a:ext cx="4078224" cy="609600"/>
          </a:xfrm>
          <a:prstGeom prst="rect">
            <a:avLst/>
          </a:prstGeom>
          <a:noFill/>
        </p:spPr>
        <p:txBody>
          <a:bodyPr wrap="square" anchor="ctr">
            <a:spAutoFit/>
          </a:bodyPr>
          <a:lstStyle/>
          <a:p>
            <a:pPr algn="l">
              <a:spcAft>
                <a:spcPts val="400"/>
              </a:spcAft>
            </a:pPr>
            <a:r>
              <a:rPr sz="1300" b="1">
                <a:solidFill>
                  <a:srgbClr val="10B981"/>
                </a:solidFill>
                <a:latin typeface="Arial"/>
              </a:rPr>
              <a:t>Bring Your Own Container (ECR)</a:t>
            </a:r>
          </a:p>
        </p:txBody>
      </p:sp>
      <p:sp>
        <p:nvSpPr>
          <p:cNvPr id="28" name="Rectangle 27"/>
          <p:cNvSpPr/>
          <p:nvPr/>
        </p:nvSpPr>
        <p:spPr>
          <a:xfrm>
            <a:off x="777240" y="4050792"/>
            <a:ext cx="566928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050792"/>
            <a:ext cx="91440" cy="6096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050792"/>
            <a:ext cx="5266944" cy="609600"/>
          </a:xfrm>
          <a:prstGeom prst="rect">
            <a:avLst/>
          </a:prstGeom>
          <a:noFill/>
        </p:spPr>
        <p:txBody>
          <a:bodyPr wrap="square" anchor="ctr">
            <a:spAutoFit/>
          </a:bodyPr>
          <a:lstStyle/>
          <a:p>
            <a:pPr algn="l">
              <a:spcAft>
                <a:spcPts val="400"/>
              </a:spcAft>
            </a:pPr>
            <a:r>
              <a:rPr sz="1300" b="0">
                <a:solidFill>
                  <a:srgbClr val="161B26"/>
                </a:solidFill>
                <a:latin typeface="Arial"/>
              </a:rPr>
              <a:t>Start from a pretrained/open model, fine-tune</a:t>
            </a:r>
          </a:p>
        </p:txBody>
      </p:sp>
      <p:sp>
        <p:nvSpPr>
          <p:cNvPr id="31" name="TextBox 30"/>
          <p:cNvSpPr txBox="1"/>
          <p:nvPr/>
        </p:nvSpPr>
        <p:spPr>
          <a:xfrm>
            <a:off x="6446520" y="4050792"/>
            <a:ext cx="484632" cy="60960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2" name="Rectangle 31"/>
          <p:cNvSpPr/>
          <p:nvPr/>
        </p:nvSpPr>
        <p:spPr>
          <a:xfrm>
            <a:off x="6931152" y="4050792"/>
            <a:ext cx="448056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050792"/>
            <a:ext cx="91440"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050792"/>
            <a:ext cx="4078224" cy="609600"/>
          </a:xfrm>
          <a:prstGeom prst="rect">
            <a:avLst/>
          </a:prstGeom>
          <a:noFill/>
        </p:spPr>
        <p:txBody>
          <a:bodyPr wrap="square" anchor="ctr">
            <a:spAutoFit/>
          </a:bodyPr>
          <a:lstStyle/>
          <a:p>
            <a:pPr algn="l">
              <a:spcAft>
                <a:spcPts val="400"/>
              </a:spcAft>
            </a:pPr>
            <a:r>
              <a:rPr sz="1300" b="1">
                <a:solidFill>
                  <a:srgbClr val="10B981"/>
                </a:solidFill>
                <a:latin typeface="Arial"/>
              </a:rPr>
              <a:t>SageMaker JumpStart</a:t>
            </a:r>
          </a:p>
        </p:txBody>
      </p:sp>
      <p:sp>
        <p:nvSpPr>
          <p:cNvPr id="35" name="Rectangle 34"/>
          <p:cNvSpPr/>
          <p:nvPr/>
        </p:nvSpPr>
        <p:spPr>
          <a:xfrm>
            <a:off x="777240" y="4806696"/>
            <a:ext cx="566928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4806696"/>
            <a:ext cx="91440" cy="6096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4806696"/>
            <a:ext cx="5266944" cy="609600"/>
          </a:xfrm>
          <a:prstGeom prst="rect">
            <a:avLst/>
          </a:prstGeom>
          <a:noFill/>
        </p:spPr>
        <p:txBody>
          <a:bodyPr wrap="square" anchor="ctr">
            <a:spAutoFit/>
          </a:bodyPr>
          <a:lstStyle/>
          <a:p>
            <a:pPr algn="l">
              <a:spcAft>
                <a:spcPts val="400"/>
              </a:spcAft>
            </a:pPr>
            <a:r>
              <a:rPr sz="1300" b="0">
                <a:solidFill>
                  <a:srgbClr val="161B26"/>
                </a:solidFill>
                <a:latin typeface="Arial"/>
              </a:rPr>
              <a:t>Generative text/summarisation via foundation model</a:t>
            </a:r>
          </a:p>
        </p:txBody>
      </p:sp>
      <p:sp>
        <p:nvSpPr>
          <p:cNvPr id="38" name="TextBox 37"/>
          <p:cNvSpPr txBox="1"/>
          <p:nvPr/>
        </p:nvSpPr>
        <p:spPr>
          <a:xfrm>
            <a:off x="6446520" y="4806696"/>
            <a:ext cx="484632" cy="60960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9" name="Rectangle 38"/>
          <p:cNvSpPr/>
          <p:nvPr/>
        </p:nvSpPr>
        <p:spPr>
          <a:xfrm>
            <a:off x="6931152" y="4806696"/>
            <a:ext cx="448056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4806696"/>
            <a:ext cx="91440"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4806696"/>
            <a:ext cx="4078224" cy="609600"/>
          </a:xfrm>
          <a:prstGeom prst="rect">
            <a:avLst/>
          </a:prstGeom>
          <a:noFill/>
        </p:spPr>
        <p:txBody>
          <a:bodyPr wrap="square" anchor="ctr">
            <a:spAutoFit/>
          </a:bodyPr>
          <a:lstStyle/>
          <a:p>
            <a:pPr algn="l">
              <a:spcAft>
                <a:spcPts val="400"/>
              </a:spcAft>
            </a:pPr>
            <a:r>
              <a:rPr sz="1300" b="1">
                <a:solidFill>
                  <a:srgbClr val="10B981"/>
                </a:solidFill>
                <a:latin typeface="Arial"/>
              </a:rPr>
              <a:t>Amazon Bedrock</a:t>
            </a:r>
          </a:p>
        </p:txBody>
      </p:sp>
      <p:sp>
        <p:nvSpPr>
          <p:cNvPr id="42" name="Rectangle 41"/>
          <p:cNvSpPr/>
          <p:nvPr/>
        </p:nvSpPr>
        <p:spPr>
          <a:xfrm>
            <a:off x="777240" y="5562600"/>
            <a:ext cx="566928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562600"/>
            <a:ext cx="91440" cy="6096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562600"/>
            <a:ext cx="5266944" cy="609600"/>
          </a:xfrm>
          <a:prstGeom prst="rect">
            <a:avLst/>
          </a:prstGeom>
          <a:noFill/>
        </p:spPr>
        <p:txBody>
          <a:bodyPr wrap="square" anchor="ctr">
            <a:spAutoFit/>
          </a:bodyPr>
          <a:lstStyle/>
          <a:p>
            <a:pPr algn="l">
              <a:spcAft>
                <a:spcPts val="400"/>
              </a:spcAft>
            </a:pPr>
            <a:r>
              <a:rPr sz="1300" b="0">
                <a:solidFill>
                  <a:srgbClr val="161B26"/>
                </a:solidFill>
                <a:latin typeface="Arial"/>
              </a:rPr>
              <a:t>Standard perception task, no training wanted</a:t>
            </a:r>
          </a:p>
        </p:txBody>
      </p:sp>
      <p:sp>
        <p:nvSpPr>
          <p:cNvPr id="45" name="TextBox 44"/>
          <p:cNvSpPr txBox="1"/>
          <p:nvPr/>
        </p:nvSpPr>
        <p:spPr>
          <a:xfrm>
            <a:off x="6446520" y="5562600"/>
            <a:ext cx="484632" cy="60960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46" name="Rectangle 45"/>
          <p:cNvSpPr/>
          <p:nvPr/>
        </p:nvSpPr>
        <p:spPr>
          <a:xfrm>
            <a:off x="6931152" y="5562600"/>
            <a:ext cx="4480560"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31152" y="5562600"/>
            <a:ext cx="91440"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05472" y="5562600"/>
            <a:ext cx="4078224" cy="609600"/>
          </a:xfrm>
          <a:prstGeom prst="rect">
            <a:avLst/>
          </a:prstGeom>
          <a:noFill/>
        </p:spPr>
        <p:txBody>
          <a:bodyPr wrap="square" anchor="ctr">
            <a:spAutoFit/>
          </a:bodyPr>
          <a:lstStyle/>
          <a:p>
            <a:pPr algn="l">
              <a:spcAft>
                <a:spcPts val="400"/>
              </a:spcAft>
            </a:pPr>
            <a:r>
              <a:rPr sz="1300" b="1">
                <a:solidFill>
                  <a:srgbClr val="10B981"/>
                </a:solidFill>
                <a:latin typeface="Arial"/>
              </a:rPr>
              <a:t>Managed AI service (Rekognition, Comprehend, Textract…)</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NO-TRAINING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Managed AI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Rekognition</a:t>
            </a:r>
          </a:p>
          <a:p>
            <a:pPr algn="l">
              <a:spcAft>
                <a:spcPts val="300"/>
              </a:spcAft>
            </a:pPr>
            <a:r>
              <a:rPr sz="1200" b="0">
                <a:solidFill>
                  <a:srgbClr val="5B6372"/>
                </a:solidFill>
                <a:latin typeface="Arial"/>
              </a:rPr>
              <a:t>Image and video analysis — objects, faces, moderation.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Comprehend</a:t>
            </a:r>
          </a:p>
          <a:p>
            <a:pPr algn="l">
              <a:spcAft>
                <a:spcPts val="300"/>
              </a:spcAft>
            </a:pPr>
            <a:r>
              <a:rPr sz="1200" b="0">
                <a:solidFill>
                  <a:srgbClr val="5B6372"/>
                </a:solidFill>
                <a:latin typeface="Arial"/>
              </a:rPr>
              <a:t>NLP — entities, sentiment, key phrases, PII detection.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Textract</a:t>
            </a:r>
          </a:p>
          <a:p>
            <a:pPr algn="l">
              <a:spcAft>
                <a:spcPts val="300"/>
              </a:spcAft>
            </a:pPr>
            <a:r>
              <a:rPr sz="1200" b="0">
                <a:solidFill>
                  <a:srgbClr val="5B6372"/>
                </a:solidFill>
                <a:latin typeface="Arial"/>
              </a:rPr>
              <a:t>Extract text, forms and tables from documents.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Translate</a:t>
            </a:r>
          </a:p>
          <a:p>
            <a:pPr algn="l">
              <a:spcAft>
                <a:spcPts val="300"/>
              </a:spcAft>
            </a:pPr>
            <a:r>
              <a:rPr sz="1200" b="0">
                <a:solidFill>
                  <a:srgbClr val="5B6372"/>
                </a:solidFill>
                <a:latin typeface="Arial"/>
              </a:rPr>
              <a:t>Neural machine translation between languages.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Transcribe / Polly</a:t>
            </a:r>
          </a:p>
          <a:p>
            <a:pPr algn="l">
              <a:spcAft>
                <a:spcPts val="300"/>
              </a:spcAft>
            </a:pPr>
            <a:r>
              <a:rPr sz="1200" b="0">
                <a:solidFill>
                  <a:srgbClr val="5B6372"/>
                </a:solidFill>
                <a:latin typeface="Arial"/>
              </a:rPr>
              <a:t>Speech-to-text and text-to-speech.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Bedrock</a:t>
            </a:r>
          </a:p>
          <a:p>
            <a:pPr algn="l">
              <a:spcAft>
                <a:spcPts val="300"/>
              </a:spcAft>
            </a:pPr>
            <a:r>
              <a:rPr sz="1200" b="0">
                <a:solidFill>
                  <a:srgbClr val="5B6372"/>
                </a:solidFill>
                <a:latin typeface="Arial"/>
              </a:rPr>
              <a:t>Foundation models for text, chat, summarisation and RAG.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02 · HOW TRAINING RUNS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Training Job Anatomy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Input channels</a:t>
            </a:r>
          </a:p>
          <a:p>
            <a:pPr algn="l">
              <a:spcAft>
                <a:spcPts val="300"/>
              </a:spcAft>
            </a:pPr>
            <a:r>
              <a:rPr sz="1200" b="0">
                <a:solidFill>
                  <a:srgbClr val="5B6372"/>
                </a:solidFill>
                <a:latin typeface="Arial"/>
              </a:rPr>
              <a:t>train/validation/test data read from S3 (or Feature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Instance &amp; count</a:t>
            </a:r>
          </a:p>
          <a:p>
            <a:pPr algn="l">
              <a:spcAft>
                <a:spcPts val="300"/>
              </a:spcAft>
            </a:pPr>
            <a:r>
              <a:rPr sz="1200" b="0">
                <a:solidFill>
                  <a:srgbClr val="5B6372"/>
                </a:solidFill>
                <a:latin typeface="Arial"/>
              </a:rPr>
              <a:t>Instance type/family and how many for the job.</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Container image</a:t>
            </a:r>
          </a:p>
          <a:p>
            <a:pPr algn="l">
              <a:spcAft>
                <a:spcPts val="300"/>
              </a:spcAft>
            </a:pPr>
            <a:r>
              <a:rPr sz="1200" b="0">
                <a:solidFill>
                  <a:srgbClr val="5B6372"/>
                </a:solidFill>
                <a:latin typeface="Arial"/>
              </a:rPr>
              <a:t>Built-in, framework (script mode) or your own (BYOC).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Execution role</a:t>
            </a:r>
          </a:p>
          <a:p>
            <a:pPr algn="l">
              <a:spcAft>
                <a:spcPts val="300"/>
              </a:spcAft>
            </a:pPr>
            <a:r>
              <a:rPr sz="1200" b="0">
                <a:solidFill>
                  <a:srgbClr val="5B6372"/>
                </a:solidFill>
                <a:latin typeface="Arial"/>
              </a:rPr>
              <a:t>IAM role SageMaker assumes to access S3 and write output.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Hyperparameters</a:t>
            </a:r>
          </a:p>
          <a:p>
            <a:pPr algn="l">
              <a:spcAft>
                <a:spcPts val="300"/>
              </a:spcAft>
            </a:pPr>
            <a:r>
              <a:rPr sz="1200" b="0">
                <a:solidFill>
                  <a:srgbClr val="5B6372"/>
                </a:solidFill>
                <a:latin typeface="Arial"/>
              </a:rPr>
              <a:t>Epochs, batch size, learning rate passed to the job.</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 path</a:t>
            </a:r>
          </a:p>
          <a:p>
            <a:pPr algn="l">
              <a:spcAft>
                <a:spcPts val="300"/>
              </a:spcAft>
            </a:pPr>
            <a:r>
              <a:rPr sz="1200" b="0">
                <a:solidFill>
                  <a:srgbClr val="5B6372"/>
                </a:solidFill>
                <a:latin typeface="Arial"/>
              </a:rPr>
              <a:t>Model artifact (model.tar.gz) written back to S3.</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02 · TRAIN EFFICIENTLY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Training Concepts &amp; Input Modes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Epoch / batch / learning rate</a:t>
            </a:r>
          </a:p>
          <a:p>
            <a:pPr algn="l">
              <a:spcAft>
                <a:spcPts val="300"/>
              </a:spcAft>
            </a:pPr>
            <a:r>
              <a:rPr sz="1200" b="0">
                <a:solidFill>
                  <a:srgbClr val="5B6372"/>
                </a:solidFill>
                <a:latin typeface="Arial"/>
              </a:rPr>
              <a:t>One full pass; samples per step; step size toward the minimum.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Early stopping</a:t>
            </a:r>
          </a:p>
          <a:p>
            <a:pPr algn="l">
              <a:spcAft>
                <a:spcPts val="300"/>
              </a:spcAft>
            </a:pPr>
            <a:r>
              <a:rPr sz="1200" b="0">
                <a:solidFill>
                  <a:srgbClr val="5B6372"/>
                </a:solidFill>
                <a:latin typeface="Arial"/>
              </a:rPr>
              <a:t>Stop when validation stops improving to avoid overfitting and cost.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File mode</a:t>
            </a:r>
          </a:p>
          <a:p>
            <a:pPr algn="l">
              <a:spcAft>
                <a:spcPts val="300"/>
              </a:spcAft>
            </a:pPr>
            <a:r>
              <a:rPr sz="1200" b="0">
                <a:solidFill>
                  <a:srgbClr val="5B6372"/>
                </a:solidFill>
                <a:latin typeface="Arial"/>
              </a:rPr>
              <a:t>Copies the full dataset to the instance before training starts.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Pipe / FastFile mode</a:t>
            </a:r>
          </a:p>
          <a:p>
            <a:pPr algn="l">
              <a:spcAft>
                <a:spcPts val="300"/>
              </a:spcAft>
            </a:pPr>
            <a:r>
              <a:rPr sz="1200" b="0">
                <a:solidFill>
                  <a:srgbClr val="5B6372"/>
                </a:solidFill>
                <a:latin typeface="Arial"/>
              </a:rPr>
              <a:t>Streams data from S3 — faster start, less local disk.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Distributed training</a:t>
            </a:r>
          </a:p>
          <a:p>
            <a:pPr algn="l">
              <a:spcAft>
                <a:spcPts val="300"/>
              </a:spcAft>
            </a:pPr>
            <a:r>
              <a:rPr sz="1200" b="0">
                <a:solidFill>
                  <a:srgbClr val="5B6372"/>
                </a:solidFill>
                <a:latin typeface="Arial"/>
              </a:rPr>
              <a:t>Data/model parallel across instances for large jobs.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Managed Spot training</a:t>
            </a:r>
          </a:p>
          <a:p>
            <a:pPr algn="l">
              <a:spcAft>
                <a:spcPts val="300"/>
              </a:spcAft>
            </a:pPr>
            <a:r>
              <a:rPr sz="1200" b="0">
                <a:solidFill>
                  <a:srgbClr val="5B6372"/>
                </a:solidFill>
                <a:latin typeface="Arial"/>
              </a:rPr>
              <a:t>Up to ~90% cheaper with checkpointing for interruptions.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02 · CATCH TRAINING PROBLEMS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Debugger &amp; Profiler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Tensor capture</a:t>
            </a:r>
          </a:p>
          <a:p>
            <a:pPr algn="l">
              <a:spcAft>
                <a:spcPts val="300"/>
              </a:spcAft>
            </a:pPr>
            <a:r>
              <a:rPr sz="1200" b="0">
                <a:solidFill>
                  <a:srgbClr val="5B6372"/>
                </a:solidFill>
                <a:latin typeface="Arial"/>
              </a:rPr>
              <a:t>Save weights, gradients and losses during training.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Built-in rules</a:t>
            </a:r>
          </a:p>
          <a:p>
            <a:pPr algn="l">
              <a:spcAft>
                <a:spcPts val="300"/>
              </a:spcAft>
            </a:pPr>
            <a:r>
              <a:rPr sz="1200" b="0">
                <a:solidFill>
                  <a:srgbClr val="5B6372"/>
                </a:solidFill>
                <a:latin typeface="Arial"/>
              </a:rPr>
              <a:t>Detect vanishing/exploding gradients, overfitting, stalls.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Profiler</a:t>
            </a:r>
          </a:p>
          <a:p>
            <a:pPr algn="l">
              <a:spcAft>
                <a:spcPts val="300"/>
              </a:spcAft>
            </a:pPr>
            <a:r>
              <a:rPr sz="1200" b="0">
                <a:solidFill>
                  <a:srgbClr val="5B6372"/>
                </a:solidFill>
                <a:latin typeface="Arial"/>
              </a:rPr>
              <a:t>Spot GPU/CPU under-utilisation and I/O bottlenecks.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Actions &amp; alerts</a:t>
            </a:r>
          </a:p>
          <a:p>
            <a:pPr algn="l">
              <a:spcAft>
                <a:spcPts val="300"/>
              </a:spcAft>
            </a:pPr>
            <a:r>
              <a:rPr sz="1200" b="0">
                <a:solidFill>
                  <a:srgbClr val="5B6372"/>
                </a:solidFill>
                <a:latin typeface="Arial"/>
              </a:rPr>
              <a:t>Stop a broken job automatically to save cost.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TensorBoard</a:t>
            </a:r>
          </a:p>
          <a:p>
            <a:pPr algn="l">
              <a:spcAft>
                <a:spcPts val="300"/>
              </a:spcAft>
            </a:pPr>
            <a:r>
              <a:rPr sz="1200" b="0">
                <a:solidFill>
                  <a:srgbClr val="5B6372"/>
                </a:solidFill>
                <a:latin typeface="Arial"/>
              </a:rPr>
              <a:t>Visualise curves to diagnose training behaviour.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Fail fast instead of paying for a doomed long job.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02 · SPEED UP EXPERIMENTS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Automated &amp; Assisted Model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Autopilot</a:t>
            </a:r>
          </a:p>
          <a:p>
            <a:pPr algn="l">
              <a:spcAft>
                <a:spcPts val="300"/>
              </a:spcAft>
            </a:pPr>
            <a:r>
              <a:rPr sz="1200" b="0">
                <a:solidFill>
                  <a:srgbClr val="5B6372"/>
                </a:solidFill>
                <a:latin typeface="Arial"/>
              </a:rPr>
              <a:t>AutoML — explores algorithms/features and ranks candidate models.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Automatic Model Tuning</a:t>
            </a:r>
          </a:p>
          <a:p>
            <a:pPr algn="l">
              <a:spcAft>
                <a:spcPts val="300"/>
              </a:spcAft>
            </a:pPr>
            <a:r>
              <a:rPr sz="1200" b="0">
                <a:solidFill>
                  <a:srgbClr val="5B6372"/>
                </a:solidFill>
                <a:latin typeface="Arial"/>
              </a:rPr>
              <a:t>Random, grid, Bayesian or Hyperband search over an objective metric.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Experiments</a:t>
            </a:r>
          </a:p>
          <a:p>
            <a:pPr algn="l">
              <a:spcAft>
                <a:spcPts val="300"/>
              </a:spcAft>
            </a:pPr>
            <a:r>
              <a:rPr sz="1200" b="0">
                <a:solidFill>
                  <a:srgbClr val="5B6372"/>
                </a:solidFill>
                <a:latin typeface="Arial"/>
              </a:rPr>
              <a:t>Tracks trials, parameters and metrics for reproducibility.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Debugger</a:t>
            </a:r>
          </a:p>
          <a:p>
            <a:pPr algn="l">
              <a:spcAft>
                <a:spcPts val="300"/>
              </a:spcAft>
            </a:pPr>
            <a:r>
              <a:rPr sz="1200" b="0">
                <a:solidFill>
                  <a:srgbClr val="5B6372"/>
                </a:solidFill>
                <a:latin typeface="Arial"/>
              </a:rPr>
              <a:t>Captures tensors to catch vanishing gradients, overfitting, stalls.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Canvas</a:t>
            </a:r>
          </a:p>
          <a:p>
            <a:pPr algn="l">
              <a:spcAft>
                <a:spcPts val="300"/>
              </a:spcAft>
            </a:pPr>
            <a:r>
              <a:rPr sz="1200" b="0">
                <a:solidFill>
                  <a:srgbClr val="5B6372"/>
                </a:solidFill>
                <a:latin typeface="Arial"/>
              </a:rPr>
              <a:t>No-code model building for business analysts.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JumpStart</a:t>
            </a:r>
          </a:p>
          <a:p>
            <a:pPr algn="l">
              <a:spcAft>
                <a:spcPts val="300"/>
              </a:spcAft>
            </a:pPr>
            <a:r>
              <a:rPr sz="1200" b="0">
                <a:solidFill>
                  <a:srgbClr val="5B6372"/>
                </a:solidFill>
                <a:latin typeface="Arial"/>
              </a:rPr>
              <a:t>Prebuilt models and solution templates to deploy or fine-tune.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SEARCH SMARTER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Hyperparameter Tuning Strategies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Strategy</a:t>
            </a:r>
          </a:p>
        </p:txBody>
      </p:sp>
      <p:sp>
        <p:nvSpPr>
          <p:cNvPr id="9" name="Rectangle 8"/>
          <p:cNvSpPr/>
          <p:nvPr/>
        </p:nvSpPr>
        <p:spPr>
          <a:xfrm>
            <a:off x="3329513" y="1783080"/>
            <a:ext cx="276496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How it searches</a:t>
            </a:r>
          </a:p>
        </p:txBody>
      </p:sp>
      <p:sp>
        <p:nvSpPr>
          <p:cNvPr id="11" name="Rectangle 10"/>
          <p:cNvSpPr/>
          <p:nvPr/>
        </p:nvSpPr>
        <p:spPr>
          <a:xfrm>
            <a:off x="6094475" y="1783080"/>
            <a:ext cx="5317237"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Trade-off</a:t>
            </a:r>
          </a:p>
        </p:txBody>
      </p:sp>
      <p:sp>
        <p:nvSpPr>
          <p:cNvPr id="13" name="Rectangle 12"/>
          <p:cNvSpPr/>
          <p:nvPr/>
        </p:nvSpPr>
        <p:spPr>
          <a:xfrm>
            <a:off x="777240" y="22860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Grid search</a:t>
            </a:r>
          </a:p>
        </p:txBody>
      </p:sp>
      <p:sp>
        <p:nvSpPr>
          <p:cNvPr id="15" name="Rectangle 14"/>
          <p:cNvSpPr/>
          <p:nvPr/>
        </p:nvSpPr>
        <p:spPr>
          <a:xfrm>
            <a:off x="3329513" y="22860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Every combination in a grid</a:t>
            </a:r>
          </a:p>
        </p:txBody>
      </p:sp>
      <p:sp>
        <p:nvSpPr>
          <p:cNvPr id="17" name="Rectangle 16"/>
          <p:cNvSpPr/>
          <p:nvPr/>
        </p:nvSpPr>
        <p:spPr>
          <a:xfrm>
            <a:off x="6094475" y="22860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Thorough but very expensive</a:t>
            </a:r>
          </a:p>
        </p:txBody>
      </p:sp>
      <p:sp>
        <p:nvSpPr>
          <p:cNvPr id="19" name="Rectangle 18"/>
          <p:cNvSpPr/>
          <p:nvPr/>
        </p:nvSpPr>
        <p:spPr>
          <a:xfrm>
            <a:off x="777240" y="32575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2575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Random search</a:t>
            </a:r>
          </a:p>
        </p:txBody>
      </p:sp>
      <p:sp>
        <p:nvSpPr>
          <p:cNvPr id="21" name="Rectangle 20"/>
          <p:cNvSpPr/>
          <p:nvPr/>
        </p:nvSpPr>
        <p:spPr>
          <a:xfrm>
            <a:off x="3329513" y="32575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2575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Random points in the ranges</a:t>
            </a:r>
          </a:p>
        </p:txBody>
      </p:sp>
      <p:sp>
        <p:nvSpPr>
          <p:cNvPr id="23" name="Rectangle 22"/>
          <p:cNvSpPr/>
          <p:nvPr/>
        </p:nvSpPr>
        <p:spPr>
          <a:xfrm>
            <a:off x="6094475" y="32575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2575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Cheap baseline, good coverage</a:t>
            </a:r>
          </a:p>
        </p:txBody>
      </p:sp>
      <p:sp>
        <p:nvSpPr>
          <p:cNvPr id="25" name="Rectangle 24"/>
          <p:cNvSpPr/>
          <p:nvPr/>
        </p:nvSpPr>
        <p:spPr>
          <a:xfrm>
            <a:off x="777240" y="42291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2291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Bayesian</a:t>
            </a:r>
          </a:p>
        </p:txBody>
      </p:sp>
      <p:sp>
        <p:nvSpPr>
          <p:cNvPr id="27" name="Rectangle 26"/>
          <p:cNvSpPr/>
          <p:nvPr/>
        </p:nvSpPr>
        <p:spPr>
          <a:xfrm>
            <a:off x="3329513" y="42291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42291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Learns from prior trials</a:t>
            </a:r>
          </a:p>
        </p:txBody>
      </p:sp>
      <p:sp>
        <p:nvSpPr>
          <p:cNvPr id="29" name="Rectangle 28"/>
          <p:cNvSpPr/>
          <p:nvPr/>
        </p:nvSpPr>
        <p:spPr>
          <a:xfrm>
            <a:off x="6094475" y="42291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42291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Sample-efficient; the usual default</a:t>
            </a:r>
          </a:p>
        </p:txBody>
      </p:sp>
      <p:sp>
        <p:nvSpPr>
          <p:cNvPr id="31" name="Rectangle 30"/>
          <p:cNvSpPr/>
          <p:nvPr/>
        </p:nvSpPr>
        <p:spPr>
          <a:xfrm>
            <a:off x="777240" y="52006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52006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Hyperband</a:t>
            </a:r>
          </a:p>
        </p:txBody>
      </p:sp>
      <p:sp>
        <p:nvSpPr>
          <p:cNvPr id="33" name="Rectangle 32"/>
          <p:cNvSpPr/>
          <p:nvPr/>
        </p:nvSpPr>
        <p:spPr>
          <a:xfrm>
            <a:off x="3329513" y="52006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52006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Early-stops weak trials</a:t>
            </a:r>
          </a:p>
        </p:txBody>
      </p:sp>
      <p:sp>
        <p:nvSpPr>
          <p:cNvPr id="35" name="Rectangle 34"/>
          <p:cNvSpPr/>
          <p:nvPr/>
        </p:nvSpPr>
        <p:spPr>
          <a:xfrm>
            <a:off x="6094475" y="52006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52006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Fast; great for many configurations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 REPEATABLE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Train → Register → Approve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Train (script/built-in)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Tune with AMT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Track in Experiments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Register model version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Attach metrics &amp; metadata</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Set approval status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 MEASURE PERFORMANCE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 Metrics — When to Use Which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329513" y="1783080"/>
            <a:ext cx="2764962"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Reads</a:t>
            </a:r>
          </a:p>
        </p:txBody>
      </p:sp>
      <p:sp>
        <p:nvSpPr>
          <p:cNvPr id="11" name="Rectangle 10"/>
          <p:cNvSpPr/>
          <p:nvPr/>
        </p:nvSpPr>
        <p:spPr>
          <a:xfrm>
            <a:off x="6094475" y="1783080"/>
            <a:ext cx="5317237"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Prefer when</a:t>
            </a:r>
          </a:p>
        </p:txBody>
      </p:sp>
      <p:sp>
        <p:nvSpPr>
          <p:cNvPr id="13" name="Rectangle 12"/>
          <p:cNvSpPr/>
          <p:nvPr/>
        </p:nvSpPr>
        <p:spPr>
          <a:xfrm>
            <a:off x="777240" y="2286000"/>
            <a:ext cx="2552273"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Accuracy</a:t>
            </a:r>
          </a:p>
        </p:txBody>
      </p:sp>
      <p:sp>
        <p:nvSpPr>
          <p:cNvPr id="15" name="Rectangle 14"/>
          <p:cNvSpPr/>
          <p:nvPr/>
        </p:nvSpPr>
        <p:spPr>
          <a:xfrm>
            <a:off x="3329513" y="2286000"/>
            <a:ext cx="2764962"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Overall correct rate</a:t>
            </a:r>
          </a:p>
        </p:txBody>
      </p:sp>
      <p:sp>
        <p:nvSpPr>
          <p:cNvPr id="17" name="Rectangle 16"/>
          <p:cNvSpPr/>
          <p:nvPr/>
        </p:nvSpPr>
        <p:spPr>
          <a:xfrm>
            <a:off x="6094475" y="2286000"/>
            <a:ext cx="5317237"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Classes are balanced</a:t>
            </a:r>
          </a:p>
        </p:txBody>
      </p:sp>
      <p:sp>
        <p:nvSpPr>
          <p:cNvPr id="19" name="Rectangle 18"/>
          <p:cNvSpPr/>
          <p:nvPr/>
        </p:nvSpPr>
        <p:spPr>
          <a:xfrm>
            <a:off x="777240" y="2933700"/>
            <a:ext cx="2552273"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337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Precision</a:t>
            </a:r>
          </a:p>
        </p:txBody>
      </p:sp>
      <p:sp>
        <p:nvSpPr>
          <p:cNvPr id="21" name="Rectangle 20"/>
          <p:cNvSpPr/>
          <p:nvPr/>
        </p:nvSpPr>
        <p:spPr>
          <a:xfrm>
            <a:off x="3329513" y="2933700"/>
            <a:ext cx="2764962"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29337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Correctness of positive calls</a:t>
            </a:r>
          </a:p>
        </p:txBody>
      </p:sp>
      <p:sp>
        <p:nvSpPr>
          <p:cNvPr id="23" name="Rectangle 22"/>
          <p:cNvSpPr/>
          <p:nvPr/>
        </p:nvSpPr>
        <p:spPr>
          <a:xfrm>
            <a:off x="6094475" y="2933700"/>
            <a:ext cx="5317237"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29337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False positives are costly (e.g. spam)</a:t>
            </a:r>
          </a:p>
        </p:txBody>
      </p:sp>
      <p:sp>
        <p:nvSpPr>
          <p:cNvPr id="25" name="Rectangle 24"/>
          <p:cNvSpPr/>
          <p:nvPr/>
        </p:nvSpPr>
        <p:spPr>
          <a:xfrm>
            <a:off x="777240" y="3581400"/>
            <a:ext cx="2552273"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5814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Recall (TPR)</a:t>
            </a:r>
          </a:p>
        </p:txBody>
      </p:sp>
      <p:sp>
        <p:nvSpPr>
          <p:cNvPr id="27" name="Rectangle 26"/>
          <p:cNvSpPr/>
          <p:nvPr/>
        </p:nvSpPr>
        <p:spPr>
          <a:xfrm>
            <a:off x="3329513" y="3581400"/>
            <a:ext cx="2764962"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35814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Coverage of actual positives</a:t>
            </a:r>
          </a:p>
        </p:txBody>
      </p:sp>
      <p:sp>
        <p:nvSpPr>
          <p:cNvPr id="29" name="Rectangle 28"/>
          <p:cNvSpPr/>
          <p:nvPr/>
        </p:nvSpPr>
        <p:spPr>
          <a:xfrm>
            <a:off x="6094475" y="3581400"/>
            <a:ext cx="5317237"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35814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False negatives are costly (e.g. disease)</a:t>
            </a:r>
          </a:p>
        </p:txBody>
      </p:sp>
      <p:sp>
        <p:nvSpPr>
          <p:cNvPr id="31" name="Rectangle 30"/>
          <p:cNvSpPr/>
          <p:nvPr/>
        </p:nvSpPr>
        <p:spPr>
          <a:xfrm>
            <a:off x="777240" y="4229100"/>
            <a:ext cx="2552273"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2291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F1</a:t>
            </a:r>
          </a:p>
        </p:txBody>
      </p:sp>
      <p:sp>
        <p:nvSpPr>
          <p:cNvPr id="33" name="Rectangle 32"/>
          <p:cNvSpPr/>
          <p:nvPr/>
        </p:nvSpPr>
        <p:spPr>
          <a:xfrm>
            <a:off x="3329513" y="4229100"/>
            <a:ext cx="2764962"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42291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Harmonic mean of P and R</a:t>
            </a:r>
          </a:p>
        </p:txBody>
      </p:sp>
      <p:sp>
        <p:nvSpPr>
          <p:cNvPr id="35" name="Rectangle 34"/>
          <p:cNvSpPr/>
          <p:nvPr/>
        </p:nvSpPr>
        <p:spPr>
          <a:xfrm>
            <a:off x="6094475" y="4229100"/>
            <a:ext cx="5317237"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42291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Imbalanced data; balance P vs R</a:t>
            </a:r>
          </a:p>
        </p:txBody>
      </p:sp>
      <p:sp>
        <p:nvSpPr>
          <p:cNvPr id="37" name="Rectangle 36"/>
          <p:cNvSpPr/>
          <p:nvPr/>
        </p:nvSpPr>
        <p:spPr>
          <a:xfrm>
            <a:off x="777240" y="4876800"/>
            <a:ext cx="2552273"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8768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ROC AUC</a:t>
            </a:r>
          </a:p>
        </p:txBody>
      </p:sp>
      <p:sp>
        <p:nvSpPr>
          <p:cNvPr id="39" name="Rectangle 38"/>
          <p:cNvSpPr/>
          <p:nvPr/>
        </p:nvSpPr>
        <p:spPr>
          <a:xfrm>
            <a:off x="3329513" y="4876800"/>
            <a:ext cx="2764962"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57529" y="48768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Ranking across thresholds</a:t>
            </a:r>
          </a:p>
        </p:txBody>
      </p:sp>
      <p:sp>
        <p:nvSpPr>
          <p:cNvPr id="41" name="Rectangle 40"/>
          <p:cNvSpPr/>
          <p:nvPr/>
        </p:nvSpPr>
        <p:spPr>
          <a:xfrm>
            <a:off x="6094475" y="4876800"/>
            <a:ext cx="5317237" cy="6477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2491" y="48768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Comparing classifiers threshold-free</a:t>
            </a:r>
          </a:p>
        </p:txBody>
      </p:sp>
      <p:sp>
        <p:nvSpPr>
          <p:cNvPr id="43" name="Rectangle 42"/>
          <p:cNvSpPr/>
          <p:nvPr/>
        </p:nvSpPr>
        <p:spPr>
          <a:xfrm>
            <a:off x="777240" y="5524500"/>
            <a:ext cx="2552273"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5524500"/>
            <a:ext cx="2314529" cy="647700"/>
          </a:xfrm>
          <a:prstGeom prst="rect">
            <a:avLst/>
          </a:prstGeom>
          <a:noFill/>
        </p:spPr>
        <p:txBody>
          <a:bodyPr wrap="square" anchor="ctr">
            <a:spAutoFit/>
          </a:bodyPr>
          <a:lstStyle/>
          <a:p>
            <a:pPr algn="l">
              <a:spcAft>
                <a:spcPts val="400"/>
              </a:spcAft>
            </a:pPr>
            <a:r>
              <a:rPr sz="1150" b="1">
                <a:solidFill>
                  <a:srgbClr val="161B26"/>
                </a:solidFill>
                <a:latin typeface="Arial"/>
              </a:rPr>
              <a:t>MAE / RMSE / R²</a:t>
            </a:r>
          </a:p>
        </p:txBody>
      </p:sp>
      <p:sp>
        <p:nvSpPr>
          <p:cNvPr id="45" name="Rectangle 44"/>
          <p:cNvSpPr/>
          <p:nvPr/>
        </p:nvSpPr>
        <p:spPr>
          <a:xfrm>
            <a:off x="3329513" y="5524500"/>
            <a:ext cx="2764962"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57529" y="5524500"/>
            <a:ext cx="2527218" cy="647700"/>
          </a:xfrm>
          <a:prstGeom prst="rect">
            <a:avLst/>
          </a:prstGeom>
          <a:noFill/>
        </p:spPr>
        <p:txBody>
          <a:bodyPr wrap="square" anchor="ctr">
            <a:spAutoFit/>
          </a:bodyPr>
          <a:lstStyle/>
          <a:p>
            <a:pPr algn="l">
              <a:spcAft>
                <a:spcPts val="400"/>
              </a:spcAft>
            </a:pPr>
            <a:r>
              <a:rPr sz="1100" b="0">
                <a:solidFill>
                  <a:srgbClr val="5B6372"/>
                </a:solidFill>
                <a:latin typeface="Arial"/>
              </a:rPr>
              <a:t>Regression error / fit</a:t>
            </a:r>
          </a:p>
        </p:txBody>
      </p:sp>
      <p:sp>
        <p:nvSpPr>
          <p:cNvPr id="47" name="Rectangle 46"/>
          <p:cNvSpPr/>
          <p:nvPr/>
        </p:nvSpPr>
        <p:spPr>
          <a:xfrm>
            <a:off x="6094475" y="5524500"/>
            <a:ext cx="5317237" cy="6477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22491" y="5524500"/>
            <a:ext cx="5079493" cy="647700"/>
          </a:xfrm>
          <a:prstGeom prst="rect">
            <a:avLst/>
          </a:prstGeom>
          <a:noFill/>
        </p:spPr>
        <p:txBody>
          <a:bodyPr wrap="square" anchor="ctr">
            <a:spAutoFit/>
          </a:bodyPr>
          <a:lstStyle/>
          <a:p>
            <a:pPr algn="l">
              <a:spcAft>
                <a:spcPts val="400"/>
              </a:spcAft>
            </a:pPr>
            <a:r>
              <a:rPr sz="1100" b="0">
                <a:solidFill>
                  <a:srgbClr val="5B6372"/>
                </a:solidFill>
                <a:latin typeface="Arial"/>
              </a:rPr>
              <a:t>Predicting a continuous value</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BIAS–VARIANCE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Model Fit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Underfitting (high bias)</a:t>
            </a:r>
          </a:p>
          <a:p>
            <a:pPr algn="l">
              <a:spcAft>
                <a:spcPts val="300"/>
              </a:spcAft>
            </a:pPr>
            <a:r>
              <a:rPr sz="1200" b="0">
                <a:solidFill>
                  <a:srgbClr val="5B6372"/>
                </a:solidFill>
                <a:latin typeface="Arial"/>
              </a:rPr>
              <a:t>Poor on train and validation — add features/capacity.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Overfitting (high variance)</a:t>
            </a:r>
          </a:p>
          <a:p>
            <a:pPr algn="l">
              <a:spcAft>
                <a:spcPts val="300"/>
              </a:spcAft>
            </a:pPr>
            <a:r>
              <a:rPr sz="1200" b="0">
                <a:solidFill>
                  <a:srgbClr val="5B6372"/>
                </a:solidFill>
                <a:latin typeface="Arial"/>
              </a:rPr>
              <a:t>Great on train, poor on validation — regularise/more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Bias–variance trade-off</a:t>
            </a:r>
          </a:p>
          <a:p>
            <a:pPr algn="l">
              <a:spcAft>
                <a:spcPts val="300"/>
              </a:spcAft>
            </a:pPr>
            <a:r>
              <a:rPr sz="1200" b="0">
                <a:solidFill>
                  <a:srgbClr val="5B6372"/>
                </a:solidFill>
                <a:latin typeface="Arial"/>
              </a:rPr>
              <a:t>Balance the two for best generalisation.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K-fold cross-validation</a:t>
            </a:r>
          </a:p>
          <a:p>
            <a:pPr algn="l">
              <a:spcAft>
                <a:spcPts val="300"/>
              </a:spcAft>
            </a:pPr>
            <a:r>
              <a:rPr sz="1200" b="0">
                <a:solidFill>
                  <a:srgbClr val="5B6372"/>
                </a:solidFill>
                <a:latin typeface="Arial"/>
              </a:rPr>
              <a:t>Rotate validation folds for a stable estimate.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Regularisation</a:t>
            </a:r>
          </a:p>
          <a:p>
            <a:pPr algn="l">
              <a:spcAft>
                <a:spcPts val="300"/>
              </a:spcAft>
            </a:pPr>
            <a:r>
              <a:rPr sz="1200" b="0">
                <a:solidFill>
                  <a:srgbClr val="5B6372"/>
                </a:solidFill>
                <a:latin typeface="Arial"/>
              </a:rPr>
              <a:t>L1/L2, dropout, early stopping, pruning.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leakage</a:t>
            </a:r>
          </a:p>
          <a:p>
            <a:pPr algn="l">
              <a:spcAft>
                <a:spcPts val="300"/>
              </a:spcAft>
            </a:pPr>
            <a:r>
              <a:rPr sz="1200" b="0">
                <a:solidFill>
                  <a:srgbClr val="5B6372"/>
                </a:solidFill>
                <a:latin typeface="Arial"/>
              </a:rPr>
              <a:t>Target/future info in features inflates scores — remove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02 · FAIR &amp; EXPLAINABLE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Bias &amp; Explainability with Clarify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Pre-training bias</a:t>
            </a:r>
          </a:p>
          <a:p>
            <a:pPr algn="l">
              <a:spcAft>
                <a:spcPts val="300"/>
              </a:spcAft>
            </a:pPr>
            <a:r>
              <a:rPr sz="1200" b="0">
                <a:solidFill>
                  <a:srgbClr val="5B6372"/>
                </a:solidFill>
                <a:latin typeface="Arial"/>
              </a:rPr>
              <a:t>Class imbalance and label skew before you train.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Post-training bias</a:t>
            </a:r>
          </a:p>
          <a:p>
            <a:pPr algn="l">
              <a:spcAft>
                <a:spcPts val="300"/>
              </a:spcAft>
            </a:pPr>
            <a:r>
              <a:rPr sz="1200" b="0">
                <a:solidFill>
                  <a:srgbClr val="5B6372"/>
                </a:solidFill>
                <a:latin typeface="Arial"/>
              </a:rPr>
              <a:t>Fairness of predictions across groups.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SHAP values</a:t>
            </a:r>
          </a:p>
          <a:p>
            <a:pPr algn="l">
              <a:spcAft>
                <a:spcPts val="300"/>
              </a:spcAft>
            </a:pPr>
            <a:r>
              <a:rPr sz="1200" b="0">
                <a:solidFill>
                  <a:srgbClr val="5B6372"/>
                </a:solidFill>
                <a:latin typeface="Arial"/>
              </a:rPr>
              <a:t>Per-prediction feature contributions.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Global feature importance</a:t>
            </a:r>
          </a:p>
          <a:p>
            <a:pPr algn="l">
              <a:spcAft>
                <a:spcPts val="300"/>
              </a:spcAft>
            </a:pPr>
            <a:r>
              <a:rPr sz="1200" b="0">
                <a:solidFill>
                  <a:srgbClr val="5B6372"/>
                </a:solidFill>
                <a:latin typeface="Arial"/>
              </a:rPr>
              <a:t>Which features drive the model overall.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Cards</a:t>
            </a:r>
          </a:p>
          <a:p>
            <a:pPr algn="l">
              <a:spcAft>
                <a:spcPts val="300"/>
              </a:spcAft>
            </a:pPr>
            <a:r>
              <a:rPr sz="1200" b="0">
                <a:solidFill>
                  <a:srgbClr val="5B6372"/>
                </a:solidFill>
                <a:latin typeface="Arial"/>
              </a:rPr>
              <a:t>Document intended use, data and known limitations.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Trust, compliance and debugging of the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 TP/FP/FN/TN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Confusion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True positive (TP)</a:t>
            </a:r>
          </a:p>
          <a:p>
            <a:pPr algn="l">
              <a:spcAft>
                <a:spcPts val="300"/>
              </a:spcAft>
            </a:pPr>
            <a:r>
              <a:rPr sz="1200" b="0">
                <a:solidFill>
                  <a:srgbClr val="5B6372"/>
                </a:solidFill>
                <a:latin typeface="Arial"/>
              </a:rPr>
              <a:t>Predicted positive and it was positive.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False positive (FP)</a:t>
            </a:r>
          </a:p>
          <a:p>
            <a:pPr algn="l">
              <a:spcAft>
                <a:spcPts val="300"/>
              </a:spcAft>
            </a:pPr>
            <a:r>
              <a:rPr sz="1200" b="0">
                <a:solidFill>
                  <a:srgbClr val="5B6372"/>
                </a:solidFill>
                <a:latin typeface="Arial"/>
              </a:rPr>
              <a:t>Predicted positive but it was negative (false alarm).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False negative (FN)</a:t>
            </a:r>
          </a:p>
          <a:p>
            <a:pPr algn="l">
              <a:spcAft>
                <a:spcPts val="300"/>
              </a:spcAft>
            </a:pPr>
            <a:r>
              <a:rPr sz="1200" b="0">
                <a:solidFill>
                  <a:srgbClr val="5B6372"/>
                </a:solidFill>
                <a:latin typeface="Arial"/>
              </a:rPr>
              <a:t>Predicted negative but it was positive (a miss).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True negative (TN)</a:t>
            </a:r>
          </a:p>
          <a:p>
            <a:pPr algn="l">
              <a:spcAft>
                <a:spcPts val="300"/>
              </a:spcAft>
            </a:pPr>
            <a:r>
              <a:rPr sz="1200" b="0">
                <a:solidFill>
                  <a:srgbClr val="5B6372"/>
                </a:solidFill>
                <a:latin typeface="Arial"/>
              </a:rPr>
              <a:t>Predicted negative and it was negative.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Precision = TP/(TP+FP)</a:t>
            </a:r>
          </a:p>
          <a:p>
            <a:pPr algn="l">
              <a:spcAft>
                <a:spcPts val="300"/>
              </a:spcAft>
            </a:pPr>
            <a:r>
              <a:rPr sz="1200" b="0">
                <a:solidFill>
                  <a:srgbClr val="5B6372"/>
                </a:solidFill>
                <a:latin typeface="Arial"/>
              </a:rPr>
              <a:t>Trust in a positive prediction.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Recall = TP/(TP+FN)</a:t>
            </a:r>
          </a:p>
          <a:p>
            <a:pPr algn="l">
              <a:spcAft>
                <a:spcPts val="300"/>
              </a:spcAft>
            </a:pPr>
            <a:r>
              <a:rPr sz="1200" b="0">
                <a:solidFill>
                  <a:srgbClr val="5B6372"/>
                </a:solidFill>
                <a:latin typeface="Arial"/>
              </a:rPr>
              <a:t>Coverage of the actual positives.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THE ML 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Studio &amp; Developer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Studio</a:t>
            </a:r>
          </a:p>
          <a:p>
            <a:pPr algn="l">
              <a:spcAft>
                <a:spcPts val="300"/>
              </a:spcAft>
            </a:pPr>
            <a:r>
              <a:rPr sz="1200" b="0">
                <a:solidFill>
                  <a:srgbClr val="5B6372"/>
                </a:solidFill>
                <a:latin typeface="Arial"/>
              </a:rPr>
              <a:t>Web IDE for notebooks, training and deployment.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Notebooks</a:t>
            </a:r>
          </a:p>
          <a:p>
            <a:pPr algn="l">
              <a:spcAft>
                <a:spcPts val="300"/>
              </a:spcAft>
            </a:pPr>
            <a:r>
              <a:rPr sz="1200" b="0">
                <a:solidFill>
                  <a:srgbClr val="5B6372"/>
                </a:solidFill>
                <a:latin typeface="Arial"/>
              </a:rPr>
              <a:t>Managed Jupyter for exploration and prototyping.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Training jobs</a:t>
            </a:r>
          </a:p>
          <a:p>
            <a:pPr algn="l">
              <a:spcAft>
                <a:spcPts val="300"/>
              </a:spcAft>
            </a:pPr>
            <a:r>
              <a:rPr sz="1200" b="0">
                <a:solidFill>
                  <a:srgbClr val="5B6372"/>
                </a:solidFill>
                <a:latin typeface="Arial"/>
              </a:rPr>
              <a:t>Run scalable training off the notebook.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Processing jobs</a:t>
            </a:r>
          </a:p>
          <a:p>
            <a:pPr algn="l">
              <a:spcAft>
                <a:spcPts val="300"/>
              </a:spcAft>
            </a:pPr>
            <a:r>
              <a:rPr sz="1200" b="0">
                <a:solidFill>
                  <a:srgbClr val="5B6372"/>
                </a:solidFill>
                <a:latin typeface="Arial"/>
              </a:rPr>
              <a:t>Preprocess and evaluate at scale.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Pipelines view</a:t>
            </a:r>
          </a:p>
          <a:p>
            <a:pPr algn="l">
              <a:spcAft>
                <a:spcPts val="300"/>
              </a:spcAft>
            </a:pPr>
            <a:r>
              <a:rPr sz="1200" b="0">
                <a:solidFill>
                  <a:srgbClr val="5B6372"/>
                </a:solidFill>
                <a:latin typeface="Arial"/>
              </a:rPr>
              <a:t>Author and monitor ML pipelines visually.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Registry view</a:t>
            </a:r>
          </a:p>
          <a:p>
            <a:pPr algn="l">
              <a:spcAft>
                <a:spcPts val="300"/>
              </a:spcAft>
            </a:pPr>
            <a:r>
              <a:rPr sz="1200" b="0">
                <a:solidFill>
                  <a:srgbClr val="5B6372"/>
                </a:solidFill>
                <a:latin typeface="Arial"/>
              </a:rPr>
              <a:t>Browse versions and approval status.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ML Model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Modelling Approach, Algorithms and Managed AI Services</a:t>
            </a:r>
          </a:p>
          <a:p>
            <a:pPr>
              <a:spcAft>
                <a:spcPts val="900"/>
              </a:spcAft>
            </a:pPr>
            <a:r>
              <a:rPr sz="1400" b="0">
                <a:solidFill>
                  <a:srgbClr val="161B26"/>
                </a:solidFill>
                <a:latin typeface="Arial"/>
              </a:rPr>
              <a:t>•  SageMaker Training Jobs and Debugger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Automatic Model Tuning, Experiments and Model Registry</a:t>
            </a:r>
          </a:p>
          <a:p>
            <a:pPr>
              <a:spcAft>
                <a:spcPts val="900"/>
              </a:spcAft>
            </a:pPr>
            <a:r>
              <a:rPr sz="1400" b="0">
                <a:solidFill>
                  <a:srgbClr val="161B26"/>
                </a:solidFill>
                <a:latin typeface="Arial"/>
              </a:rPr>
              <a:t>•  Model Evaluation, Metrics, Bias and Explainability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Modelling Approach, Algorithms and Managed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Decide how to solve an ML problem before training: match problem types to approaches and compare SageMaker built-in algorithms, script-mode custom frameworks, JumpStart, Amazon Bedrock foundation models and managed AI services, then build a model/service selection matrix.</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model/service selection matrix for five business scenarios with cost and interpretability notes.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Amazon SageMaker AI, SageMaker JumpStart, Amazon Bedrock, Rekognition, Comprehend, Textract, Translate, Transcribe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Modelling Approach, Algorithms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List the ML problem types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each to an algorithm/service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built-in vs script vs BYOC</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JumpStart &amp; Bedrock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Score with a selection matrix</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5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Modelling Approach, Algorithms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Managed AI service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Custom SageMaker model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No training or ops to run</a:t>
            </a:r>
          </a:p>
          <a:p>
            <a:pPr>
              <a:spcAft>
                <a:spcPts val="1000"/>
              </a:spcAft>
            </a:pPr>
            <a:r>
              <a:rPr sz="1600" b="0">
                <a:solidFill>
                  <a:srgbClr val="161B26"/>
                </a:solidFill>
                <a:latin typeface="Arial"/>
              </a:rPr>
              <a:t>•  Standard vision/text/speech tasks</a:t>
            </a:r>
          </a:p>
          <a:p>
            <a:pPr>
              <a:spcAft>
                <a:spcPts val="1000"/>
              </a:spcAft>
            </a:pPr>
            <a:r>
              <a:rPr sz="1600" b="0">
                <a:solidFill>
                  <a:srgbClr val="161B26"/>
                </a:solidFill>
                <a:latin typeface="Arial"/>
              </a:rPr>
              <a:t>•  Fastest to integrate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Full control and higher accuracy</a:t>
            </a:r>
          </a:p>
          <a:p>
            <a:pPr>
              <a:spcAft>
                <a:spcPts val="1000"/>
              </a:spcAft>
            </a:pPr>
            <a:r>
              <a:rPr sz="1600" b="0">
                <a:solidFill>
                  <a:srgbClr val="161B26"/>
                </a:solidFill>
                <a:latin typeface="Arial"/>
              </a:rPr>
              <a:t>•  Trained on your own data/features</a:t>
            </a:r>
          </a:p>
          <a:p>
            <a:pPr>
              <a:spcAft>
                <a:spcPts val="1000"/>
              </a:spcAft>
            </a:pPr>
            <a:r>
              <a:rPr sz="1600" b="0">
                <a:solidFill>
                  <a:srgbClr val="161B26"/>
                </a:solidFill>
                <a:latin typeface="Arial"/>
              </a:rPr>
              <a:t>•  More build and operations effort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Modelling Approach, Algorithms and Managed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choose an AWS modelling approach for a given business outcome and justify it against data, cost, interpretability and operational requirements.</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Unsure which algorithm fits</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Match the problem type first (class/reg/cluster/forecast), then data size.</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AI service accuracy too low for the domain</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Fine-tune (JumpStart/Bedrock) or train a custom model.</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Options hard to compare</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Add cost, interpretability and ops columns to the selection matrix.</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Training Jobs and Debugger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Run the training step end to end: configure input channels, instance, container and execution role, understand the training knobs and regularisation, choose input modes and cost options, and use SageMaker Debugger and Profiler to catch training problems early.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configured, running training job plus Debugger/Profiler findings and a training-configuration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Training, SageMaker Debugger, SageMaker Profiler, Amazon S3, Managed Spot training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SageMaker Training Jobs and Debugger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Configure the training job</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input mode &amp; instance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Launch a script-mode job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Watch Debugger rules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Profiler &amp; cost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6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SageMaker Training Jobs and Debugger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Managed Spot training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On-demand training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Up to ~90% cheaper</a:t>
            </a:r>
          </a:p>
          <a:p>
            <a:pPr>
              <a:spcAft>
                <a:spcPts val="1000"/>
              </a:spcAft>
            </a:pPr>
            <a:r>
              <a:rPr sz="1600" b="0">
                <a:solidFill>
                  <a:srgbClr val="161B26"/>
                </a:solidFill>
                <a:latin typeface="Arial"/>
              </a:rPr>
              <a:t>•  Great for interruptible jobs</a:t>
            </a:r>
          </a:p>
          <a:p>
            <a:pPr>
              <a:spcAft>
                <a:spcPts val="1000"/>
              </a:spcAft>
            </a:pPr>
            <a:r>
              <a:rPr sz="1600" b="0">
                <a:solidFill>
                  <a:srgbClr val="161B26"/>
                </a:solidFill>
                <a:latin typeface="Arial"/>
              </a:rPr>
              <a:t>•  Needs checkpointing to resume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 interruption risk</a:t>
            </a:r>
          </a:p>
          <a:p>
            <a:pPr>
              <a:spcAft>
                <a:spcPts val="1000"/>
              </a:spcAft>
            </a:pPr>
            <a:r>
              <a:rPr sz="1600" b="0">
                <a:solidFill>
                  <a:srgbClr val="161B26"/>
                </a:solidFill>
                <a:latin typeface="Arial"/>
              </a:rPr>
              <a:t>•  Simpler for short jobs</a:t>
            </a:r>
          </a:p>
          <a:p>
            <a:pPr>
              <a:spcAft>
                <a:spcPts val="1000"/>
              </a:spcAft>
            </a:pPr>
            <a:r>
              <a:rPr sz="1600" b="0">
                <a:solidFill>
                  <a:srgbClr val="161B26"/>
                </a:solidFill>
                <a:latin typeface="Arial"/>
              </a:rPr>
              <a:t>•  Higher cost per hour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Training Jobs and Debugger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configure and launch a SageMaker training job, apply regularisation and cost options, and use Debugger and the Profiler to diagnose training problems.</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Training job fails to start</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Check the execution role, input channels and instance limits.</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Validation loss diverges</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Lower the learning rate; add regularisation and early stopping.</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Job is slow / GPU under-used</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Use the Profiler to find I/O or utilisation bottlenecks.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Automatic Model Tuning, Experiments and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Make model development repeatable: design an Automatic Model Tuning plan and compare search strategies, track trials with SageMaker Experiments, and version models through the Model Registry with an approval workflow.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tuning plan, an experiment-tracking scheme and a model-versioning workflow from training job to approved model package.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Automatic Model Tuning, SageMaker Experiments, SageMaker Model Registry, Amazon S3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Automatic Model Tuning, Experiments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objective metric</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a search strategy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Tune with AMT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Track trials in Experiments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Register &amp; approve the model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7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Automatic Model Tuning, Experiments…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Automatic Model Tuning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Manual tuning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Searches hyperparameters for you</a:t>
            </a:r>
          </a:p>
          <a:p>
            <a:pPr>
              <a:spcAft>
                <a:spcPts val="1000"/>
              </a:spcAft>
            </a:pPr>
            <a:r>
              <a:rPr sz="1600" b="0">
                <a:solidFill>
                  <a:srgbClr val="161B26"/>
                </a:solidFill>
                <a:latin typeface="Arial"/>
              </a:rPr>
              <a:t>•  Bayesian/Hyperband are efficient</a:t>
            </a:r>
          </a:p>
          <a:p>
            <a:pPr>
              <a:spcAft>
                <a:spcPts val="1000"/>
              </a:spcAft>
            </a:pPr>
            <a:r>
              <a:rPr sz="1600" b="0">
                <a:solidFill>
                  <a:srgbClr val="161B26"/>
                </a:solidFill>
                <a:latin typeface="Arial"/>
              </a:rPr>
              <a:t>•  Cost scales with job 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Full control of each run</a:t>
            </a:r>
          </a:p>
          <a:p>
            <a:pPr>
              <a:spcAft>
                <a:spcPts val="1000"/>
              </a:spcAft>
            </a:pPr>
            <a:r>
              <a:rPr sz="1600" b="0">
                <a:solidFill>
                  <a:srgbClr val="161B26"/>
                </a:solidFill>
                <a:latin typeface="Arial"/>
              </a:rPr>
              <a:t>•  Cheaper for one or two knobs</a:t>
            </a:r>
          </a:p>
          <a:p>
            <a:pPr>
              <a:spcAft>
                <a:spcPts val="1000"/>
              </a:spcAft>
            </a:pPr>
            <a:r>
              <a:rPr sz="1600" b="0">
                <a:solidFill>
                  <a:srgbClr val="161B26"/>
                </a:solidFill>
                <a:latin typeface="Arial"/>
              </a:rPr>
              <a:t>•  Slow and error-prone at scale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Automatic Model Tuning, Experiments and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define a tuning plan, track trials in Experiments, and register and approve a model version in the Model Registry as a repeatable workflow.</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Tuning is too expensive</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Cap max/parallel jobs and narrow the hyperparameter ranges.</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Best trial is hard to find</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Track runs in SageMaker Experiments and sort by the objective metric.</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Wrong model reaches deploy</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Gate promotion with a Model Registry approval status.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 Evaluation, Metrics, Bias and Explainability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Decide whether a model is fit to promote: compare classification and regression metrics, diagnose overfitting/underfitting and leakage, review Clarify bias and SHAP explainability, and write an evaluation and acceptance checklist.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An evaluation plan and model-acceptance checklist with metric thresholds and bias/explainability checks.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Clarify, SageMaker training/evaluation, Amazon S3, Model Cards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Model Evaluation, Metrics, Bias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Split train/validation/test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Compute metrics (confusion matrix)</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Diagnose over/underfitting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bias &amp; SHAP (Clarify)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acceptance thresholds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8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Model Evaluation, Metrics, Bias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Optimise for precision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Optimise for recall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Minimise false positives</a:t>
            </a:r>
          </a:p>
          <a:p>
            <a:pPr>
              <a:spcAft>
                <a:spcPts val="1000"/>
              </a:spcAft>
            </a:pPr>
            <a:r>
              <a:rPr sz="1600" b="0">
                <a:solidFill>
                  <a:srgbClr val="161B26"/>
                </a:solidFill>
                <a:latin typeface="Arial"/>
              </a:rPr>
              <a:t>•  e.g. spam, fraud alerts</a:t>
            </a:r>
          </a:p>
          <a:p>
            <a:pPr>
              <a:spcAft>
                <a:spcPts val="1000"/>
              </a:spcAft>
            </a:pPr>
            <a:r>
              <a:rPr sz="1600" b="0">
                <a:solidFill>
                  <a:srgbClr val="161B26"/>
                </a:solidFill>
                <a:latin typeface="Arial"/>
              </a:rPr>
              <a:t>•  May miss some true positives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Minimise false negatives</a:t>
            </a:r>
          </a:p>
          <a:p>
            <a:pPr>
              <a:spcAft>
                <a:spcPts val="1000"/>
              </a:spcAft>
            </a:pPr>
            <a:r>
              <a:rPr sz="1600" b="0">
                <a:solidFill>
                  <a:srgbClr val="161B26"/>
                </a:solidFill>
                <a:latin typeface="Arial"/>
              </a:rPr>
              <a:t>•  e.g. disease, safety screening</a:t>
            </a:r>
          </a:p>
          <a:p>
            <a:pPr>
              <a:spcAft>
                <a:spcPts val="1000"/>
              </a:spcAft>
            </a:pPr>
            <a:r>
              <a:rPr sz="1600" b="0">
                <a:solidFill>
                  <a:srgbClr val="161B26"/>
                </a:solidFill>
                <a:latin typeface="Arial"/>
              </a:rPr>
              <a:t>•  May raise more false alarms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 Evaluation, Metrics, Bias and Explainability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select appropriate metrics, interpret evaluation results, check bias and explainability, and decide whether a model is ready for approval or needs more data preparation or tuning.</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High accuracy but poor real performance</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Data is likely imbalanced or leaking — use F1 and recheck features.</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Metrics differ sharply train vs test</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Overfitting — regularise, add data or simplify the model.</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Model unfair across groups</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Use Clarify bias metrics and mitigate before approval.</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ML Model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choose an AWS modelling approach based on data, outcome, cost and operations (Domain 2: select a modelling approach)</a:t>
            </a:r>
          </a:p>
          <a:p>
            <a:pPr>
              <a:spcAft>
                <a:spcPts val="1000"/>
              </a:spcAft>
            </a:pPr>
            <a:r>
              <a:rPr sz="1700" b="0">
                <a:solidFill>
                  <a:srgbClr val="161B26"/>
                </a:solidFill>
                <a:latin typeface="Arial"/>
              </a:rPr>
              <a:t>•  You can now: configure, run and debug a SageMaker training job efficiently (Domain 2: train models)</a:t>
            </a:r>
          </a:p>
          <a:p>
            <a:pPr>
              <a:spcAft>
                <a:spcPts val="1000"/>
              </a:spcAft>
            </a:pPr>
            <a:r>
              <a:rPr sz="1700" b="0">
                <a:solidFill>
                  <a:srgbClr val="161B26"/>
                </a:solidFill>
                <a:latin typeface="Arial"/>
              </a:rPr>
              <a:t>•  You can now: run repeatable tuning, track experiments and version-control models (Domain 2: tune and manage models)</a:t>
            </a:r>
          </a:p>
          <a:p>
            <a:pPr>
              <a:spcAft>
                <a:spcPts val="1000"/>
              </a:spcAft>
            </a:pPr>
            <a:r>
              <a:rPr sz="1700" b="0">
                <a:solidFill>
                  <a:srgbClr val="161B26"/>
                </a:solidFill>
                <a:latin typeface="Arial"/>
              </a:rPr>
              <a:t>•  You can now: choose metrics, interpret results and check bias and explainability before approval (Domain 2: evaluate model performance)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Deployment and Orchestration of ML Workflows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Inference infrastructure · endpoints &amp; auto scaling · MLOps pipelines, CI/CD &amp; IaC</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MLA-C01 EXAM WEIGHTING 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Deployment and Orchestration of ML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Inference options</a:t>
            </a:r>
          </a:p>
          <a:p>
            <a:pPr algn="l">
              <a:spcAft>
                <a:spcPts val="300"/>
              </a:spcAft>
            </a:pPr>
            <a:r>
              <a:rPr sz="1100" b="0">
                <a:solidFill>
                  <a:srgbClr val="5B6372"/>
                </a:solidFill>
                <a:latin typeface="Arial"/>
              </a:rPr>
              <a:t>Real-time endpoints, serverless inference, asynchronous inference and batch transform — latency, payload, traffic and cost trade-offs.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Endpoint operations</a:t>
            </a:r>
          </a:p>
          <a:p>
            <a:pPr algn="l">
              <a:spcAft>
                <a:spcPts val="300"/>
              </a:spcAft>
            </a:pPr>
            <a:r>
              <a:rPr sz="1100" b="0">
                <a:solidFill>
                  <a:srgbClr val="5B6372"/>
                </a:solidFill>
                <a:latin typeface="Arial"/>
              </a:rPr>
              <a:t>Endpoint config, multi-model/multi-container endpoints, auto scaling on invocations-per-instance, blue/green and rollback.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Orchestration</a:t>
            </a:r>
          </a:p>
          <a:p>
            <a:pPr algn="l">
              <a:spcAft>
                <a:spcPts val="300"/>
              </a:spcAft>
            </a:pPr>
            <a:r>
              <a:rPr sz="1100" b="0">
                <a:solidFill>
                  <a:srgbClr val="5B6372"/>
                </a:solidFill>
                <a:latin typeface="Arial"/>
              </a:rPr>
              <a:t>SageMaker Pipelines steps (processing, training, tuning, condition, register, callback), Step Functions and EventBridge triggers.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CI/CD</a:t>
            </a:r>
          </a:p>
          <a:p>
            <a:pPr algn="l">
              <a:spcAft>
                <a:spcPts val="300"/>
              </a:spcAft>
            </a:pPr>
            <a:r>
              <a:rPr sz="1100" b="0">
                <a:solidFill>
                  <a:srgbClr val="5B6372"/>
                </a:solidFill>
                <a:latin typeface="Arial"/>
              </a:rPr>
              <a:t>CodePipeline and CodeBuild for automated build/test/deploy; model approval gates and artifact storage.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Infrastructure as Code</a:t>
            </a:r>
          </a:p>
          <a:p>
            <a:pPr algn="l">
              <a:spcAft>
                <a:spcPts val="300"/>
              </a:spcAft>
            </a:pPr>
            <a:r>
              <a:rPr sz="1100" b="0">
                <a:solidFill>
                  <a:srgbClr val="5B6372"/>
                </a:solidFill>
                <a:latin typeface="Arial"/>
              </a:rPr>
              <a:t>CloudFormation, CDK and SageMaker project templates to make ML infrastructure repeatable.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Safe delivery</a:t>
            </a:r>
          </a:p>
          <a:p>
            <a:pPr algn="l">
              <a:spcAft>
                <a:spcPts val="300"/>
              </a:spcAft>
            </a:pPr>
            <a:r>
              <a:rPr sz="1100" b="0">
                <a:solidFill>
                  <a:srgbClr val="5B6372"/>
                </a:solidFill>
                <a:latin typeface="Arial"/>
              </a:rPr>
              <a:t>Validation, approval, failure paths, retries and rollback so models move from development to production safely.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 SERVE PREDICTIONS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Inference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Option</a:t>
            </a:r>
          </a:p>
        </p:txBody>
      </p:sp>
      <p:sp>
        <p:nvSpPr>
          <p:cNvPr id="9" name="Rectangle 8"/>
          <p:cNvSpPr/>
          <p:nvPr/>
        </p:nvSpPr>
        <p:spPr>
          <a:xfrm>
            <a:off x="3329513" y="1783080"/>
            <a:ext cx="2764962"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Best for</a:t>
            </a:r>
          </a:p>
        </p:txBody>
      </p:sp>
      <p:sp>
        <p:nvSpPr>
          <p:cNvPr id="11" name="Rectangle 10"/>
          <p:cNvSpPr/>
          <p:nvPr/>
        </p:nvSpPr>
        <p:spPr>
          <a:xfrm>
            <a:off x="6094475" y="1783080"/>
            <a:ext cx="5317237"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Trade-off</a:t>
            </a:r>
          </a:p>
        </p:txBody>
      </p:sp>
      <p:sp>
        <p:nvSpPr>
          <p:cNvPr id="13" name="Rectangle 12"/>
          <p:cNvSpPr/>
          <p:nvPr/>
        </p:nvSpPr>
        <p:spPr>
          <a:xfrm>
            <a:off x="777240" y="22860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Real-time endpoint</a:t>
            </a:r>
          </a:p>
        </p:txBody>
      </p:sp>
      <p:sp>
        <p:nvSpPr>
          <p:cNvPr id="15" name="Rectangle 14"/>
          <p:cNvSpPr/>
          <p:nvPr/>
        </p:nvSpPr>
        <p:spPr>
          <a:xfrm>
            <a:off x="3329513" y="22860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Low-latency online serving</a:t>
            </a:r>
          </a:p>
        </p:txBody>
      </p:sp>
      <p:sp>
        <p:nvSpPr>
          <p:cNvPr id="17" name="Rectangle 16"/>
          <p:cNvSpPr/>
          <p:nvPr/>
        </p:nvSpPr>
        <p:spPr>
          <a:xfrm>
            <a:off x="6094475" y="22860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Always-on cost per instance</a:t>
            </a:r>
          </a:p>
        </p:txBody>
      </p:sp>
      <p:sp>
        <p:nvSpPr>
          <p:cNvPr id="19" name="Rectangle 18"/>
          <p:cNvSpPr/>
          <p:nvPr/>
        </p:nvSpPr>
        <p:spPr>
          <a:xfrm>
            <a:off x="777240" y="32575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2575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Serverless inference</a:t>
            </a:r>
          </a:p>
        </p:txBody>
      </p:sp>
      <p:sp>
        <p:nvSpPr>
          <p:cNvPr id="21" name="Rectangle 20"/>
          <p:cNvSpPr/>
          <p:nvPr/>
        </p:nvSpPr>
        <p:spPr>
          <a:xfrm>
            <a:off x="3329513" y="32575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2575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Spiky/intermittent traffic</a:t>
            </a:r>
          </a:p>
        </p:txBody>
      </p:sp>
      <p:sp>
        <p:nvSpPr>
          <p:cNvPr id="23" name="Rectangle 22"/>
          <p:cNvSpPr/>
          <p:nvPr/>
        </p:nvSpPr>
        <p:spPr>
          <a:xfrm>
            <a:off x="6094475" y="32575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2575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Cold starts; scales to zero</a:t>
            </a:r>
          </a:p>
        </p:txBody>
      </p:sp>
      <p:sp>
        <p:nvSpPr>
          <p:cNvPr id="25" name="Rectangle 24"/>
          <p:cNvSpPr/>
          <p:nvPr/>
        </p:nvSpPr>
        <p:spPr>
          <a:xfrm>
            <a:off x="777240" y="42291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2291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Asynchronous inference</a:t>
            </a:r>
          </a:p>
        </p:txBody>
      </p:sp>
      <p:sp>
        <p:nvSpPr>
          <p:cNvPr id="27" name="Rectangle 26"/>
          <p:cNvSpPr/>
          <p:nvPr/>
        </p:nvSpPr>
        <p:spPr>
          <a:xfrm>
            <a:off x="3329513" y="42291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42291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Large payloads, long inference</a:t>
            </a:r>
          </a:p>
        </p:txBody>
      </p:sp>
      <p:sp>
        <p:nvSpPr>
          <p:cNvPr id="29" name="Rectangle 28"/>
          <p:cNvSpPr/>
          <p:nvPr/>
        </p:nvSpPr>
        <p:spPr>
          <a:xfrm>
            <a:off x="6094475" y="42291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42291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Queued, not instant</a:t>
            </a:r>
          </a:p>
        </p:txBody>
      </p:sp>
      <p:sp>
        <p:nvSpPr>
          <p:cNvPr id="31" name="Rectangle 30"/>
          <p:cNvSpPr/>
          <p:nvPr/>
        </p:nvSpPr>
        <p:spPr>
          <a:xfrm>
            <a:off x="777240" y="52006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52006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Batch transform</a:t>
            </a:r>
          </a:p>
        </p:txBody>
      </p:sp>
      <p:sp>
        <p:nvSpPr>
          <p:cNvPr id="33" name="Rectangle 32"/>
          <p:cNvSpPr/>
          <p:nvPr/>
        </p:nvSpPr>
        <p:spPr>
          <a:xfrm>
            <a:off x="3329513" y="52006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52006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Offline scoring of a whole dataset</a:t>
            </a:r>
          </a:p>
        </p:txBody>
      </p:sp>
      <p:sp>
        <p:nvSpPr>
          <p:cNvPr id="35" name="Rectangle 34"/>
          <p:cNvSpPr/>
          <p:nvPr/>
        </p:nvSpPr>
        <p:spPr>
          <a:xfrm>
            <a:off x="6094475" y="52006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52006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No live endpoint; run then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 MATCH THE WORKLOAD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an Inference 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Low-latency online predictions 24×7</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Real-time endpoint + auto scaling</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Spiky, intermittent traffic</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Serverless inference</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Large payloads / long-running inference</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Asynchronous inference</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Score a whole dataset overnight</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Batch transform</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Many small models, cost-sensitive</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Multi-model endpoint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DEPLOY SAFELY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Patterns &amp; Safe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Multi-model endpoint</a:t>
            </a:r>
          </a:p>
          <a:p>
            <a:pPr algn="l">
              <a:spcAft>
                <a:spcPts val="300"/>
              </a:spcAft>
            </a:pPr>
            <a:r>
              <a:rPr sz="1200" b="0">
                <a:solidFill>
                  <a:srgbClr val="5B6372"/>
                </a:solidFill>
                <a:latin typeface="Arial"/>
              </a:rPr>
              <a:t>Many models behind one endpoint — cost-efficient.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Multi-container endpoint</a:t>
            </a:r>
          </a:p>
          <a:p>
            <a:pPr algn="l">
              <a:spcAft>
                <a:spcPts val="300"/>
              </a:spcAft>
            </a:pPr>
            <a:r>
              <a:rPr sz="1200" b="0">
                <a:solidFill>
                  <a:srgbClr val="5B6372"/>
                </a:solidFill>
                <a:latin typeface="Arial"/>
              </a:rPr>
              <a:t>Chain or host different containers/frameworks.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 scaling</a:t>
            </a:r>
          </a:p>
          <a:p>
            <a:pPr algn="l">
              <a:spcAft>
                <a:spcPts val="300"/>
              </a:spcAft>
            </a:pPr>
            <a:r>
              <a:rPr sz="1200" b="0">
                <a:solidFill>
                  <a:srgbClr val="5B6372"/>
                </a:solidFill>
                <a:latin typeface="Arial"/>
              </a:rPr>
              <a:t>Scale on invocations-per-instance target metric.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Blue/green &amp; canary</a:t>
            </a:r>
          </a:p>
          <a:p>
            <a:pPr algn="l">
              <a:spcAft>
                <a:spcPts val="300"/>
              </a:spcAft>
            </a:pPr>
            <a:r>
              <a:rPr sz="1200" b="0">
                <a:solidFill>
                  <a:srgbClr val="5B6372"/>
                </a:solidFill>
                <a:latin typeface="Arial"/>
              </a:rPr>
              <a:t>Shift traffic gradually to a new model version.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Shadow testing</a:t>
            </a:r>
          </a:p>
          <a:p>
            <a:pPr algn="l">
              <a:spcAft>
                <a:spcPts val="300"/>
              </a:spcAft>
            </a:pPr>
            <a:r>
              <a:rPr sz="1200" b="0">
                <a:solidFill>
                  <a:srgbClr val="5B6372"/>
                </a:solidFill>
                <a:latin typeface="Arial"/>
              </a:rPr>
              <a:t>Send live traffic copy to a candidate before promoting.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Rollback path</a:t>
            </a:r>
          </a:p>
          <a:p>
            <a:pPr algn="l">
              <a:spcAft>
                <a:spcPts val="300"/>
              </a:spcAft>
            </a:pPr>
            <a:r>
              <a:rPr sz="1200" b="0">
                <a:solidFill>
                  <a:srgbClr val="5B6372"/>
                </a:solidFill>
                <a:latin typeface="Arial"/>
              </a:rPr>
              <a:t>Keep the previous version ready to restore instantly.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KEEP IT HEALTHY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 Scaling &amp; Deployment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Target-tracking scaling</a:t>
            </a:r>
          </a:p>
          <a:p>
            <a:pPr algn="l">
              <a:spcAft>
                <a:spcPts val="300"/>
              </a:spcAft>
            </a:pPr>
            <a:r>
              <a:rPr sz="1200" b="0">
                <a:solidFill>
                  <a:srgbClr val="5B6372"/>
                </a:solidFill>
                <a:latin typeface="Arial"/>
              </a:rPr>
              <a:t>Scale on SageMakerVariantInvocationsPerInstance.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Min/max capacity</a:t>
            </a:r>
          </a:p>
          <a:p>
            <a:pPr algn="l">
              <a:spcAft>
                <a:spcPts val="300"/>
              </a:spcAft>
            </a:pPr>
            <a:r>
              <a:rPr sz="1200" b="0">
                <a:solidFill>
                  <a:srgbClr val="5B6372"/>
                </a:solidFill>
                <a:latin typeface="Arial"/>
              </a:rPr>
              <a:t>Bound instance count for cost and availability.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Cooldown periods</a:t>
            </a:r>
          </a:p>
          <a:p>
            <a:pPr algn="l">
              <a:spcAft>
                <a:spcPts val="300"/>
              </a:spcAft>
            </a:pPr>
            <a:r>
              <a:rPr sz="1200" b="0">
                <a:solidFill>
                  <a:srgbClr val="5B6372"/>
                </a:solidFill>
                <a:latin typeface="Arial"/>
              </a:rPr>
              <a:t>Avoid thrashing on brief traffic spikes.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Health checks</a:t>
            </a:r>
          </a:p>
          <a:p>
            <a:pPr algn="l">
              <a:spcAft>
                <a:spcPts val="300"/>
              </a:spcAft>
            </a:pPr>
            <a:r>
              <a:rPr sz="1200" b="0">
                <a:solidFill>
                  <a:srgbClr val="5B6372"/>
                </a:solidFill>
                <a:latin typeface="Arial"/>
              </a:rPr>
              <a:t>Endpoint reports InService / Failed states.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 guardrails</a:t>
            </a:r>
          </a:p>
          <a:p>
            <a:pPr algn="l">
              <a:spcAft>
                <a:spcPts val="300"/>
              </a:spcAft>
            </a:pPr>
            <a:r>
              <a:rPr sz="1200" b="0">
                <a:solidFill>
                  <a:srgbClr val="5B6372"/>
                </a:solidFill>
                <a:latin typeface="Arial"/>
              </a:rPr>
              <a:t>Canary and linear traffic shifting with auto-rollback.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CloudWatch alarms</a:t>
            </a:r>
          </a:p>
          <a:p>
            <a:pPr algn="l">
              <a:spcAft>
                <a:spcPts val="300"/>
              </a:spcAft>
            </a:pPr>
            <a:r>
              <a:rPr sz="1200" b="0">
                <a:solidFill>
                  <a:srgbClr val="5B6372"/>
                </a:solidFill>
                <a:latin typeface="Arial"/>
              </a:rPr>
              <a:t>Trigger rollback on latency/error thresholds.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03 · REPEATABLE INFRA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Containers &amp; Infrastructure as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Docker + Amazon ECR</a:t>
            </a:r>
          </a:p>
          <a:p>
            <a:pPr algn="l">
              <a:spcAft>
                <a:spcPts val="300"/>
              </a:spcAft>
            </a:pPr>
            <a:r>
              <a:rPr sz="1200" b="0">
                <a:solidFill>
                  <a:srgbClr val="5B6372"/>
                </a:solidFill>
                <a:latin typeface="Arial"/>
              </a:rPr>
              <a:t>Package model/runtime; store the image in ECR.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Built-in vs BYOC</a:t>
            </a:r>
          </a:p>
          <a:p>
            <a:pPr algn="l">
              <a:spcAft>
                <a:spcPts val="300"/>
              </a:spcAft>
            </a:pPr>
            <a:r>
              <a:rPr sz="1200" b="0">
                <a:solidFill>
                  <a:srgbClr val="5B6372"/>
                </a:solidFill>
                <a:latin typeface="Arial"/>
              </a:rPr>
              <a:t>Use SageMaker containers or bring your own.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CloudFormation</a:t>
            </a:r>
          </a:p>
          <a:p>
            <a:pPr algn="l">
              <a:spcAft>
                <a:spcPts val="300"/>
              </a:spcAft>
            </a:pPr>
            <a:r>
              <a:rPr sz="1200" b="0">
                <a:solidFill>
                  <a:srgbClr val="5B6372"/>
                </a:solidFill>
                <a:latin typeface="Arial"/>
              </a:rPr>
              <a:t>Declarative templates for ML stacks.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AWS CDK</a:t>
            </a:r>
          </a:p>
          <a:p>
            <a:pPr algn="l">
              <a:spcAft>
                <a:spcPts val="300"/>
              </a:spcAft>
            </a:pPr>
            <a:r>
              <a:rPr sz="1200" b="0">
                <a:solidFill>
                  <a:srgbClr val="5B6372"/>
                </a:solidFill>
                <a:latin typeface="Arial"/>
              </a:rPr>
              <a:t>Define infrastructure in code (Python/TypeScript).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SageMaker Projects</a:t>
            </a:r>
          </a:p>
          <a:p>
            <a:pPr algn="l">
              <a:spcAft>
                <a:spcPts val="300"/>
              </a:spcAft>
            </a:pPr>
            <a:r>
              <a:rPr sz="1200" b="0">
                <a:solidFill>
                  <a:srgbClr val="5B6372"/>
                </a:solidFill>
                <a:latin typeface="Arial"/>
              </a:rPr>
              <a:t>MLOps templates that wire CI/CD end to end.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Version everything</a:t>
            </a:r>
          </a:p>
          <a:p>
            <a:pPr algn="l">
              <a:spcAft>
                <a:spcPts val="300"/>
              </a:spcAft>
            </a:pPr>
            <a:r>
              <a:rPr sz="1200" b="0">
                <a:solidFill>
                  <a:srgbClr val="5B6372"/>
                </a:solidFill>
                <a:latin typeface="Arial"/>
              </a:rPr>
              <a:t>Code, data and model artifacts under version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03 · AUTOMATE THE LIFECYCLE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an Orchestration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ML-native steps (process/train/tune/register)</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SageMaker Pipelines</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Coordinate AWS services with branching/retries</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AWS Step Functions</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Team already on Apache Airflow DAGs</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Amazon MWAA</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Build/test/deploy code and models (CI/CD)</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CodePipeline + CodeBuild</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Event-driven triggers (new data, model approved)</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Amazon EventBridge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03 · WHICH ORCHESTRATOR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SageMaker Pipelines vs Step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329513" y="1783080"/>
            <a:ext cx="276496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SageMaker Pipelines</a:t>
            </a:r>
          </a:p>
        </p:txBody>
      </p:sp>
      <p:sp>
        <p:nvSpPr>
          <p:cNvPr id="11" name="Rectangle 10"/>
          <p:cNvSpPr/>
          <p:nvPr/>
        </p:nvSpPr>
        <p:spPr>
          <a:xfrm>
            <a:off x="6094475" y="1783080"/>
            <a:ext cx="5317237"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Step Functions</a:t>
            </a:r>
          </a:p>
        </p:txBody>
      </p:sp>
      <p:sp>
        <p:nvSpPr>
          <p:cNvPr id="13" name="Rectangle 12"/>
          <p:cNvSpPr/>
          <p:nvPr/>
        </p:nvSpPr>
        <p:spPr>
          <a:xfrm>
            <a:off x="777240" y="22860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Focus</a:t>
            </a:r>
          </a:p>
        </p:txBody>
      </p:sp>
      <p:sp>
        <p:nvSpPr>
          <p:cNvPr id="15" name="Rectangle 14"/>
          <p:cNvSpPr/>
          <p:nvPr/>
        </p:nvSpPr>
        <p:spPr>
          <a:xfrm>
            <a:off x="3329513" y="22860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ML-native lifecycle steps</a:t>
            </a:r>
          </a:p>
        </p:txBody>
      </p:sp>
      <p:sp>
        <p:nvSpPr>
          <p:cNvPr id="17" name="Rectangle 16"/>
          <p:cNvSpPr/>
          <p:nvPr/>
        </p:nvSpPr>
        <p:spPr>
          <a:xfrm>
            <a:off x="6094475" y="22860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Any AWS service workflow</a:t>
            </a:r>
          </a:p>
        </p:txBody>
      </p:sp>
      <p:sp>
        <p:nvSpPr>
          <p:cNvPr id="19" name="Rectangle 18"/>
          <p:cNvSpPr/>
          <p:nvPr/>
        </p:nvSpPr>
        <p:spPr>
          <a:xfrm>
            <a:off x="777240" y="32575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2575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Steps</a:t>
            </a:r>
          </a:p>
        </p:txBody>
      </p:sp>
      <p:sp>
        <p:nvSpPr>
          <p:cNvPr id="21" name="Rectangle 20"/>
          <p:cNvSpPr/>
          <p:nvPr/>
        </p:nvSpPr>
        <p:spPr>
          <a:xfrm>
            <a:off x="3329513" y="32575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2575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Processing, train, tune, register</a:t>
            </a:r>
          </a:p>
        </p:txBody>
      </p:sp>
      <p:sp>
        <p:nvSpPr>
          <p:cNvPr id="23" name="Rectangle 22"/>
          <p:cNvSpPr/>
          <p:nvPr/>
        </p:nvSpPr>
        <p:spPr>
          <a:xfrm>
            <a:off x="6094475" y="32575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2575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Lambda, ECS, SageMaker, choice</a:t>
            </a:r>
          </a:p>
        </p:txBody>
      </p:sp>
      <p:sp>
        <p:nvSpPr>
          <p:cNvPr id="25" name="Rectangle 24"/>
          <p:cNvSpPr/>
          <p:nvPr/>
        </p:nvSpPr>
        <p:spPr>
          <a:xfrm>
            <a:off x="777240" y="4229100"/>
            <a:ext cx="2552273"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422910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Lineage</a:t>
            </a:r>
          </a:p>
        </p:txBody>
      </p:sp>
      <p:sp>
        <p:nvSpPr>
          <p:cNvPr id="27" name="Rectangle 26"/>
          <p:cNvSpPr/>
          <p:nvPr/>
        </p:nvSpPr>
        <p:spPr>
          <a:xfrm>
            <a:off x="3329513" y="4229100"/>
            <a:ext cx="2764962"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422910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Built-in ML lineage tracking</a:t>
            </a:r>
          </a:p>
        </p:txBody>
      </p:sp>
      <p:sp>
        <p:nvSpPr>
          <p:cNvPr id="29" name="Rectangle 28"/>
          <p:cNvSpPr/>
          <p:nvPr/>
        </p:nvSpPr>
        <p:spPr>
          <a:xfrm>
            <a:off x="6094475" y="4229100"/>
            <a:ext cx="5317237" cy="9715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422910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Manual</a:t>
            </a:r>
          </a:p>
        </p:txBody>
      </p:sp>
      <p:sp>
        <p:nvSpPr>
          <p:cNvPr id="31" name="Rectangle 30"/>
          <p:cNvSpPr/>
          <p:nvPr/>
        </p:nvSpPr>
        <p:spPr>
          <a:xfrm>
            <a:off x="777240" y="5200650"/>
            <a:ext cx="2552273"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5200650"/>
            <a:ext cx="2314529" cy="971550"/>
          </a:xfrm>
          <a:prstGeom prst="rect">
            <a:avLst/>
          </a:prstGeom>
          <a:noFill/>
        </p:spPr>
        <p:txBody>
          <a:bodyPr wrap="square" anchor="ctr">
            <a:spAutoFit/>
          </a:bodyPr>
          <a:lstStyle/>
          <a:p>
            <a:pPr algn="l">
              <a:spcAft>
                <a:spcPts val="400"/>
              </a:spcAft>
            </a:pPr>
            <a:r>
              <a:rPr sz="1250" b="1">
                <a:solidFill>
                  <a:srgbClr val="161B26"/>
                </a:solidFill>
                <a:latin typeface="Arial"/>
              </a:rPr>
              <a:t>Best for</a:t>
            </a:r>
          </a:p>
        </p:txBody>
      </p:sp>
      <p:sp>
        <p:nvSpPr>
          <p:cNvPr id="33" name="Rectangle 32"/>
          <p:cNvSpPr/>
          <p:nvPr/>
        </p:nvSpPr>
        <p:spPr>
          <a:xfrm>
            <a:off x="3329513" y="5200650"/>
            <a:ext cx="2764962"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5200650"/>
            <a:ext cx="2527218" cy="971550"/>
          </a:xfrm>
          <a:prstGeom prst="rect">
            <a:avLst/>
          </a:prstGeom>
          <a:noFill/>
        </p:spPr>
        <p:txBody>
          <a:bodyPr wrap="square" anchor="ctr">
            <a:spAutoFit/>
          </a:bodyPr>
          <a:lstStyle/>
          <a:p>
            <a:pPr algn="l">
              <a:spcAft>
                <a:spcPts val="400"/>
              </a:spcAft>
            </a:pPr>
            <a:r>
              <a:rPr sz="1200" b="0">
                <a:solidFill>
                  <a:srgbClr val="5B6372"/>
                </a:solidFill>
                <a:latin typeface="Arial"/>
              </a:rPr>
              <a:t>Standard train-to-deploy ML</a:t>
            </a:r>
          </a:p>
        </p:txBody>
      </p:sp>
      <p:sp>
        <p:nvSpPr>
          <p:cNvPr id="35" name="Rectangle 34"/>
          <p:cNvSpPr/>
          <p:nvPr/>
        </p:nvSpPr>
        <p:spPr>
          <a:xfrm>
            <a:off x="6094475" y="5200650"/>
            <a:ext cx="5317237" cy="9715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5200650"/>
            <a:ext cx="5079493" cy="971550"/>
          </a:xfrm>
          <a:prstGeom prst="rect">
            <a:avLst/>
          </a:prstGeom>
          <a:noFill/>
        </p:spPr>
        <p:txBody>
          <a:bodyPr wrap="square" anchor="ctr">
            <a:spAutoFit/>
          </a:bodyPr>
          <a:lstStyle/>
          <a:p>
            <a:pPr algn="l">
              <a:spcAft>
                <a:spcPts val="400"/>
              </a:spcAft>
            </a:pPr>
            <a:r>
              <a:rPr sz="1200" b="0">
                <a:solidFill>
                  <a:srgbClr val="5B6372"/>
                </a:solidFill>
                <a:latin typeface="Arial"/>
              </a:rPr>
              <a:t>Complex branching across services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 AUTOMATE DELIVERY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CI/CD for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CodeCommit / Git</a:t>
            </a:r>
          </a:p>
          <a:p>
            <a:pPr algn="l">
              <a:spcAft>
                <a:spcPts val="300"/>
              </a:spcAft>
            </a:pPr>
            <a:r>
              <a:rPr sz="1200" b="0">
                <a:solidFill>
                  <a:srgbClr val="5B6372"/>
                </a:solidFill>
                <a:latin typeface="Arial"/>
              </a:rPr>
              <a:t>Version model code and pipeline definitions.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CodeBuild</a:t>
            </a:r>
          </a:p>
          <a:p>
            <a:pPr algn="l">
              <a:spcAft>
                <a:spcPts val="300"/>
              </a:spcAft>
            </a:pPr>
            <a:r>
              <a:rPr sz="1200" b="0">
                <a:solidFill>
                  <a:srgbClr val="5B6372"/>
                </a:solidFill>
                <a:latin typeface="Arial"/>
              </a:rPr>
              <a:t>Build, unit-test and package containers.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CodePipeline</a:t>
            </a:r>
          </a:p>
          <a:p>
            <a:pPr algn="l">
              <a:spcAft>
                <a:spcPts val="300"/>
              </a:spcAft>
            </a:pPr>
            <a:r>
              <a:rPr sz="1200" b="0">
                <a:solidFill>
                  <a:srgbClr val="5B6372"/>
                </a:solidFill>
                <a:latin typeface="Arial"/>
              </a:rPr>
              <a:t>Chain source → build → deploy stages.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approval gate</a:t>
            </a:r>
          </a:p>
          <a:p>
            <a:pPr algn="l">
              <a:spcAft>
                <a:spcPts val="300"/>
              </a:spcAft>
            </a:pPr>
            <a:r>
              <a:rPr sz="1200" b="0">
                <a:solidFill>
                  <a:srgbClr val="5B6372"/>
                </a:solidFill>
                <a:latin typeface="Arial"/>
              </a:rPr>
              <a:t>Manual/automatic gate before production deploy.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Artifact storage</a:t>
            </a:r>
          </a:p>
          <a:p>
            <a:pPr algn="l">
              <a:spcAft>
                <a:spcPts val="300"/>
              </a:spcAft>
            </a:pPr>
            <a:r>
              <a:rPr sz="1200" b="0">
                <a:solidFill>
                  <a:srgbClr val="5B6372"/>
                </a:solidFill>
                <a:latin typeface="Arial"/>
              </a:rPr>
              <a:t>Store model.tar.gz and images in S3/ECR.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EventBridge triggers</a:t>
            </a:r>
          </a:p>
          <a:p>
            <a:pPr algn="l">
              <a:spcAft>
                <a:spcPts val="300"/>
              </a:spcAft>
            </a:pPr>
            <a:r>
              <a:rPr sz="1200" b="0">
                <a:solidFill>
                  <a:srgbClr val="5B6372"/>
                </a:solidFill>
                <a:latin typeface="Arial"/>
              </a:rPr>
              <a:t>Kick off retraining on new data or approval.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03 · WHERE ARE YOU?</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MLOps Maturity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Level 0 — manual</a:t>
            </a:r>
          </a:p>
          <a:p>
            <a:pPr algn="l">
              <a:spcAft>
                <a:spcPts val="300"/>
              </a:spcAft>
            </a:pPr>
            <a:r>
              <a:rPr sz="1200" b="0">
                <a:solidFill>
                  <a:srgbClr val="5B6372"/>
                </a:solidFill>
                <a:latin typeface="Arial"/>
              </a:rPr>
              <a:t>Notebooks by hand; no automation.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Level 1 — pipeline</a:t>
            </a:r>
          </a:p>
          <a:p>
            <a:pPr algn="l">
              <a:spcAft>
                <a:spcPts val="300"/>
              </a:spcAft>
            </a:pPr>
            <a:r>
              <a:rPr sz="1200" b="0">
                <a:solidFill>
                  <a:srgbClr val="5B6372"/>
                </a:solidFill>
                <a:latin typeface="Arial"/>
              </a:rPr>
              <a:t>Automated training pipeline and Model Registry.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Level 2 — CI/CD</a:t>
            </a:r>
          </a:p>
          <a:p>
            <a:pPr algn="l">
              <a:spcAft>
                <a:spcPts val="300"/>
              </a:spcAft>
            </a:pPr>
            <a:r>
              <a:rPr sz="1200" b="0">
                <a:solidFill>
                  <a:srgbClr val="5B6372"/>
                </a:solidFill>
                <a:latin typeface="Arial"/>
              </a:rPr>
              <a:t>Automated build, test and deploy of models.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Monitoring loop</a:t>
            </a:r>
          </a:p>
          <a:p>
            <a:pPr algn="l">
              <a:spcAft>
                <a:spcPts val="300"/>
              </a:spcAft>
            </a:pPr>
            <a:r>
              <a:rPr sz="1200" b="0">
                <a:solidFill>
                  <a:srgbClr val="5B6372"/>
                </a:solidFill>
                <a:latin typeface="Arial"/>
              </a:rPr>
              <a:t>Drift detection triggers retraining.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Reproducibility</a:t>
            </a:r>
          </a:p>
          <a:p>
            <a:pPr algn="l">
              <a:spcAft>
                <a:spcPts val="300"/>
              </a:spcAft>
            </a:pPr>
            <a:r>
              <a:rPr sz="1200" b="0">
                <a:solidFill>
                  <a:srgbClr val="5B6372"/>
                </a:solidFill>
                <a:latin typeface="Arial"/>
              </a:rPr>
              <a:t>Versioned data, code, model and infra.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Governance</a:t>
            </a:r>
          </a:p>
          <a:p>
            <a:pPr algn="l">
              <a:spcAft>
                <a:spcPts val="300"/>
              </a:spcAft>
            </a:pPr>
            <a:r>
              <a:rPr sz="1200" b="0">
                <a:solidFill>
                  <a:srgbClr val="5B6372"/>
                </a:solidFill>
                <a:latin typeface="Arial"/>
              </a:rPr>
              <a:t>Approvals, lineage and audit throughout.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 END TO END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Gated MLOps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Ingest &amp; validate data</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Feature engineering</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Train &amp; tune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Evaluate &amp; check bias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Register + human approval</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Deploy &amp; monitor (retrain on drift)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 INSIDE AN ENDPOINT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Real-time Endpoint Anatomy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a:t>
            </a:r>
          </a:p>
          <a:p>
            <a:pPr algn="l">
              <a:spcAft>
                <a:spcPts val="300"/>
              </a:spcAft>
            </a:pPr>
            <a:r>
              <a:rPr sz="1200" b="0">
                <a:solidFill>
                  <a:srgbClr val="5B6372"/>
                </a:solidFill>
                <a:latin typeface="Arial"/>
              </a:rPr>
              <a:t>Artifact (model.tar.gz) plus inference container.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config</a:t>
            </a:r>
          </a:p>
          <a:p>
            <a:pPr algn="l">
              <a:spcAft>
                <a:spcPts val="300"/>
              </a:spcAft>
            </a:pPr>
            <a:r>
              <a:rPr sz="1200" b="0">
                <a:solidFill>
                  <a:srgbClr val="5B6372"/>
                </a:solidFill>
                <a:latin typeface="Arial"/>
              </a:rPr>
              <a:t>Variants, instance type/count and weights.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Production variants</a:t>
            </a:r>
          </a:p>
          <a:p>
            <a:pPr algn="l">
              <a:spcAft>
                <a:spcPts val="300"/>
              </a:spcAft>
            </a:pPr>
            <a:r>
              <a:rPr sz="1200" b="0">
                <a:solidFill>
                  <a:srgbClr val="5B6372"/>
                </a:solidFill>
                <a:latin typeface="Arial"/>
              </a:rPr>
              <a:t>Split traffic for A/B or blue/green.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Invoke API</a:t>
            </a:r>
          </a:p>
          <a:p>
            <a:pPr algn="l">
              <a:spcAft>
                <a:spcPts val="300"/>
              </a:spcAft>
            </a:pPr>
            <a:r>
              <a:rPr sz="1200" b="0">
                <a:solidFill>
                  <a:srgbClr val="5B6372"/>
                </a:solidFill>
                <a:latin typeface="Arial"/>
              </a:rPr>
              <a:t>Clients call InvokeEndpoint over HTTPS.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 scaling</a:t>
            </a:r>
          </a:p>
          <a:p>
            <a:pPr algn="l">
              <a:spcAft>
                <a:spcPts val="300"/>
              </a:spcAft>
            </a:pPr>
            <a:r>
              <a:rPr sz="1200" b="0">
                <a:solidFill>
                  <a:srgbClr val="5B6372"/>
                </a:solidFill>
                <a:latin typeface="Arial"/>
              </a:rPr>
              <a:t>Add/remove instances on the target metric.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capture</a:t>
            </a:r>
          </a:p>
          <a:p>
            <a:pPr algn="l">
              <a:spcAft>
                <a:spcPts val="300"/>
              </a:spcAft>
            </a:pPr>
            <a:r>
              <a:rPr sz="1200" b="0">
                <a:solidFill>
                  <a:srgbClr val="5B6372"/>
                </a:solidFill>
                <a:latin typeface="Arial"/>
              </a:rPr>
              <a:t>Log requests/responses to S3 for monitoring.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RELEASE SAFELY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Deployment Strategies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51105" cy="502920"/>
          </a:xfrm>
          <a:prstGeom prst="rect">
            <a:avLst/>
          </a:prstGeom>
          <a:noFill/>
        </p:spPr>
        <p:txBody>
          <a:bodyPr wrap="square" anchor="ctr">
            <a:spAutoFit/>
          </a:bodyPr>
          <a:lstStyle/>
          <a:p>
            <a:pPr algn="l">
              <a:spcAft>
                <a:spcPts val="400"/>
              </a:spcAft>
            </a:pPr>
            <a:r>
              <a:rPr sz="1300" b="1">
                <a:solidFill>
                  <a:srgbClr val="FFFFFF"/>
                </a:solidFill>
                <a:latin typeface="Arial"/>
              </a:rPr>
              <a:t>Strategy</a:t>
            </a:r>
          </a:p>
        </p:txBody>
      </p:sp>
      <p:sp>
        <p:nvSpPr>
          <p:cNvPr id="9" name="Rectangle 8"/>
          <p:cNvSpPr/>
          <p:nvPr/>
        </p:nvSpPr>
        <p:spPr>
          <a:xfrm>
            <a:off x="3329513" y="1783080"/>
            <a:ext cx="276496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2563794" cy="502920"/>
          </a:xfrm>
          <a:prstGeom prst="rect">
            <a:avLst/>
          </a:prstGeom>
          <a:noFill/>
        </p:spPr>
        <p:txBody>
          <a:bodyPr wrap="square" anchor="ctr">
            <a:spAutoFit/>
          </a:bodyPr>
          <a:lstStyle/>
          <a:p>
            <a:pPr algn="l">
              <a:spcAft>
                <a:spcPts val="400"/>
              </a:spcAft>
            </a:pPr>
            <a:r>
              <a:rPr sz="1300" b="1">
                <a:solidFill>
                  <a:srgbClr val="FFFFFF"/>
                </a:solidFill>
                <a:latin typeface="Arial"/>
              </a:rPr>
              <a:t>How it works</a:t>
            </a:r>
          </a:p>
        </p:txBody>
      </p:sp>
      <p:sp>
        <p:nvSpPr>
          <p:cNvPr id="11" name="Rectangle 10"/>
          <p:cNvSpPr/>
          <p:nvPr/>
        </p:nvSpPr>
        <p:spPr>
          <a:xfrm>
            <a:off x="6094475" y="1783080"/>
            <a:ext cx="5317237"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3" y="1783080"/>
            <a:ext cx="5116069" cy="502920"/>
          </a:xfrm>
          <a:prstGeom prst="rect">
            <a:avLst/>
          </a:prstGeom>
          <a:noFill/>
        </p:spPr>
        <p:txBody>
          <a:bodyPr wrap="square" anchor="ctr">
            <a:spAutoFit/>
          </a:bodyPr>
          <a:lstStyle/>
          <a:p>
            <a:pPr algn="l">
              <a:spcAft>
                <a:spcPts val="400"/>
              </a:spcAft>
            </a:pPr>
            <a:r>
              <a:rPr sz="1300" b="1">
                <a:solidFill>
                  <a:srgbClr val="FFFFFF"/>
                </a:solidFill>
                <a:latin typeface="Arial"/>
              </a:rPr>
              <a:t>Best for</a:t>
            </a:r>
          </a:p>
        </p:txBody>
      </p:sp>
      <p:sp>
        <p:nvSpPr>
          <p:cNvPr id="13" name="Rectangle 12"/>
          <p:cNvSpPr/>
          <p:nvPr/>
        </p:nvSpPr>
        <p:spPr>
          <a:xfrm>
            <a:off x="777240" y="2286000"/>
            <a:ext cx="2552273"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All-at-once</a:t>
            </a:r>
          </a:p>
        </p:txBody>
      </p:sp>
      <p:sp>
        <p:nvSpPr>
          <p:cNvPr id="15" name="Rectangle 14"/>
          <p:cNvSpPr/>
          <p:nvPr/>
        </p:nvSpPr>
        <p:spPr>
          <a:xfrm>
            <a:off x="3329513" y="2286000"/>
            <a:ext cx="2764962"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7529" y="228600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Replace the variant immediately</a:t>
            </a:r>
          </a:p>
        </p:txBody>
      </p:sp>
      <p:sp>
        <p:nvSpPr>
          <p:cNvPr id="17" name="Rectangle 16"/>
          <p:cNvSpPr/>
          <p:nvPr/>
        </p:nvSpPr>
        <p:spPr>
          <a:xfrm>
            <a:off x="6094475" y="2286000"/>
            <a:ext cx="5317237"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2491" y="228600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Dev/test, low risk</a:t>
            </a:r>
          </a:p>
        </p:txBody>
      </p:sp>
      <p:sp>
        <p:nvSpPr>
          <p:cNvPr id="19" name="Rectangle 18"/>
          <p:cNvSpPr/>
          <p:nvPr/>
        </p:nvSpPr>
        <p:spPr>
          <a:xfrm>
            <a:off x="777240" y="3063240"/>
            <a:ext cx="2552273"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6324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Canary</a:t>
            </a:r>
          </a:p>
        </p:txBody>
      </p:sp>
      <p:sp>
        <p:nvSpPr>
          <p:cNvPr id="21" name="Rectangle 20"/>
          <p:cNvSpPr/>
          <p:nvPr/>
        </p:nvSpPr>
        <p:spPr>
          <a:xfrm>
            <a:off x="3329513" y="3063240"/>
            <a:ext cx="2764962"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7529" y="306324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Shift a small % first, then the rest</a:t>
            </a:r>
          </a:p>
        </p:txBody>
      </p:sp>
      <p:sp>
        <p:nvSpPr>
          <p:cNvPr id="23" name="Rectangle 22"/>
          <p:cNvSpPr/>
          <p:nvPr/>
        </p:nvSpPr>
        <p:spPr>
          <a:xfrm>
            <a:off x="6094475" y="3063240"/>
            <a:ext cx="5317237"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2491" y="306324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Catch problems early in prod</a:t>
            </a:r>
          </a:p>
        </p:txBody>
      </p:sp>
      <p:sp>
        <p:nvSpPr>
          <p:cNvPr id="25" name="Rectangle 24"/>
          <p:cNvSpPr/>
          <p:nvPr/>
        </p:nvSpPr>
        <p:spPr>
          <a:xfrm>
            <a:off x="777240" y="3840480"/>
            <a:ext cx="2552273"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84048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Linear</a:t>
            </a:r>
          </a:p>
        </p:txBody>
      </p:sp>
      <p:sp>
        <p:nvSpPr>
          <p:cNvPr id="27" name="Rectangle 26"/>
          <p:cNvSpPr/>
          <p:nvPr/>
        </p:nvSpPr>
        <p:spPr>
          <a:xfrm>
            <a:off x="3329513" y="3840480"/>
            <a:ext cx="2764962"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57529" y="384048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Shift traffic in equal increments</a:t>
            </a:r>
          </a:p>
        </p:txBody>
      </p:sp>
      <p:sp>
        <p:nvSpPr>
          <p:cNvPr id="29" name="Rectangle 28"/>
          <p:cNvSpPr/>
          <p:nvPr/>
        </p:nvSpPr>
        <p:spPr>
          <a:xfrm>
            <a:off x="6094475" y="3840480"/>
            <a:ext cx="5317237"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2491" y="384048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Gradual, observable rollout</a:t>
            </a:r>
          </a:p>
        </p:txBody>
      </p:sp>
      <p:sp>
        <p:nvSpPr>
          <p:cNvPr id="31" name="Rectangle 30"/>
          <p:cNvSpPr/>
          <p:nvPr/>
        </p:nvSpPr>
        <p:spPr>
          <a:xfrm>
            <a:off x="777240" y="4617720"/>
            <a:ext cx="2552273"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61772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Blue/green</a:t>
            </a:r>
          </a:p>
        </p:txBody>
      </p:sp>
      <p:sp>
        <p:nvSpPr>
          <p:cNvPr id="33" name="Rectangle 32"/>
          <p:cNvSpPr/>
          <p:nvPr/>
        </p:nvSpPr>
        <p:spPr>
          <a:xfrm>
            <a:off x="3329513" y="4617720"/>
            <a:ext cx="2764962"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57529" y="461772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Stand up new, switch, keep old</a:t>
            </a:r>
          </a:p>
        </p:txBody>
      </p:sp>
      <p:sp>
        <p:nvSpPr>
          <p:cNvPr id="35" name="Rectangle 34"/>
          <p:cNvSpPr/>
          <p:nvPr/>
        </p:nvSpPr>
        <p:spPr>
          <a:xfrm>
            <a:off x="6094475" y="4617720"/>
            <a:ext cx="5317237"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2491" y="461772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Instant rollback capability</a:t>
            </a:r>
          </a:p>
        </p:txBody>
      </p:sp>
      <p:sp>
        <p:nvSpPr>
          <p:cNvPr id="37" name="Rectangle 36"/>
          <p:cNvSpPr/>
          <p:nvPr/>
        </p:nvSpPr>
        <p:spPr>
          <a:xfrm>
            <a:off x="777240" y="5394960"/>
            <a:ext cx="2552273"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394960"/>
            <a:ext cx="2314529" cy="777240"/>
          </a:xfrm>
          <a:prstGeom prst="rect">
            <a:avLst/>
          </a:prstGeom>
          <a:noFill/>
        </p:spPr>
        <p:txBody>
          <a:bodyPr wrap="square" anchor="ctr">
            <a:spAutoFit/>
          </a:bodyPr>
          <a:lstStyle/>
          <a:p>
            <a:pPr algn="l">
              <a:spcAft>
                <a:spcPts val="400"/>
              </a:spcAft>
            </a:pPr>
            <a:r>
              <a:rPr sz="1250" b="1">
                <a:solidFill>
                  <a:srgbClr val="161B26"/>
                </a:solidFill>
                <a:latin typeface="Arial"/>
              </a:rPr>
              <a:t>Shadow</a:t>
            </a:r>
          </a:p>
        </p:txBody>
      </p:sp>
      <p:sp>
        <p:nvSpPr>
          <p:cNvPr id="39" name="Rectangle 38"/>
          <p:cNvSpPr/>
          <p:nvPr/>
        </p:nvSpPr>
        <p:spPr>
          <a:xfrm>
            <a:off x="3329513" y="5394960"/>
            <a:ext cx="2764962"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57529" y="5394960"/>
            <a:ext cx="2527218" cy="777240"/>
          </a:xfrm>
          <a:prstGeom prst="rect">
            <a:avLst/>
          </a:prstGeom>
          <a:noFill/>
        </p:spPr>
        <p:txBody>
          <a:bodyPr wrap="square" anchor="ctr">
            <a:spAutoFit/>
          </a:bodyPr>
          <a:lstStyle/>
          <a:p>
            <a:pPr algn="l">
              <a:spcAft>
                <a:spcPts val="400"/>
              </a:spcAft>
            </a:pPr>
            <a:r>
              <a:rPr sz="1200" b="0">
                <a:solidFill>
                  <a:srgbClr val="5B6372"/>
                </a:solidFill>
                <a:latin typeface="Arial"/>
              </a:rPr>
              <a:t>Copy live traffic to a candidate</a:t>
            </a:r>
          </a:p>
        </p:txBody>
      </p:sp>
      <p:sp>
        <p:nvSpPr>
          <p:cNvPr id="41" name="Rectangle 40"/>
          <p:cNvSpPr/>
          <p:nvPr/>
        </p:nvSpPr>
        <p:spPr>
          <a:xfrm>
            <a:off x="6094475" y="5394960"/>
            <a:ext cx="5317237" cy="7772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2491" y="5394960"/>
            <a:ext cx="5079493" cy="777240"/>
          </a:xfrm>
          <a:prstGeom prst="rect">
            <a:avLst/>
          </a:prstGeom>
          <a:noFill/>
        </p:spPr>
        <p:txBody>
          <a:bodyPr wrap="square" anchor="ctr">
            <a:spAutoFit/>
          </a:bodyPr>
          <a:lstStyle/>
          <a:p>
            <a:pPr algn="l">
              <a:spcAft>
                <a:spcPts val="400"/>
              </a:spcAft>
            </a:pPr>
            <a:r>
              <a:rPr sz="1200" b="0">
                <a:solidFill>
                  <a:srgbClr val="5B6372"/>
                </a:solidFill>
                <a:latin typeface="Arial"/>
              </a:rPr>
              <a:t>Validate before taking traffic</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03 · AUTOMATE THE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Event-Driven Retraining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New data lands in S3</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EventBridge rule fires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Pipeline runs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Evaluate &amp; register</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Approval gate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Deploy new version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Deployment and Orchestration of ML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9–9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Deployment Options, Endpoints, Batch Transform and Auto Scaling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10–10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MLOps Pipelines, CI/CD, Orchestration and IaC</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Deployment Options, Endpoints, Batch Transform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Choose the right inference pattern: compare real-time endpoints, serverless inference, asynchronous inference and batch transform, understand endpoint configuration, auto scaling and safe delivery, and select infrastructure for several workloads.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An inference-option comparison table with use-case deployment choices and an auto-scaling and rollback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Inference, real-time &amp; serverless endpoints, Batch Transform, Application Auto Scaling, CloudWatch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Deployment Options, Endpoints, Batch…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Pick the inference pattern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endpoint config</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Deploy the model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Register auto scaling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metrics, then clean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9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Deployment Options, Endpoints, Batch…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Real-time endpoint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Serverless / batch</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Lowest latency, always available</a:t>
            </a:r>
          </a:p>
          <a:p>
            <a:pPr>
              <a:spcAft>
                <a:spcPts val="1000"/>
              </a:spcAft>
            </a:pPr>
            <a:r>
              <a:rPr sz="1600" b="0">
                <a:solidFill>
                  <a:srgbClr val="161B26"/>
                </a:solidFill>
                <a:latin typeface="Arial"/>
              </a:rPr>
              <a:t>•  Good for online serving</a:t>
            </a:r>
          </a:p>
          <a:p>
            <a:pPr>
              <a:spcAft>
                <a:spcPts val="1000"/>
              </a:spcAft>
            </a:pPr>
            <a:r>
              <a:rPr sz="1600" b="0">
                <a:solidFill>
                  <a:srgbClr val="161B26"/>
                </a:solidFill>
                <a:latin typeface="Arial"/>
              </a:rPr>
              <a:t>•  Pays for idle capacity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Scales to zero or runs offline</a:t>
            </a:r>
          </a:p>
          <a:p>
            <a:pPr>
              <a:spcAft>
                <a:spcPts val="1000"/>
              </a:spcAft>
            </a:pPr>
            <a:r>
              <a:rPr sz="1600" b="0">
                <a:solidFill>
                  <a:srgbClr val="161B26"/>
                </a:solidFill>
                <a:latin typeface="Arial"/>
              </a:rPr>
              <a:t>•  No idle cost</a:t>
            </a:r>
          </a:p>
          <a:p>
            <a:pPr>
              <a:spcAft>
                <a:spcPts val="1000"/>
              </a:spcAft>
            </a:pPr>
            <a:r>
              <a:rPr sz="1600" b="0">
                <a:solidFill>
                  <a:srgbClr val="161B26"/>
                </a:solidFill>
                <a:latin typeface="Arial"/>
              </a:rPr>
              <a:t>•  Cold start / not instant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Deployment Options, Endpoints, Batch Transform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select a SageMaker deployment option from latency, traffic, payload and cost requirements, and configure auto scaling and a rollback path for an endpoint.</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Endpoint stuck 'Creating' or fails</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Check the container/model artifact and the CloudWatch logs.</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Latency spikes under load</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Enable auto scaling on the invocations-per-instance target.</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Forgot to remove the endpoint</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Delete the endpoint and config to stop hourly charges.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MLOps Pipelines, CI/CD, Orchestration and IaC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Automate the ML lifecycle: compare SageMaker Pipelines, Step Functions, CodePipeline and EventBridge, design an end-to-end pipeline with approval and rollback gates, and identify where Infrastructure as Code and version control fit.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An end-to-end MLOps pipeline design with approval, failure paths, rollback, CI/CD and IaC touchpoints.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Pipelines, AWS Step Functions, CodePipeline, CodeBuild, EventBridge, CloudFormation/CDK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MLOps Pipelines, CI/CD, Orchestration…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pipeline steps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 condition &amp; register step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 human approval gate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Wire CI/CD and event triggers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Provision with IaC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10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MLOps Pipelines, CI/CD, Orchestration…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SageMaker Pipelines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Step Functions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ML-native processing/train/register steps</a:t>
            </a:r>
          </a:p>
          <a:p>
            <a:pPr>
              <a:spcAft>
                <a:spcPts val="1000"/>
              </a:spcAft>
            </a:pPr>
            <a:r>
              <a:rPr sz="1600" b="0">
                <a:solidFill>
                  <a:srgbClr val="161B26"/>
                </a:solidFill>
                <a:latin typeface="Arial"/>
              </a:rPr>
              <a:t>•  Tight SageMaker integration</a:t>
            </a:r>
          </a:p>
          <a:p>
            <a:pPr>
              <a:spcAft>
                <a:spcPts val="1000"/>
              </a:spcAft>
            </a:pPr>
            <a:r>
              <a:rPr sz="1600" b="0">
                <a:solidFill>
                  <a:srgbClr val="161B26"/>
                </a:solidFill>
                <a:latin typeface="Arial"/>
              </a:rPr>
              <a:t>•  Less generic than Step Functions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Orchestrates any AWS service</a:t>
            </a:r>
          </a:p>
          <a:p>
            <a:pPr>
              <a:spcAft>
                <a:spcPts val="1000"/>
              </a:spcAft>
            </a:pPr>
            <a:r>
              <a:rPr sz="1600" b="0">
                <a:solidFill>
                  <a:srgbClr val="161B26"/>
                </a:solidFill>
                <a:latin typeface="Arial"/>
              </a:rPr>
              <a:t>•  Rich branching, retries and waits</a:t>
            </a:r>
          </a:p>
          <a:p>
            <a:pPr>
              <a:spcAft>
                <a:spcPts val="1000"/>
              </a:spcAft>
            </a:pPr>
            <a:r>
              <a:rPr sz="1600" b="0">
                <a:solidFill>
                  <a:srgbClr val="161B26"/>
                </a:solidFill>
                <a:latin typeface="Arial"/>
              </a:rPr>
              <a:t>•  More wiring to build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MLOps Pipelines, CI/CD, Orchestration and IaC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describe an automated ML workflow that moves models from development to production safely, with CI/CD, approval, retries, rollback and Infrastructure as Code.</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 pipeline step fails midway</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Add retries and inspect that step's CloudWatch logs.</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 bad model reaches production</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Add a condition step and a human approval gate before deploy.</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Environment drifts between runs</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Provision with CloudFormation/CDK and pin versions.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Deployment and Orchestration of ML Workflows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select and operate SageMaker inference infrastructure for a workload (Domain 3: deploy models)</a:t>
            </a:r>
          </a:p>
          <a:p>
            <a:pPr>
              <a:spcAft>
                <a:spcPts val="1000"/>
              </a:spcAft>
            </a:pPr>
            <a:r>
              <a:rPr sz="1700" b="0">
                <a:solidFill>
                  <a:srgbClr val="161B26"/>
                </a:solidFill>
                <a:latin typeface="Arial"/>
              </a:rPr>
              <a:t>•  You can now: design an automated, gated ML workflow from data to monitored production (Domain 3: orchestrate ML workflows)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ML Solution Monitoring, Maintenance and Security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Model &amp; data monitoring · security &amp; compliance · cost optimisation · exam readiness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MLA-C01 EXAM WEIGHTING 24%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ML Solution Monitoring, Maintenance and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Model monitoring</a:t>
            </a:r>
          </a:p>
          <a:p>
            <a:pPr algn="l">
              <a:spcAft>
                <a:spcPts val="300"/>
              </a:spcAft>
            </a:pPr>
            <a:r>
              <a:rPr sz="1100" b="0">
                <a:solidFill>
                  <a:srgbClr val="5B6372"/>
                </a:solidFill>
                <a:latin typeface="Arial"/>
              </a:rPr>
              <a:t>SageMaker Model Monitor: data capture, baselines, data quality, model quality, bias drift and feature-attribution drift.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Observability</a:t>
            </a:r>
          </a:p>
          <a:p>
            <a:pPr algn="l">
              <a:spcAft>
                <a:spcPts val="300"/>
              </a:spcAft>
            </a:pPr>
            <a:r>
              <a:rPr sz="1100" b="0">
                <a:solidFill>
                  <a:srgbClr val="5B6372"/>
                </a:solidFill>
                <a:latin typeface="Arial"/>
              </a:rPr>
              <a:t>CloudWatch metrics, logs, alarms, dashboards and anomaly detection; CloudTrail audit events for ML workloads.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a:t>
            </a:r>
          </a:p>
          <a:p>
            <a:pPr algn="l">
              <a:spcAft>
                <a:spcPts val="300"/>
              </a:spcAft>
            </a:pPr>
            <a:r>
              <a:rPr sz="1100" b="0">
                <a:solidFill>
                  <a:srgbClr val="5B6372"/>
                </a:solidFill>
                <a:latin typeface="Arial"/>
              </a:rPr>
              <a:t>IAM least privilege and execution roles, KMS encryption, VPC endpoints, private subnets and network isolation.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protection</a:t>
            </a:r>
          </a:p>
          <a:p>
            <a:pPr algn="l">
              <a:spcAft>
                <a:spcPts val="300"/>
              </a:spcAft>
            </a:pPr>
            <a:r>
              <a:rPr sz="1100" b="0">
                <a:solidFill>
                  <a:srgbClr val="5B6372"/>
                </a:solidFill>
                <a:latin typeface="Arial"/>
              </a:rPr>
              <a:t>Data classification, masking, anonymisation, PII/PHI handling and data residency for ML datasets.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 optimisation</a:t>
            </a:r>
          </a:p>
          <a:p>
            <a:pPr algn="l">
              <a:spcAft>
                <a:spcPts val="300"/>
              </a:spcAft>
            </a:pPr>
            <a:r>
              <a:rPr sz="1100" b="0">
                <a:solidFill>
                  <a:srgbClr val="5B6372"/>
                </a:solidFill>
                <a:latin typeface="Arial"/>
              </a:rPr>
              <a:t>Right-sizing instances, endpoint auto scaling, serverless inference, batch transform, spot training and stopping idle notebooks.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 readiness</a:t>
            </a:r>
          </a:p>
          <a:p>
            <a:pPr algn="l">
              <a:spcAft>
                <a:spcPts val="300"/>
              </a:spcAft>
            </a:pPr>
            <a:r>
              <a:rPr sz="1100" b="0">
                <a:solidFill>
                  <a:srgbClr val="5B6372"/>
                </a:solidFill>
                <a:latin typeface="Arial"/>
              </a:rPr>
              <a:t>Mapping each lab to the four MLA-C01 domains and a timed practice set to identify weak topics before the exam.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 DETECT DRIFT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 Monitor — Four Drift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quality drift</a:t>
            </a:r>
          </a:p>
          <a:p>
            <a:pPr algn="l">
              <a:spcAft>
                <a:spcPts val="300"/>
              </a:spcAft>
            </a:pPr>
            <a:r>
              <a:rPr sz="1200" b="0">
                <a:solidFill>
                  <a:srgbClr val="5B6372"/>
                </a:solidFill>
                <a:latin typeface="Arial"/>
              </a:rPr>
              <a:t>Live inputs diverge from the training baseline.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quality drift</a:t>
            </a:r>
          </a:p>
          <a:p>
            <a:pPr algn="l">
              <a:spcAft>
                <a:spcPts val="300"/>
              </a:spcAft>
            </a:pPr>
            <a:r>
              <a:rPr sz="1200" b="0">
                <a:solidFill>
                  <a:srgbClr val="5B6372"/>
                </a:solidFill>
                <a:latin typeface="Arial"/>
              </a:rPr>
              <a:t>Accuracy/quality degrades vs ground truth.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Bias drift</a:t>
            </a:r>
          </a:p>
          <a:p>
            <a:pPr algn="l">
              <a:spcAft>
                <a:spcPts val="300"/>
              </a:spcAft>
            </a:pPr>
            <a:r>
              <a:rPr sz="1200" b="0">
                <a:solidFill>
                  <a:srgbClr val="5B6372"/>
                </a:solidFill>
                <a:latin typeface="Arial"/>
              </a:rPr>
              <a:t>Fairness metrics move outside acceptable limits.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Feature attribution drift</a:t>
            </a:r>
          </a:p>
          <a:p>
            <a:pPr algn="l">
              <a:spcAft>
                <a:spcPts val="300"/>
              </a:spcAft>
            </a:pPr>
            <a:r>
              <a:rPr sz="1200" b="0">
                <a:solidFill>
                  <a:srgbClr val="5B6372"/>
                </a:solidFill>
                <a:latin typeface="Arial"/>
              </a:rPr>
              <a:t>Feature importance shifts (Clarify + SHAP).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capture</a:t>
            </a:r>
          </a:p>
          <a:p>
            <a:pPr algn="l">
              <a:spcAft>
                <a:spcPts val="300"/>
              </a:spcAft>
            </a:pPr>
            <a:r>
              <a:rPr sz="1200" b="0">
                <a:solidFill>
                  <a:srgbClr val="5B6372"/>
                </a:solidFill>
                <a:latin typeface="Arial"/>
              </a:rPr>
              <a:t>Endpoint logs inputs/outputs to S3 for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Baselines &amp; schedules</a:t>
            </a:r>
          </a:p>
          <a:p>
            <a:pPr algn="l">
              <a:spcAft>
                <a:spcPts val="300"/>
              </a:spcAft>
            </a:pPr>
            <a:r>
              <a:rPr sz="1200" b="0">
                <a:solidFill>
                  <a:srgbClr val="5B6372"/>
                </a:solidFill>
                <a:latin typeface="Arial"/>
              </a:rPr>
              <a:t>Compare captured data against a baseline on a schedule.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 MONITOR THE ENDPOINT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Setting Up Model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Enable data capture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Create a baseline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Schedule the monitor</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Compare vs baseline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Alarm on drift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Retrain &amp; redeploy</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SEE WHAT HAPPENS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Observability Stack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CloudWatch metrics</a:t>
            </a:r>
          </a:p>
          <a:p>
            <a:pPr algn="l">
              <a:spcAft>
                <a:spcPts val="300"/>
              </a:spcAft>
            </a:pPr>
            <a:r>
              <a:rPr sz="1200" b="0">
                <a:solidFill>
                  <a:srgbClr val="5B6372"/>
                </a:solidFill>
                <a:latin typeface="Arial"/>
              </a:rPr>
              <a:t>Invocations, latency, errors, instance utilisation.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CloudWatch Logs &amp; Insights</a:t>
            </a:r>
          </a:p>
          <a:p>
            <a:pPr algn="l">
              <a:spcAft>
                <a:spcPts val="300"/>
              </a:spcAft>
            </a:pPr>
            <a:r>
              <a:rPr sz="1200" b="0">
                <a:solidFill>
                  <a:srgbClr val="5B6372"/>
                </a:solidFill>
                <a:latin typeface="Arial"/>
              </a:rPr>
              <a:t>Endpoint/training logs; query with Logs Insights.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CloudWatch alarms</a:t>
            </a:r>
          </a:p>
          <a:p>
            <a:pPr algn="l">
              <a:spcAft>
                <a:spcPts val="300"/>
              </a:spcAft>
            </a:pPr>
            <a:r>
              <a:rPr sz="1200" b="0">
                <a:solidFill>
                  <a:srgbClr val="5B6372"/>
                </a:solidFill>
                <a:latin typeface="Arial"/>
              </a:rPr>
              <a:t>Alert on latency, errors or drift thresholds.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CloudTrail</a:t>
            </a:r>
          </a:p>
          <a:p>
            <a:pPr algn="l">
              <a:spcAft>
                <a:spcPts val="300"/>
              </a:spcAft>
            </a:pPr>
            <a:r>
              <a:rPr sz="1200" b="0">
                <a:solidFill>
                  <a:srgbClr val="5B6372"/>
                </a:solidFill>
                <a:latin typeface="Arial"/>
              </a:rPr>
              <a:t>Audit trail of every ML API call.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AWS X-Ray</a:t>
            </a:r>
          </a:p>
          <a:p>
            <a:pPr algn="l">
              <a:spcAft>
                <a:spcPts val="300"/>
              </a:spcAft>
            </a:pPr>
            <a:r>
              <a:rPr sz="1200" b="0">
                <a:solidFill>
                  <a:srgbClr val="5B6372"/>
                </a:solidFill>
                <a:latin typeface="Arial"/>
              </a:rPr>
              <a:t>Trace requests across a serving pipeline.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AWS Config</a:t>
            </a:r>
          </a:p>
          <a:p>
            <a:pPr algn="l">
              <a:spcAft>
                <a:spcPts val="300"/>
              </a:spcAft>
            </a:pPr>
            <a:r>
              <a:rPr sz="1200" b="0">
                <a:solidFill>
                  <a:srgbClr val="5B6372"/>
                </a:solidFill>
                <a:latin typeface="Arial"/>
              </a:rPr>
              <a:t>Track resource configuration and compliance.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04 · DEFENCE IN DEPTH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Layers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IAM least privilege</a:t>
            </a:r>
          </a:p>
          <a:p>
            <a:pPr algn="l">
              <a:spcAft>
                <a:spcPts val="300"/>
              </a:spcAft>
            </a:pPr>
            <a:r>
              <a:rPr sz="1200" b="0">
                <a:solidFill>
                  <a:srgbClr val="5B6372"/>
                </a:solidFill>
                <a:latin typeface="Arial"/>
              </a:rPr>
              <a:t>Scoped policies and SageMaker execution roles.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KMS encryption</a:t>
            </a:r>
          </a:p>
          <a:p>
            <a:pPr algn="l">
              <a:spcAft>
                <a:spcPts val="300"/>
              </a:spcAft>
            </a:pPr>
            <a:r>
              <a:rPr sz="1200" b="0">
                <a:solidFill>
                  <a:srgbClr val="5B6372"/>
                </a:solidFill>
                <a:latin typeface="Arial"/>
              </a:rPr>
              <a:t>Encrypt S3, volumes and model artifacts with CMKs.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VPC endpoints / PrivateLink</a:t>
            </a:r>
          </a:p>
          <a:p>
            <a:pPr algn="l">
              <a:spcAft>
                <a:spcPts val="300"/>
              </a:spcAft>
            </a:pPr>
            <a:r>
              <a:rPr sz="1200" b="0">
                <a:solidFill>
                  <a:srgbClr val="5B6372"/>
                </a:solidFill>
                <a:latin typeface="Arial"/>
              </a:rPr>
              <a:t>Keep traffic off the public internet.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Private subnets &amp; isolation</a:t>
            </a:r>
          </a:p>
          <a:p>
            <a:pPr algn="l">
              <a:spcAft>
                <a:spcPts val="300"/>
              </a:spcAft>
            </a:pPr>
            <a:r>
              <a:rPr sz="1200" b="0">
                <a:solidFill>
                  <a:srgbClr val="5B6372"/>
                </a:solidFill>
                <a:latin typeface="Arial"/>
              </a:rPr>
              <a:t>Run training/endpoints without internet egress.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Manager</a:t>
            </a:r>
          </a:p>
          <a:p>
            <a:pPr algn="l">
              <a:spcAft>
                <a:spcPts val="300"/>
              </a:spcAft>
            </a:pPr>
            <a:r>
              <a:rPr sz="1200" b="0">
                <a:solidFill>
                  <a:srgbClr val="5B6372"/>
                </a:solidFill>
                <a:latin typeface="Arial"/>
              </a:rPr>
              <a:t>Store credentials/tokens — never in notebooks.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Amazon Macie</a:t>
            </a:r>
          </a:p>
          <a:p>
            <a:pPr algn="l">
              <a:spcAft>
                <a:spcPts val="300"/>
              </a:spcAft>
            </a:pPr>
            <a:r>
              <a:rPr sz="1200" b="0">
                <a:solidFill>
                  <a:srgbClr val="5B6372"/>
                </a:solidFill>
                <a:latin typeface="Arial"/>
              </a:rPr>
              <a:t>Discover and classify PII in S3 datasets.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04 · HANDLE PII/PHI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Protection &amp; Privacy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Classification</a:t>
            </a:r>
          </a:p>
          <a:p>
            <a:pPr algn="l">
              <a:spcAft>
                <a:spcPts val="300"/>
              </a:spcAft>
            </a:pPr>
            <a:r>
              <a:rPr sz="1200" b="0">
                <a:solidFill>
                  <a:srgbClr val="5B6372"/>
                </a:solidFill>
                <a:latin typeface="Arial"/>
              </a:rPr>
              <a:t>Tag data by sensitivity (public → restricted).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Masking / redaction</a:t>
            </a:r>
          </a:p>
          <a:p>
            <a:pPr algn="l">
              <a:spcAft>
                <a:spcPts val="300"/>
              </a:spcAft>
            </a:pPr>
            <a:r>
              <a:rPr sz="1200" b="0">
                <a:solidFill>
                  <a:srgbClr val="5B6372"/>
                </a:solidFill>
                <a:latin typeface="Arial"/>
              </a:rPr>
              <a:t>Hide PII fields before training or sharing.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Anonymisation</a:t>
            </a:r>
          </a:p>
          <a:p>
            <a:pPr algn="l">
              <a:spcAft>
                <a:spcPts val="300"/>
              </a:spcAft>
            </a:pPr>
            <a:r>
              <a:rPr sz="1200" b="0">
                <a:solidFill>
                  <a:srgbClr val="5B6372"/>
                </a:solidFill>
                <a:latin typeface="Arial"/>
              </a:rPr>
              <a:t>Remove or hash identifiers; aggregate where possible.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PII/PHI handling</a:t>
            </a:r>
          </a:p>
          <a:p>
            <a:pPr algn="l">
              <a:spcAft>
                <a:spcPts val="300"/>
              </a:spcAft>
            </a:pPr>
            <a:r>
              <a:rPr sz="1200" b="0">
                <a:solidFill>
                  <a:srgbClr val="5B6372"/>
                </a:solidFill>
                <a:latin typeface="Arial"/>
              </a:rPr>
              <a:t>Detect with Macie/Comprehend; encrypt with KMS.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residency</a:t>
            </a:r>
          </a:p>
          <a:p>
            <a:pPr algn="l">
              <a:spcAft>
                <a:spcPts val="300"/>
              </a:spcAft>
            </a:pPr>
            <a:r>
              <a:rPr sz="1200" b="0">
                <a:solidFill>
                  <a:srgbClr val="5B6372"/>
                </a:solidFill>
                <a:latin typeface="Arial"/>
              </a:rPr>
              <a:t>Keep data in the required Region and account.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logging</a:t>
            </a:r>
          </a:p>
          <a:p>
            <a:pPr algn="l">
              <a:spcAft>
                <a:spcPts val="300"/>
              </a:spcAft>
            </a:pPr>
            <a:r>
              <a:rPr sz="1200" b="0">
                <a:solidFill>
                  <a:srgbClr val="5B6372"/>
                </a:solidFill>
                <a:latin typeface="Arial"/>
              </a:rPr>
              <a:t>CloudTrail + S3 access logs for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TRUST &amp; TRACEABILITY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ML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Registry approval</a:t>
            </a:r>
          </a:p>
          <a:p>
            <a:pPr algn="l">
              <a:spcAft>
                <a:spcPts val="300"/>
              </a:spcAft>
            </a:pPr>
            <a:r>
              <a:rPr sz="1200" b="0">
                <a:solidFill>
                  <a:srgbClr val="5B6372"/>
                </a:solidFill>
                <a:latin typeface="Arial"/>
              </a:rPr>
              <a:t>Versioned packages with approval status.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Cards</a:t>
            </a:r>
          </a:p>
          <a:p>
            <a:pPr algn="l">
              <a:spcAft>
                <a:spcPts val="300"/>
              </a:spcAft>
            </a:pPr>
            <a:r>
              <a:rPr sz="1200" b="0">
                <a:solidFill>
                  <a:srgbClr val="5B6372"/>
                </a:solidFill>
                <a:latin typeface="Arial"/>
              </a:rPr>
              <a:t>Document intended use, data and risk per model.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ML Lineage Tracking</a:t>
            </a:r>
          </a:p>
          <a:p>
            <a:pPr algn="l">
              <a:spcAft>
                <a:spcPts val="300"/>
              </a:spcAft>
            </a:pPr>
            <a:r>
              <a:rPr sz="1200" b="0">
                <a:solidFill>
                  <a:srgbClr val="5B6372"/>
                </a:solidFill>
                <a:latin typeface="Arial"/>
              </a:rPr>
              <a:t>Trace data→training→model→endpoint.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Dashboard</a:t>
            </a:r>
          </a:p>
          <a:p>
            <a:pPr algn="l">
              <a:spcAft>
                <a:spcPts val="300"/>
              </a:spcAft>
            </a:pPr>
            <a:r>
              <a:rPr sz="1200" b="0">
                <a:solidFill>
                  <a:srgbClr val="5B6372"/>
                </a:solidFill>
                <a:latin typeface="Arial"/>
              </a:rPr>
              <a:t>Single view of models, monitors and alerts.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Role Manager</a:t>
            </a:r>
          </a:p>
          <a:p>
            <a:pPr algn="l">
              <a:spcAft>
                <a:spcPts val="300"/>
              </a:spcAft>
            </a:pPr>
            <a:r>
              <a:rPr sz="1200" b="0">
                <a:solidFill>
                  <a:srgbClr val="5B6372"/>
                </a:solidFill>
                <a:latin typeface="Arial"/>
              </a:rPr>
              <a:t>Build scoped ML personas quickly.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Manager</a:t>
            </a:r>
          </a:p>
          <a:p>
            <a:pPr algn="l">
              <a:spcAft>
                <a:spcPts val="300"/>
              </a:spcAft>
            </a:pPr>
            <a:r>
              <a:rPr sz="1200" b="0">
                <a:solidFill>
                  <a:srgbClr val="5B6372"/>
                </a:solidFill>
                <a:latin typeface="Arial"/>
              </a:rPr>
              <a:t>Evidence for compliance frameworks.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 SPEND LESS, SAFELY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Cost-Optimisation Levers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Right-size instances</a:t>
            </a:r>
          </a:p>
          <a:p>
            <a:pPr algn="l">
              <a:spcAft>
                <a:spcPts val="300"/>
              </a:spcAft>
            </a:pPr>
            <a:r>
              <a:rPr sz="1200" b="0">
                <a:solidFill>
                  <a:srgbClr val="5B6372"/>
                </a:solidFill>
                <a:latin typeface="Arial"/>
              </a:rPr>
              <a:t>Match instance family/size to the workload.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 scaling &amp; serverless</a:t>
            </a:r>
          </a:p>
          <a:p>
            <a:pPr algn="l">
              <a:spcAft>
                <a:spcPts val="300"/>
              </a:spcAft>
            </a:pPr>
            <a:r>
              <a:rPr sz="1200" b="0">
                <a:solidFill>
                  <a:srgbClr val="5B6372"/>
                </a:solidFill>
                <a:latin typeface="Arial"/>
              </a:rPr>
              <a:t>Pay for demand, not idle capacity.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Batch transform</a:t>
            </a:r>
          </a:p>
          <a:p>
            <a:pPr algn="l">
              <a:spcAft>
                <a:spcPts val="300"/>
              </a:spcAft>
            </a:pPr>
            <a:r>
              <a:rPr sz="1200" b="0">
                <a:solidFill>
                  <a:srgbClr val="5B6372"/>
                </a:solidFill>
                <a:latin typeface="Arial"/>
              </a:rPr>
              <a:t>Avoid always-on endpoints for offline scoring.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Managed Spot training</a:t>
            </a:r>
          </a:p>
          <a:p>
            <a:pPr algn="l">
              <a:spcAft>
                <a:spcPts val="300"/>
              </a:spcAft>
            </a:pPr>
            <a:r>
              <a:rPr sz="1200" b="0">
                <a:solidFill>
                  <a:srgbClr val="5B6372"/>
                </a:solidFill>
                <a:latin typeface="Arial"/>
              </a:rPr>
              <a:t>Up to ~90% off with checkpointing.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Multi-model endpoints</a:t>
            </a:r>
          </a:p>
          <a:p>
            <a:pPr algn="l">
              <a:spcAft>
                <a:spcPts val="300"/>
              </a:spcAft>
            </a:pPr>
            <a:r>
              <a:rPr sz="1200" b="0">
                <a:solidFill>
                  <a:srgbClr val="5B6372"/>
                </a:solidFill>
                <a:latin typeface="Arial"/>
              </a:rPr>
              <a:t>Consolidate many models onto shared instances.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Budgets, tags &amp; Compute Optimizer</a:t>
            </a:r>
          </a:p>
          <a:p>
            <a:pPr algn="l">
              <a:spcAft>
                <a:spcPts val="300"/>
              </a:spcAft>
            </a:pPr>
            <a:r>
              <a:rPr sz="1200" b="0">
                <a:solidFill>
                  <a:srgbClr val="5B6372"/>
                </a:solidFill>
                <a:latin typeface="Arial"/>
              </a:rPr>
              <a:t>Alert, allocate and right-size continuously.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SPEND WISELY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Cost &amp; Right-Sizing Decision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Interruptible training jobs</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Managed Spot training + checkpointing</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Endpoint idle most of the day</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Serverless inference or scale to zero</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Score millions of rows nightly</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Batch transform, no live endpoint</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Notebook left running overnight</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Auto-stop idle Studio apps</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Many small models per tenant</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Multi-model endpoint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PREPARE FOR MLA-C01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Exam Readiness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Redo every lab</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Review key concepts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Map scenarios to services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Take the practice exam</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Mark weak topics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Revise &amp; re-test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 OPERATIONAL SIGNALS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CloudWatch Alarms &amp; Dashboards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Endpoint metrics</a:t>
            </a:r>
          </a:p>
          <a:p>
            <a:pPr algn="l">
              <a:spcAft>
                <a:spcPts val="300"/>
              </a:spcAft>
            </a:pPr>
            <a:r>
              <a:rPr sz="1200" b="0">
                <a:solidFill>
                  <a:srgbClr val="5B6372"/>
                </a:solidFill>
                <a:latin typeface="Arial"/>
              </a:rPr>
              <a:t>Invocations, ModelLatency, OverheadLatency, errors.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Instance metrics</a:t>
            </a:r>
          </a:p>
          <a:p>
            <a:pPr algn="l">
              <a:spcAft>
                <a:spcPts val="300"/>
              </a:spcAft>
            </a:pPr>
            <a:r>
              <a:rPr sz="1200" b="0">
                <a:solidFill>
                  <a:srgbClr val="5B6372"/>
                </a:solidFill>
                <a:latin typeface="Arial"/>
              </a:rPr>
              <a:t>CPU/GPU/memory/disk utilisation per instance.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Alarms</a:t>
            </a:r>
          </a:p>
          <a:p>
            <a:pPr algn="l">
              <a:spcAft>
                <a:spcPts val="300"/>
              </a:spcAft>
            </a:pPr>
            <a:r>
              <a:rPr sz="1200" b="0">
                <a:solidFill>
                  <a:srgbClr val="5B6372"/>
                </a:solidFill>
                <a:latin typeface="Arial"/>
              </a:rPr>
              <a:t>Threshold and anomaly-detection alarms on key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Dashboards</a:t>
            </a:r>
          </a:p>
          <a:p>
            <a:pPr algn="l">
              <a:spcAft>
                <a:spcPts val="300"/>
              </a:spcAft>
            </a:pPr>
            <a:r>
              <a:rPr sz="1200" b="0">
                <a:solidFill>
                  <a:srgbClr val="5B6372"/>
                </a:solidFill>
                <a:latin typeface="Arial"/>
              </a:rPr>
              <a:t>One pane for latency, errors, drift and cost.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Logs Insights</a:t>
            </a:r>
          </a:p>
          <a:p>
            <a:pPr algn="l">
              <a:spcAft>
                <a:spcPts val="300"/>
              </a:spcAft>
            </a:pPr>
            <a:r>
              <a:rPr sz="1200" b="0">
                <a:solidFill>
                  <a:srgbClr val="5B6372"/>
                </a:solidFill>
                <a:latin typeface="Arial"/>
              </a:rPr>
              <a:t>Query endpoint/training logs for root cause.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SNS actions</a:t>
            </a:r>
          </a:p>
          <a:p>
            <a:pPr algn="l">
              <a:spcAft>
                <a:spcPts val="300"/>
              </a:spcAft>
            </a:pPr>
            <a:r>
              <a:rPr sz="1200" b="0">
                <a:solidFill>
                  <a:srgbClr val="5B6372"/>
                </a:solidFill>
                <a:latin typeface="Arial"/>
              </a:rPr>
              <a:t>Notify or trigger automation when an alarm fires.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04 · PROVE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Compliance &amp; Audit for ML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CloudTrail</a:t>
            </a:r>
          </a:p>
          <a:p>
            <a:pPr algn="l">
              <a:spcAft>
                <a:spcPts val="300"/>
              </a:spcAft>
            </a:pPr>
            <a:r>
              <a:rPr sz="1200" b="0">
                <a:solidFill>
                  <a:srgbClr val="5B6372"/>
                </a:solidFill>
                <a:latin typeface="Arial"/>
              </a:rPr>
              <a:t>Immutable record of every ML API call.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AWS Config</a:t>
            </a:r>
          </a:p>
          <a:p>
            <a:pPr algn="l">
              <a:spcAft>
                <a:spcPts val="300"/>
              </a:spcAft>
            </a:pPr>
            <a:r>
              <a:rPr sz="1200" b="0">
                <a:solidFill>
                  <a:srgbClr val="5B6372"/>
                </a:solidFill>
                <a:latin typeface="Arial"/>
              </a:rPr>
              <a:t>Track configuration changes and compliance rules.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Manager</a:t>
            </a:r>
          </a:p>
          <a:p>
            <a:pPr algn="l">
              <a:spcAft>
                <a:spcPts val="300"/>
              </a:spcAft>
            </a:pPr>
            <a:r>
              <a:rPr sz="1200" b="0">
                <a:solidFill>
                  <a:srgbClr val="5B6372"/>
                </a:solidFill>
                <a:latin typeface="Arial"/>
              </a:rPr>
              <a:t>Collect evidence for frameworks continuously.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Cards</a:t>
            </a:r>
          </a:p>
          <a:p>
            <a:pPr algn="l">
              <a:spcAft>
                <a:spcPts val="300"/>
              </a:spcAft>
            </a:pPr>
            <a:r>
              <a:rPr sz="1200" b="0">
                <a:solidFill>
                  <a:srgbClr val="5B6372"/>
                </a:solidFill>
                <a:latin typeface="Arial"/>
              </a:rPr>
              <a:t>Documented intended use, data and limitations.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ML lineage</a:t>
            </a:r>
          </a:p>
          <a:p>
            <a:pPr algn="l">
              <a:spcAft>
                <a:spcPts val="300"/>
              </a:spcAft>
            </a:pPr>
            <a:r>
              <a:rPr sz="1200" b="0">
                <a:solidFill>
                  <a:srgbClr val="5B6372"/>
                </a:solidFill>
                <a:latin typeface="Arial"/>
              </a:rPr>
              <a:t>Trace data→training→model→endpoint.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Tagging</a:t>
            </a:r>
          </a:p>
          <a:p>
            <a:pPr algn="l">
              <a:spcAft>
                <a:spcPts val="300"/>
              </a:spcAft>
            </a:pPr>
            <a:r>
              <a:rPr sz="1200" b="0">
                <a:solidFill>
                  <a:srgbClr val="5B6372"/>
                </a:solidFill>
                <a:latin typeface="Arial"/>
              </a:rPr>
              <a:t>Attribute cost and ownership across ML resources.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WHEN DRIFT FIRES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Responding to a Drifting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Alarm on drift</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Triage the signal</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Check data &amp; pipeline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Retrain / roll back</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Validate &amp; approve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Redeploy &amp; monitor</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ML Solution Monitoring, Maintenance and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11–11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Model Monitoring, Drift and Observability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12–12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Security, Governance, Cost Optimisation and Exam Review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 Monitoring, Drift and Observability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Keep a production model healthy: enable endpoint data capture, baseline and schedule SageMaker Model Monitor for the four drift types, wire CloudWatch metrics, logs and alarms, and design the drift-to-retrain loop.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monitoring design with data capture, baselines, drift schedules, CloudWatch alarms and a drift-to-retrain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SageMaker Model Monitor, SageMaker Clarify, Amazon CloudWatch, AWS CloudTrail, Amazon S3</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Model Monitoring, Drift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endpoint data capture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Baseline the data</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Schedule Model Monitor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Wire CloudWatch alarms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drift-triggered retraining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11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Model Monitoring, Drift 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Always-on monitoring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Scheduled/periodic checks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Fast drift detection</a:t>
            </a:r>
          </a:p>
          <a:p>
            <a:pPr>
              <a:spcAft>
                <a:spcPts val="1000"/>
              </a:spcAft>
            </a:pPr>
            <a:r>
              <a:rPr sz="1600" b="0">
                <a:solidFill>
                  <a:srgbClr val="161B26"/>
                </a:solidFill>
                <a:latin typeface="Arial"/>
              </a:rPr>
              <a:t>•  Continuous assurance</a:t>
            </a:r>
          </a:p>
          <a:p>
            <a:pPr>
              <a:spcAft>
                <a:spcPts val="1000"/>
              </a:spcAft>
            </a:pPr>
            <a:r>
              <a:rPr sz="1600" b="0">
                <a:solidFill>
                  <a:srgbClr val="161B26"/>
                </a:solidFill>
                <a:latin typeface="Arial"/>
              </a:rPr>
              <a:t>•  Ongoing monitoring cost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Lower cost</a:t>
            </a:r>
          </a:p>
          <a:p>
            <a:pPr>
              <a:spcAft>
                <a:spcPts val="1000"/>
              </a:spcAft>
            </a:pPr>
            <a:r>
              <a:rPr sz="1600" b="0">
                <a:solidFill>
                  <a:srgbClr val="161B26"/>
                </a:solidFill>
                <a:latin typeface="Arial"/>
              </a:rPr>
              <a:t>•  Fine for stable models</a:t>
            </a:r>
          </a:p>
          <a:p>
            <a:pPr>
              <a:spcAft>
                <a:spcPts val="1000"/>
              </a:spcAft>
            </a:pPr>
            <a:r>
              <a:rPr sz="1600" b="0">
                <a:solidFill>
                  <a:srgbClr val="161B26"/>
                </a:solidFill>
                <a:latin typeface="Arial"/>
              </a:rPr>
              <a:t>•  Slower to detect drift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 Monitoring, Drift and Observability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enable data capture, baseline and schedule Model Monitor for the four drift types, wire CloudWatch alarms, and describe a drift-triggered retraining loop.</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No monitoring data appears</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Enable data capture on the endpoint before scheduling the monitor.</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Monitor reports constant violations</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Rebuild the baseline from representative recent data.</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Alarms never fire</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Check the CloudWatch metric, threshold and alarm state configuration.</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HANDS-ON BRIEFING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Governance, Cost Optimisation and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Finish production-ready and exam-ready: apply IAM, KMS, VPC and data-protection controls, add governance with the Model Registry, Model Cards and lineage, build a cost-optimisation checklist, then map every lab to the four MLA-C01 domains and complete a timed practice set.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Security, governance and cost-optimisation checklists, a lab-to-domain map and a timed practice-exam score with a weak-topic plan.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IAM, AWS KMS, Amazon VPC, Amazon Macie, SageMaker Model Registry/Model Cards, AWS Budgets, Cost Explorer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ARCHITECTURE &amp;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 Security, Governance, Cost Optimisation…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IAM/KMS/VPC controls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Protect PII/PHI data</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governance &amp; lineage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the cost checklist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labs to domains &amp; practise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12 · KEY DECISIONS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Trade-offs — Security, Governance,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Tighter security &amp; governance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Faster, looser access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Least privilege, isolation, audit</a:t>
            </a:r>
          </a:p>
          <a:p>
            <a:pPr>
              <a:spcAft>
                <a:spcPts val="1000"/>
              </a:spcAft>
            </a:pPr>
            <a:r>
              <a:rPr sz="1600" b="0">
                <a:solidFill>
                  <a:srgbClr val="161B26"/>
                </a:solidFill>
                <a:latin typeface="Arial"/>
              </a:rPr>
              <a:t>•  Lower breach and compliance risk</a:t>
            </a:r>
          </a:p>
          <a:p>
            <a:pPr>
              <a:spcAft>
                <a:spcPts val="1000"/>
              </a:spcAft>
            </a:pPr>
            <a:r>
              <a:rPr sz="1600" b="0">
                <a:solidFill>
                  <a:srgbClr val="161B26"/>
                </a:solidFill>
                <a:latin typeface="Arial"/>
              </a:rPr>
              <a:t>•  More setup and review effort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Quicker to build</a:t>
            </a:r>
          </a:p>
          <a:p>
            <a:pPr>
              <a:spcAft>
                <a:spcPts val="1000"/>
              </a:spcAft>
            </a:pPr>
            <a:r>
              <a:rPr sz="1600" b="0">
                <a:solidFill>
                  <a:srgbClr val="161B26"/>
                </a:solidFill>
                <a:latin typeface="Arial"/>
              </a:rPr>
              <a:t>•  Fine only in a throwaway sandbox</a:t>
            </a:r>
          </a:p>
          <a:p>
            <a:pPr>
              <a:spcAft>
                <a:spcPts val="1000"/>
              </a:spcAft>
            </a:pPr>
            <a:r>
              <a:rPr sz="1600" b="0">
                <a:solidFill>
                  <a:srgbClr val="161B26"/>
                </a:solidFill>
                <a:latin typeface="Arial"/>
              </a:rPr>
              <a:t>•  Unacceptable for real ML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 &amp; TROUBLESHOOT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Governance, Cost Optimisation and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38528"/>
            <a:ext cx="10058400" cy="365760"/>
          </a:xfrm>
          <a:prstGeom prst="rect">
            <a:avLst/>
          </a:prstGeom>
          <a:noFill/>
        </p:spPr>
        <p:txBody>
          <a:bodyPr wrap="square" anchor="t">
            <a:spAutoFit/>
          </a:bodyPr>
          <a:lstStyle/>
          <a:p>
            <a:pPr algn="l">
              <a:spcAft>
                <a:spcPts val="400"/>
              </a:spcAft>
            </a:pPr>
            <a:r>
              <a:rPr sz="1700" b="1">
                <a:solidFill>
                  <a:srgbClr val="127A3E"/>
                </a:solidFill>
                <a:latin typeface="Arial"/>
              </a:rPr>
              <a:t>✅  Test it — acceptance criteria</a:t>
            </a:r>
          </a:p>
        </p:txBody>
      </p:sp>
      <p:sp>
        <p:nvSpPr>
          <p:cNvPr id="9" name="TextBox 8"/>
          <p:cNvSpPr txBox="1"/>
          <p:nvPr/>
        </p:nvSpPr>
        <p:spPr>
          <a:xfrm>
            <a:off x="1051560" y="2377440"/>
            <a:ext cx="10149840" cy="731520"/>
          </a:xfrm>
          <a:prstGeom prst="rect">
            <a:avLst/>
          </a:prstGeom>
          <a:noFill/>
        </p:spPr>
        <p:txBody>
          <a:bodyPr wrap="square" anchor="t">
            <a:spAutoFit/>
          </a:bodyPr>
          <a:lstStyle/>
          <a:p>
            <a:pPr algn="l">
              <a:spcAft>
                <a:spcPts val="400"/>
              </a:spcAft>
            </a:pPr>
            <a:r>
              <a:rPr sz="1400" b="0">
                <a:solidFill>
                  <a:srgbClr val="161B26"/>
                </a:solidFill>
                <a:latin typeface="Arial"/>
              </a:rPr>
              <a:t>You can secure, govern and cost-optimise an AWS ML workload, map each of the twelve labs to an exam domain, and produce a scored practice set with a weak-topic revision plan.</a:t>
            </a:r>
          </a:p>
        </p:txBody>
      </p:sp>
      <p:sp>
        <p:nvSpPr>
          <p:cNvPr id="10" name="TextBox 9"/>
          <p:cNvSpPr txBox="1"/>
          <p:nvPr/>
        </p:nvSpPr>
        <p:spPr>
          <a:xfrm>
            <a:off x="777240" y="3401568"/>
            <a:ext cx="10058400" cy="365760"/>
          </a:xfrm>
          <a:prstGeom prst="rect">
            <a:avLst/>
          </a:prstGeom>
          <a:noFill/>
        </p:spPr>
        <p:txBody>
          <a:bodyPr wrap="square" anchor="t">
            <a:spAutoFit/>
          </a:bodyPr>
          <a:lstStyle/>
          <a:p>
            <a:pPr algn="l">
              <a:spcAft>
                <a:spcPts val="400"/>
              </a:spcAft>
            </a:pPr>
            <a:r>
              <a:rPr sz="1500" b="1">
                <a:solidFill>
                  <a:srgbClr val="F59E0B"/>
                </a:solidFill>
                <a:latin typeface="Arial"/>
              </a:rPr>
              <a:t>Troubleshooting</a:t>
            </a:r>
          </a:p>
        </p:txBody>
      </p:sp>
      <p:sp>
        <p:nvSpPr>
          <p:cNvPr id="11" name="Rectangle 10"/>
          <p:cNvSpPr/>
          <p:nvPr/>
        </p:nvSpPr>
        <p:spPr>
          <a:xfrm>
            <a:off x="777240" y="3822191"/>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22191"/>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22191"/>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Access is over-permissive</a:t>
            </a:r>
          </a:p>
        </p:txBody>
      </p:sp>
      <p:sp>
        <p:nvSpPr>
          <p:cNvPr id="14" name="Rectangle 13"/>
          <p:cNvSpPr/>
          <p:nvPr/>
        </p:nvSpPr>
        <p:spPr>
          <a:xfrm>
            <a:off x="5120640" y="3822191"/>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0" y="3822191"/>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3822191"/>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Tighten IAM to least privilege and use scoped execution roles.</a:t>
            </a:r>
          </a:p>
        </p:txBody>
      </p:sp>
      <p:sp>
        <p:nvSpPr>
          <p:cNvPr id="17" name="Rectangle 16"/>
          <p:cNvSpPr/>
          <p:nvPr/>
        </p:nvSpPr>
        <p:spPr>
          <a:xfrm>
            <a:off x="777240" y="4663439"/>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3439"/>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63439"/>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PII found in a training set</a:t>
            </a:r>
          </a:p>
        </p:txBody>
      </p:sp>
      <p:sp>
        <p:nvSpPr>
          <p:cNvPr id="20" name="Rectangle 19"/>
          <p:cNvSpPr/>
          <p:nvPr/>
        </p:nvSpPr>
        <p:spPr>
          <a:xfrm>
            <a:off x="5120640" y="4663439"/>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4663439"/>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4663439"/>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Detect with Macie/Comprehend; mask, anonymise and encrypt with KMS.</a:t>
            </a:r>
          </a:p>
        </p:txBody>
      </p:sp>
      <p:sp>
        <p:nvSpPr>
          <p:cNvPr id="23" name="Rectangle 22"/>
          <p:cNvSpPr/>
          <p:nvPr/>
        </p:nvSpPr>
        <p:spPr>
          <a:xfrm>
            <a:off x="777240" y="5504687"/>
            <a:ext cx="4206240" cy="713232"/>
          </a:xfrm>
          <a:prstGeom prst="rect">
            <a:avLst/>
          </a:prstGeom>
          <a:solidFill>
            <a:srgbClr val="FDF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4687"/>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04687"/>
            <a:ext cx="3931920" cy="713232"/>
          </a:xfrm>
          <a:prstGeom prst="rect">
            <a:avLst/>
          </a:prstGeom>
          <a:noFill/>
        </p:spPr>
        <p:txBody>
          <a:bodyPr wrap="square" anchor="ctr">
            <a:spAutoFit/>
          </a:bodyPr>
          <a:lstStyle/>
          <a:p>
            <a:pPr algn="l">
              <a:spcAft>
                <a:spcPts val="400"/>
              </a:spcAft>
            </a:pPr>
            <a:r>
              <a:rPr sz="1200" b="1">
                <a:solidFill>
                  <a:srgbClr val="161B26"/>
                </a:solidFill>
                <a:latin typeface="Arial"/>
              </a:rPr>
              <a:t>Surprise ML bill</a:t>
            </a:r>
          </a:p>
        </p:txBody>
      </p:sp>
      <p:sp>
        <p:nvSpPr>
          <p:cNvPr id="26" name="Rectangle 25"/>
          <p:cNvSpPr/>
          <p:nvPr/>
        </p:nvSpPr>
        <p:spPr>
          <a:xfrm>
            <a:off x="5120640" y="5504687"/>
            <a:ext cx="62910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0640" y="5504687"/>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9240" y="5504687"/>
            <a:ext cx="5943600" cy="713232"/>
          </a:xfrm>
          <a:prstGeom prst="rect">
            <a:avLst/>
          </a:prstGeom>
          <a:noFill/>
        </p:spPr>
        <p:txBody>
          <a:bodyPr wrap="square" anchor="ctr">
            <a:spAutoFit/>
          </a:bodyPr>
          <a:lstStyle/>
          <a:p>
            <a:pPr algn="l">
              <a:spcAft>
                <a:spcPts val="400"/>
              </a:spcAft>
            </a:pPr>
            <a:r>
              <a:rPr sz="1200" b="0">
                <a:solidFill>
                  <a:srgbClr val="5B6372"/>
                </a:solidFill>
                <a:latin typeface="Arial"/>
              </a:rPr>
              <a:t>Set Budgets and alarms; delete idle endpoints and notebooks.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ML Solution Monitoring, Maintenance and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monitor a deployed model for drift and observe ML workloads in production (Domain 4: monitor and maintain ML solutions)</a:t>
            </a:r>
          </a:p>
          <a:p>
            <a:pPr>
              <a:spcAft>
                <a:spcPts val="1000"/>
              </a:spcAft>
            </a:pPr>
            <a:r>
              <a:rPr sz="1700" b="0">
                <a:solidFill>
                  <a:srgbClr val="161B26"/>
                </a:solidFill>
                <a:latin typeface="Arial"/>
              </a:rPr>
              <a:t>•  You can now: secure, govern and cost-optimise ML in production and map every lab to the exam domains (Domain 4: secure, govern and optimise ML solutions)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EXAM DECISION PATTERNS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Scenario → AWS Service Decision Maps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Reason from the requirement to the right AWS choice — the core skill the MLA-C01 exam tests.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REASONING · DOMAIN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&amp; Storage Decision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Store raw, prepared and feature data cheaply, securely</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S3 data lake with lifecycle + SSE-KMS</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Query terabytes in S3 with SQL, no servers</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Amazon Athena</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Near-real-time event ingestion into the lake</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Kinesis Data Firehose → S3</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Reusable low-latency features at serving time</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SageMaker Feature Store (online)</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Detect PII before training on a dataset</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Amazon Macie + SageMaker Clarify</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REASONING · DOMAIN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Preparation &amp; Labelling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No-code visual cleaning and profiling</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AWS Glue DataBrew</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Interactive ML feature engineering</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SageMaker Data Wrangler</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Label images/text at scale with review</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Ground Truth + Augmented AI (A2I)</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Automated rule checks on a dataset</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AWS Glue Data Quality</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Catalog schema for Athena and SageMaker</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1F6FEB"/>
                </a:solidFill>
                <a:latin typeface="Arial"/>
              </a:rPr>
              <a:t>AWS Glue crawler + Data Catalog</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EXAM REASONING · DOMAIN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Modelling Decision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Tabular classification with strong accuracy</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10B981"/>
                </a:solidFill>
                <a:latin typeface="Arial"/>
              </a:rPr>
              <a:t>XGBoost built-in algorithm</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No-code AutoML to find the best model fast</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10B981"/>
                </a:solidFill>
                <a:latin typeface="Arial"/>
              </a:rPr>
              <a:t>SageMaker Autopilot</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Overfitting on training data</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10B981"/>
                </a:solidFill>
                <a:latin typeface="Arial"/>
              </a:rPr>
              <a:t>Regularise, add data, early stopping</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Imbalanced fraud dataset — which metric?</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10B981"/>
                </a:solidFill>
                <a:latin typeface="Arial"/>
              </a:rPr>
              <a:t>Precision/Recall/F1, not accuracy</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Explain why a model predicted an outcome</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10B981"/>
                </a:solidFill>
                <a:latin typeface="Arial"/>
              </a:rPr>
              <a:t>SageMaker Clarify (SHAP)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 REASONING · DOMAIN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Deployment Decision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Low-latency online predictions 24×7</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Real-time endpoint + auto scaling</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Spiky, intermittent traffic</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Serverless inference</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Score a large dataset overnight</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Batch transform</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Release a new model with zero downtime</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Blue/green or canary deployment</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Automate train→approve→deploy</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SageMaker Pipelines + approval gate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EXAM REASONING · DOMAIN 04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Monitoring, Security &amp; Cost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Detect that live data drifted from training</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SageMaker Model Monitor</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Audit who called which ML API</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AWS CloudTrail</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Keep endpoint traffic off the internet</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VPC interface endpoints (PrivateLink)</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Cut training cost on interruptible jobs</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Managed Spot training</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Alert before the ML bill overruns</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F59E0B"/>
                </a:solidFill>
                <a:latin typeface="Arial"/>
              </a:rPr>
              <a:t>AWS Budgets + cost allocation tags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 REASONING · DOMAIN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Orchestration &amp; MLOps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Standard ML train-to-deploy automation</a:t>
            </a:r>
          </a:p>
        </p:txBody>
      </p:sp>
      <p:sp>
        <p:nvSpPr>
          <p:cNvPr id="10" name="TextBox 9"/>
          <p:cNvSpPr txBox="1"/>
          <p:nvPr/>
        </p:nvSpPr>
        <p:spPr>
          <a:xfrm>
            <a:off x="6446520" y="1783080"/>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1" name="Rectangle 10"/>
          <p:cNvSpPr/>
          <p:nvPr/>
        </p:nvSpPr>
        <p:spPr>
          <a:xfrm>
            <a:off x="6931152" y="1783080"/>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31152" y="1783080"/>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1783080"/>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SageMaker Pipelines</a:t>
            </a:r>
          </a:p>
        </p:txBody>
      </p:sp>
      <p:sp>
        <p:nvSpPr>
          <p:cNvPr id="14" name="Rectangle 13"/>
          <p:cNvSpPr/>
          <p:nvPr/>
        </p:nvSpPr>
        <p:spPr>
          <a:xfrm>
            <a:off x="777240" y="2690164"/>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0164"/>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690164"/>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Branching workflow across many services</a:t>
            </a:r>
          </a:p>
        </p:txBody>
      </p:sp>
      <p:sp>
        <p:nvSpPr>
          <p:cNvPr id="17" name="TextBox 16"/>
          <p:cNvSpPr txBox="1"/>
          <p:nvPr/>
        </p:nvSpPr>
        <p:spPr>
          <a:xfrm>
            <a:off x="6446520" y="2690164"/>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6931152" y="2690164"/>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1152" y="2690164"/>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5472" y="2690164"/>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AWS Step Functions</a:t>
            </a:r>
          </a:p>
        </p:txBody>
      </p:sp>
      <p:sp>
        <p:nvSpPr>
          <p:cNvPr id="21" name="Rectangle 20"/>
          <p:cNvSpPr/>
          <p:nvPr/>
        </p:nvSpPr>
        <p:spPr>
          <a:xfrm>
            <a:off x="777240" y="3597248"/>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597248"/>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597248"/>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Retrain automatically when new data lands</a:t>
            </a:r>
          </a:p>
        </p:txBody>
      </p:sp>
      <p:sp>
        <p:nvSpPr>
          <p:cNvPr id="24" name="TextBox 23"/>
          <p:cNvSpPr txBox="1"/>
          <p:nvPr/>
        </p:nvSpPr>
        <p:spPr>
          <a:xfrm>
            <a:off x="6446520" y="3597248"/>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931152" y="3597248"/>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31152" y="3597248"/>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3597248"/>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EventBridge rule → pipeline</a:t>
            </a:r>
          </a:p>
        </p:txBody>
      </p:sp>
      <p:sp>
        <p:nvSpPr>
          <p:cNvPr id="28" name="Rectangle 27"/>
          <p:cNvSpPr/>
          <p:nvPr/>
        </p:nvSpPr>
        <p:spPr>
          <a:xfrm>
            <a:off x="777240" y="4504332"/>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04332"/>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504332"/>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Reproducible ML infrastructure</a:t>
            </a:r>
          </a:p>
        </p:txBody>
      </p:sp>
      <p:sp>
        <p:nvSpPr>
          <p:cNvPr id="31" name="TextBox 30"/>
          <p:cNvSpPr txBox="1"/>
          <p:nvPr/>
        </p:nvSpPr>
        <p:spPr>
          <a:xfrm>
            <a:off x="6446520" y="4504332"/>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2" name="Rectangle 31"/>
          <p:cNvSpPr/>
          <p:nvPr/>
        </p:nvSpPr>
        <p:spPr>
          <a:xfrm>
            <a:off x="6931152" y="4504332"/>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31152" y="4504332"/>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4504332"/>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CloudFormation / CDK / SageMaker Projects</a:t>
            </a:r>
          </a:p>
        </p:txBody>
      </p:sp>
      <p:sp>
        <p:nvSpPr>
          <p:cNvPr id="35" name="Rectangle 34"/>
          <p:cNvSpPr/>
          <p:nvPr/>
        </p:nvSpPr>
        <p:spPr>
          <a:xfrm>
            <a:off x="777240" y="5411416"/>
            <a:ext cx="566928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11416"/>
            <a:ext cx="91440" cy="7607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1416"/>
            <a:ext cx="5266944" cy="760780"/>
          </a:xfrm>
          <a:prstGeom prst="rect">
            <a:avLst/>
          </a:prstGeom>
          <a:noFill/>
        </p:spPr>
        <p:txBody>
          <a:bodyPr wrap="square" anchor="ctr">
            <a:spAutoFit/>
          </a:bodyPr>
          <a:lstStyle/>
          <a:p>
            <a:pPr algn="l">
              <a:spcAft>
                <a:spcPts val="400"/>
              </a:spcAft>
            </a:pPr>
            <a:r>
              <a:rPr sz="1300" b="0">
                <a:solidFill>
                  <a:srgbClr val="161B26"/>
                </a:solidFill>
                <a:latin typeface="Arial"/>
              </a:rPr>
              <a:t>Gate a model before production</a:t>
            </a:r>
          </a:p>
        </p:txBody>
      </p:sp>
      <p:sp>
        <p:nvSpPr>
          <p:cNvPr id="38" name="TextBox 37"/>
          <p:cNvSpPr txBox="1"/>
          <p:nvPr/>
        </p:nvSpPr>
        <p:spPr>
          <a:xfrm>
            <a:off x="6446520" y="5411416"/>
            <a:ext cx="484632" cy="76078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9" name="Rectangle 38"/>
          <p:cNvSpPr/>
          <p:nvPr/>
        </p:nvSpPr>
        <p:spPr>
          <a:xfrm>
            <a:off x="6931152" y="5411416"/>
            <a:ext cx="4480560" cy="760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31152" y="5411416"/>
            <a:ext cx="91440" cy="760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05472" y="5411416"/>
            <a:ext cx="4078224" cy="760780"/>
          </a:xfrm>
          <a:prstGeom prst="rect">
            <a:avLst/>
          </a:prstGeom>
          <a:noFill/>
        </p:spPr>
        <p:txBody>
          <a:bodyPr wrap="square" anchor="ctr">
            <a:spAutoFit/>
          </a:bodyPr>
          <a:lstStyle/>
          <a:p>
            <a:pPr algn="l">
              <a:spcAft>
                <a:spcPts val="400"/>
              </a:spcAft>
            </a:pPr>
            <a:r>
              <a:rPr sz="1300" b="1">
                <a:solidFill>
                  <a:srgbClr val="7C3AED"/>
                </a:solidFill>
                <a:latin typeface="Arial"/>
              </a:rPr>
              <a:t>Model Registry approval step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Data Preparation</a:t>
            </a:r>
          </a:p>
          <a:p>
            <a:pPr algn="l">
              <a:spcAft>
                <a:spcPts val="300"/>
              </a:spcAft>
            </a:pPr>
            <a:r>
              <a:rPr sz="1300" b="0">
                <a:solidFill>
                  <a:srgbClr val="5B6372"/>
                </a:solidFill>
                <a:latin typeface="Arial"/>
              </a:rPr>
              <a:t>Built a secure S3 data lake and a raw-to-training preparation workflow with quality and bias checks.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 Development</a:t>
            </a:r>
          </a:p>
          <a:p>
            <a:pPr algn="l">
              <a:spcAft>
                <a:spcPts val="300"/>
              </a:spcAft>
            </a:pPr>
            <a:r>
              <a:rPr sz="1300" b="0">
                <a:solidFill>
                  <a:srgbClr val="5B6372"/>
                </a:solidFill>
                <a:latin typeface="Arial"/>
              </a:rPr>
              <a:t>Selected approaches; trained, tuned, evaluated and registered models with SageMaker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Deploy &amp; Orchestrate</a:t>
            </a:r>
          </a:p>
          <a:p>
            <a:pPr algn="l">
              <a:spcAft>
                <a:spcPts val="300"/>
              </a:spcAft>
            </a:pPr>
            <a:r>
              <a:rPr sz="1300" b="0">
                <a:solidFill>
                  <a:srgbClr val="5B6372"/>
                </a:solidFill>
                <a:latin typeface="Arial"/>
              </a:rPr>
              <a:t>Chose inference infrastructure and designed a gated MLOps pipeline.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Monitor &amp; Secure</a:t>
            </a:r>
          </a:p>
          <a:p>
            <a:pPr algn="l">
              <a:spcAft>
                <a:spcPts val="300"/>
              </a:spcAft>
            </a:pPr>
            <a:r>
              <a:rPr sz="1300" b="0">
                <a:solidFill>
                  <a:srgbClr val="5B6372"/>
                </a:solidFill>
                <a:latin typeface="Arial"/>
              </a:rPr>
              <a:t>Set up monitoring, security and cost optimisation for production ML.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Exam readiness</a:t>
            </a:r>
          </a:p>
          <a:p>
            <a:pPr algn="l">
              <a:spcAft>
                <a:spcPts val="300"/>
              </a:spcAft>
            </a:pPr>
            <a:r>
              <a:rPr sz="1300" b="0">
                <a:solidFill>
                  <a:srgbClr val="5B6372"/>
                </a:solidFill>
                <a:latin typeface="Arial"/>
              </a:rPr>
              <a:t>Mapped every lab to an MLA-C01 domain and completed a timed practice set.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OPERATE SAFELY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Governance &amp; Monitoring in Production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governance-loop.png"/>
          <p:cNvPicPr>
            <a:picLocks noChangeAspect="1"/>
          </p:cNvPicPr>
          <p:nvPr/>
        </p:nvPicPr>
        <p:blipFill>
          <a:blip r:embed="rId2"/>
          <a:stretch>
            <a:fillRect/>
          </a:stretch>
        </p:blipFill>
        <p:spPr>
          <a:xfrm>
            <a:off x="2560168" y="1783080"/>
            <a:ext cx="7071358" cy="3977639"/>
          </a:xfrm>
          <a:prstGeom prst="rect">
            <a:avLst/>
          </a:prstGeom>
        </p:spPr>
      </p:pic>
      <p:sp>
        <p:nvSpPr>
          <p:cNvPr id="8" name="TextBox 7"/>
          <p:cNvSpPr txBox="1"/>
          <p:nvPr/>
        </p:nvSpPr>
        <p:spPr>
          <a:xfrm>
            <a:off x="777240" y="589788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Govern, secure and audit ML workloads continuously in production.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KEEP ML HEALTHY &amp; EFFICIENT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Monitoring &amp; Cost Optimisation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ws-monitoring-cost-loop.png"/>
          <p:cNvPicPr>
            <a:picLocks noChangeAspect="1"/>
          </p:cNvPicPr>
          <p:nvPr/>
        </p:nvPicPr>
        <p:blipFill>
          <a:blip r:embed="rId2"/>
          <a:stretch>
            <a:fillRect/>
          </a:stretch>
        </p:blipFill>
        <p:spPr>
          <a:xfrm>
            <a:off x="2560168" y="1783080"/>
            <a:ext cx="7071358" cy="3977639"/>
          </a:xfrm>
          <a:prstGeom prst="rect">
            <a:avLst/>
          </a:prstGeom>
        </p:spPr>
      </p:pic>
      <p:sp>
        <p:nvSpPr>
          <p:cNvPr id="8" name="TextBox 7"/>
          <p:cNvSpPr txBox="1"/>
          <p:nvPr/>
        </p:nvSpPr>
        <p:spPr>
          <a:xfrm>
            <a:off x="777240" y="589788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Monitor drift and spend, then right-size and retrain — a continuous loop.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Preparing for the MLA-C01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Redo every lab until the AWS console and CLI workflow is automatic.</a:t>
            </a:r>
          </a:p>
          <a:p>
            <a:pPr>
              <a:spcAft>
                <a:spcPts val="1000"/>
              </a:spcAft>
            </a:pPr>
            <a:r>
              <a:rPr sz="2000" b="0">
                <a:solidFill>
                  <a:srgbClr val="161B26"/>
                </a:solidFill>
                <a:latin typeface="Arial"/>
              </a:rPr>
              <a:t>•  Review the Key Concepts and the 'Test it' check for each lab and domain.</a:t>
            </a:r>
          </a:p>
          <a:p>
            <a:pPr>
              <a:spcAft>
                <a:spcPts val="1000"/>
              </a:spcAft>
            </a:pPr>
            <a:r>
              <a:rPr sz="2000" b="0">
                <a:solidFill>
                  <a:srgbClr val="161B26"/>
                </a:solidFill>
                <a:latin typeface="Arial"/>
              </a:rPr>
              <a:t>•  Practise mapping each scenario to the right AWS service and the four exam domains.</a:t>
            </a:r>
          </a:p>
          <a:p>
            <a:pPr>
              <a:spcAft>
                <a:spcPts val="1000"/>
              </a:spcAft>
            </a:pPr>
            <a:r>
              <a:rPr sz="2000" b="0">
                <a:solidFill>
                  <a:srgbClr val="161B26"/>
                </a:solidFill>
                <a:latin typeface="Arial"/>
              </a:rPr>
              <a:t>•  Take the AWS official MLA-C01 practice question set and the Tertiary practice exam.</a:t>
            </a:r>
          </a:p>
          <a:p>
            <a:pPr>
              <a:spcAft>
                <a:spcPts val="1000"/>
              </a:spcAft>
            </a:pPr>
            <a:r>
              <a:rPr sz="2000" b="0">
                <a:solidFill>
                  <a:srgbClr val="161B26"/>
                </a:solidFill>
                <a:latin typeface="Arial"/>
              </a:rPr>
              <a:t>•  Book the exam via Pearson VUE or PSI (online proctoring or a test centre).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TEST YOURSELF · EXAMS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6912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199156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991562"/>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54480" y="1874519"/>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Open the Tertiary Infotech MLA-C01 practice exam.</a:t>
            </a:r>
          </a:p>
        </p:txBody>
      </p:sp>
      <p:sp>
        <p:nvSpPr>
          <p:cNvPr id="12" name="Rectangle 11"/>
          <p:cNvSpPr/>
          <p:nvPr/>
        </p:nvSpPr>
        <p:spPr>
          <a:xfrm>
            <a:off x="777240" y="2730397"/>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30397"/>
            <a:ext cx="91440" cy="69128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28474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847440"/>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54480" y="2730397"/>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Attempt it under timed exam conditions.</a:t>
            </a:r>
          </a:p>
        </p:txBody>
      </p:sp>
      <p:sp>
        <p:nvSpPr>
          <p:cNvPr id="17" name="Rectangle 16"/>
          <p:cNvSpPr/>
          <p:nvPr/>
        </p:nvSpPr>
        <p:spPr>
          <a:xfrm>
            <a:off x="777240" y="3586275"/>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86275"/>
            <a:ext cx="91440" cy="6912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370331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703318"/>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54480" y="3586275"/>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Review the explanation for every question.</a:t>
            </a:r>
          </a:p>
        </p:txBody>
      </p:sp>
      <p:sp>
        <p:nvSpPr>
          <p:cNvPr id="22" name="Rectangle 21"/>
          <p:cNvSpPr/>
          <p:nvPr/>
        </p:nvSpPr>
        <p:spPr>
          <a:xfrm>
            <a:off x="777240" y="4442153"/>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42153"/>
            <a:ext cx="91440" cy="6912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4559196"/>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559196"/>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26" name="TextBox 25"/>
          <p:cNvSpPr txBox="1"/>
          <p:nvPr/>
        </p:nvSpPr>
        <p:spPr>
          <a:xfrm>
            <a:off x="1554480" y="4442153"/>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Revisit any lab whose domain you miss.</a:t>
            </a:r>
          </a:p>
        </p:txBody>
      </p:sp>
      <p:sp>
        <p:nvSpPr>
          <p:cNvPr id="27" name="Rectangle 26"/>
          <p:cNvSpPr/>
          <p:nvPr/>
        </p:nvSpPr>
        <p:spPr>
          <a:xfrm>
            <a:off x="777240" y="5298031"/>
            <a:ext cx="4114800" cy="691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298031"/>
            <a:ext cx="91440" cy="6912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8408" y="541507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 y="5415074"/>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54480" y="5298031"/>
            <a:ext cx="3200400" cy="691286"/>
          </a:xfrm>
          <a:prstGeom prst="rect">
            <a:avLst/>
          </a:prstGeom>
          <a:noFill/>
        </p:spPr>
        <p:txBody>
          <a:bodyPr wrap="square" anchor="ctr">
            <a:spAutoFit/>
          </a:bodyPr>
          <a:lstStyle/>
          <a:p>
            <a:pPr algn="l">
              <a:spcAft>
                <a:spcPts val="400"/>
              </a:spcAft>
            </a:pPr>
            <a:r>
              <a:rPr sz="1300" b="0">
                <a:solidFill>
                  <a:srgbClr val="161B26"/>
                </a:solidFill>
                <a:latin typeface="Arial"/>
              </a:rPr>
              <a:t>Re-take until you consistently pass.</a:t>
            </a:r>
          </a:p>
        </p:txBody>
      </p:sp>
      <p:sp>
        <p:nvSpPr>
          <p:cNvPr id="32" name="Rectangle 31"/>
          <p:cNvSpPr/>
          <p:nvPr/>
        </p:nvSpPr>
        <p:spPr>
          <a:xfrm>
            <a:off x="5212080" y="1874519"/>
            <a:ext cx="621792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76672" y="2029967"/>
            <a:ext cx="146304" cy="146304"/>
          </a:xfrm>
          <a:prstGeom prst="ellipse">
            <a:avLst/>
          </a:prstGeom>
          <a:solidFill>
            <a:srgbClr val="EF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632704" y="2029967"/>
            <a:ext cx="146304" cy="146304"/>
          </a:xfrm>
          <a:prstGeom prst="ellipse">
            <a:avLst/>
          </a:prstGeom>
          <a:solidFill>
            <a:srgbClr val="F5B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88736" y="2029967"/>
            <a:ext cx="146304" cy="146304"/>
          </a:xfrm>
          <a:prstGeom prst="ellipse">
            <a:avLst/>
          </a:prstGeom>
          <a:solidFill>
            <a:srgbClr val="22B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09360" y="1975103"/>
            <a:ext cx="49377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1975103"/>
            <a:ext cx="4754880" cy="256032"/>
          </a:xfrm>
          <a:prstGeom prst="rect">
            <a:avLst/>
          </a:prstGeom>
          <a:noFill/>
        </p:spPr>
        <p:txBody>
          <a:bodyPr wrap="square" anchor="ctr">
            <a:spAutoFit/>
          </a:bodyPr>
          <a:lstStyle/>
          <a:p>
            <a:pPr algn="l">
              <a:spcAft>
                <a:spcPts val="400"/>
              </a:spcAft>
            </a:pPr>
            <a:r>
              <a:rPr sz="1100" b="0">
                <a:solidFill>
                  <a:srgbClr val="5B6372"/>
                </a:solidFill>
                <a:latin typeface="Arial"/>
              </a:rPr>
              <a:t>https://exams.tertiaryinfotech.com/practice-exams/aws/aws-mla-c01</a:t>
            </a:r>
          </a:p>
        </p:txBody>
      </p:sp>
      <p:pic>
        <p:nvPicPr>
          <p:cNvPr id="38" name="Picture 37" descr="exams-mla-c01.png"/>
          <p:cNvPicPr>
            <a:picLocks noChangeAspect="1"/>
          </p:cNvPicPr>
          <p:nvPr/>
        </p:nvPicPr>
        <p:blipFill>
          <a:blip r:embed="rId2"/>
          <a:stretch>
            <a:fillRect/>
          </a:stretch>
        </p:blipFill>
        <p:spPr>
          <a:xfrm>
            <a:off x="5465216" y="2404871"/>
            <a:ext cx="5711647" cy="3246120"/>
          </a:xfrm>
          <a:prstGeom prst="rect">
            <a:avLst/>
          </a:prstGeom>
        </p:spPr>
      </p:pic>
      <p:sp>
        <p:nvSpPr>
          <p:cNvPr id="39" name="Rectangle 38"/>
          <p:cNvSpPr/>
          <p:nvPr/>
        </p:nvSpPr>
        <p:spPr>
          <a:xfrm>
            <a:off x="5212080" y="1874519"/>
            <a:ext cx="6217920" cy="182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hour.  Case Study (CS) — 1 hour.</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Case Study (CS)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 (PM)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Mandatory each session</a:t>
            </a:r>
          </a:p>
          <a:p>
            <a:pPr algn="l">
              <a:spcAft>
                <a:spcPts val="300"/>
              </a:spcAft>
            </a:pPr>
            <a:r>
              <a:rPr sz="1300" b="0">
                <a:solidFill>
                  <a:srgbClr val="5B6372"/>
                </a:solidFill>
                <a:latin typeface="Arial"/>
              </a:rPr>
              <a:t>Take AM, PM and Assessment digital attendance for WSQ-funded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QR code</a:t>
            </a:r>
          </a:p>
          <a:p>
            <a:pPr algn="l">
              <a:spcAft>
                <a:spcPts val="300"/>
              </a:spcAft>
            </a:pPr>
            <a:r>
              <a:rPr sz="1300" b="0">
                <a:solidFill>
                  <a:srgbClr val="5B6372"/>
                </a:solidFill>
                <a:latin typeface="Arial"/>
              </a:rPr>
              <a:t>The trainer displays the SSG digital-attendance QR code (TRAQOM).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to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GOOD LUCK WITH MLA-C01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ready to build ML solutions on AWS — and to sit the AWS Certified Machine Learning Engineer - Associate (MLA-C01)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Machine Learning Engineer Associate Training  ·  TGS-2024049340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